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81"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2" r:id="rId17"/>
    <p:sldId id="273" r:id="rId18"/>
    <p:sldId id="274" r:id="rId19"/>
    <p:sldId id="275" r:id="rId20"/>
    <p:sldId id="276" r:id="rId21"/>
    <p:sldId id="277" r:id="rId22"/>
    <p:sldId id="278" r:id="rId23"/>
    <p:sldId id="279" r:id="rId24"/>
    <p:sldId id="280" r:id="rId25"/>
    <p:sldId id="282" r:id="rId26"/>
    <p:sldId id="287" r:id="rId27"/>
    <p:sldId id="283" r:id="rId28"/>
    <p:sldId id="286" r:id="rId29"/>
    <p:sldId id="289" r:id="rId30"/>
    <p:sldId id="290" r:id="rId31"/>
    <p:sldId id="288"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171"/>
    <p:restoredTop sz="90782" autoAdjust="0"/>
  </p:normalViewPr>
  <p:slideViewPr>
    <p:cSldViewPr snapToGrid="0" snapToObjects="1">
      <p:cViewPr varScale="1">
        <p:scale>
          <a:sx n="87" d="100"/>
          <a:sy n="87" d="100"/>
        </p:scale>
        <p:origin x="216" y="60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191FC9-1293-5A45-9ECE-77C4A751F973}" type="datetimeFigureOut">
              <a:rPr lang="en-US" smtClean="0"/>
              <a:t>11/25/20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4EAEFA-B749-6045-9F94-D0F7D0214C81}" type="slidenum">
              <a:rPr lang="en-US" smtClean="0"/>
              <a:t>‹#›</a:t>
            </a:fld>
            <a:endParaRPr lang="en-US"/>
          </a:p>
        </p:txBody>
      </p:sp>
    </p:spTree>
    <p:extLst>
      <p:ext uri="{BB962C8B-B14F-4D97-AF65-F5344CB8AC3E}">
        <p14:creationId xmlns:p14="http://schemas.microsoft.com/office/powerpoint/2010/main" val="536983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p>
            <a:fld id="{117426C4-364D-BA47-AC77-8F956C994CC2}" type="slidenum">
              <a:rPr lang="en-US"/>
              <a:pPr/>
              <a:t>2</a:t>
            </a:fld>
            <a:endParaRPr lang="en-US"/>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747983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51FD8D26-36E9-2541-A0FD-0B5C30081DD7}" type="slidenum">
              <a:rPr lang="en-US"/>
              <a:pPr/>
              <a:t>3</a:t>
            </a:fld>
            <a:endParaRPr 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0719779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64F395FD-606B-4946-8D8C-3C8F095CE0ED}" type="slidenum">
              <a:rPr lang="en-US"/>
              <a:pPr/>
              <a:t>5</a:t>
            </a:fld>
            <a:endParaRPr lang="en-US"/>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771878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p>
            <a:fld id="{46BB11EB-7F8C-E04A-B137-05818CF719B1}" type="slidenum">
              <a:rPr lang="en-US"/>
              <a:pPr/>
              <a:t>6</a:t>
            </a:fld>
            <a:endParaRPr lang="en-US"/>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6023345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CE8F7428-604D-CD48-9BBA-A4450193C7A5}" type="slidenum">
              <a:rPr lang="en-US"/>
              <a:pPr/>
              <a:t>7</a:t>
            </a:fld>
            <a:endParaRPr lang="en-US"/>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218514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p>
            <a:fld id="{D94FA46B-6155-F146-8DBE-A7C8ECAE499D}" type="slidenum">
              <a:rPr lang="en-US"/>
              <a:pPr/>
              <a:t>8</a:t>
            </a:fld>
            <a:endParaRPr lang="en-US"/>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6663268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AAACB5BC-10D5-BC4B-893C-2F11108315FF}" type="slidenum">
              <a:rPr lang="en-US"/>
              <a:pPr/>
              <a:t>9</a:t>
            </a:fld>
            <a:endParaRPr lang="en-US"/>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0755636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56BC46B8-E8CF-F643-9DDC-E20897DCEAE7}" type="slidenum">
              <a:rPr lang="en-US"/>
              <a:pPr/>
              <a:t>10</a:t>
            </a:fld>
            <a:endParaRPr lang="en-US"/>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3401794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5506A7DB-AE29-8743-B9AC-D6E0042EDB2E}" type="slidenum">
              <a:rPr lang="en-US"/>
              <a:pPr/>
              <a:t>11</a:t>
            </a:fld>
            <a:endParaRPr lang="en-US"/>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3381925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EEFC934D-B781-E245-8B87-F303F5CB7703}" type="slidenum">
              <a:rPr lang="en-US"/>
              <a:pPr/>
              <a:t>12</a:t>
            </a:fld>
            <a:endParaRPr 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9946759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536E177C-0A6E-FF49-BF20-D4F9FA32E4B2}" type="slidenum">
              <a:rPr lang="en-US"/>
              <a:pPr/>
              <a:t>13</a:t>
            </a:fld>
            <a:endParaRPr lang="en-US"/>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6479109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7B3326B2-5B41-1944-BE1A-2592F867D8C9}" type="slidenum">
              <a:rPr lang="en-US"/>
              <a:pPr/>
              <a:t>14</a:t>
            </a:fld>
            <a:endParaRPr lang="en-US"/>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6369482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4BB460C6-D3A7-9A43-B3E5-A5222F848692}" type="slidenum">
              <a:rPr lang="en-US"/>
              <a:pPr/>
              <a:t>15</a:t>
            </a:fld>
            <a:endParaRPr lang="en-US"/>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7428195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32BF8C42-5E34-D540-9AD8-259ED1F4A27C}" type="slidenum">
              <a:rPr lang="en-US"/>
              <a:pPr/>
              <a:t>16</a:t>
            </a:fld>
            <a:endParaRPr lang="en-US"/>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0632852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7376BC64-D6C8-C64A-AFCD-32ECBD53E0AC}" type="slidenum">
              <a:rPr lang="en-US"/>
              <a:pPr/>
              <a:t>17</a:t>
            </a:fld>
            <a:endParaRPr lang="en-US"/>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8533675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E2AF4666-D4E2-9545-8065-3BCA13850C10}" type="slidenum">
              <a:rPr lang="en-US"/>
              <a:pPr/>
              <a:t>18</a:t>
            </a:fld>
            <a:endParaRPr 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6923593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8CD2F782-25A6-4040-BF82-2399B7C00AFD}" type="slidenum">
              <a:rPr lang="en-US"/>
              <a:pPr/>
              <a:t>19</a:t>
            </a:fld>
            <a:endParaRPr 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6819242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3360E11F-5B9F-E541-A4C1-1D5BD4476E0F}" type="slidenum">
              <a:rPr lang="en-US"/>
              <a:pPr/>
              <a:t>20</a:t>
            </a:fld>
            <a:endParaRPr lang="en-US"/>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598105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CE1BB746-0B42-5C45-9BC7-A72E0007E9F2}" type="slidenum">
              <a:rPr lang="en-US"/>
              <a:pPr/>
              <a:t>21</a:t>
            </a:fld>
            <a:endParaRPr lang="en-US"/>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9700866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3ADF440E-4F36-4D4A-ABF1-95AC2B149AB1}" type="slidenum">
              <a:rPr lang="en-US"/>
              <a:pPr/>
              <a:t>22</a:t>
            </a:fld>
            <a:endParaRPr lang="en-US"/>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3452113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D34BD3B9-1AD8-EC49-8682-39D594985171}" type="slidenum">
              <a:rPr lang="en-US"/>
              <a:pPr/>
              <a:t>23</a:t>
            </a:fld>
            <a:endParaRPr lang="en-US"/>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9195640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60B03DDB-1031-8A47-92AC-CABAF38F5AEB}" type="slidenum">
              <a:rPr lang="en-US"/>
              <a:pPr/>
              <a:t>24</a:t>
            </a:fld>
            <a:endParaRPr lang="en-US"/>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0236144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Polar bears depend on sea ice for access to their prey (ringed and bearded seals).  In warm summers, there are fewer days with good ice conditions, and in extremely warm summers, the sea ice melts completely.  Without sea ice, bears are forced to spend the summer on shore.  During this time, they are largely food deprived, and rely on body fat accumulated during the previous years.  Sometimes bears take longer movements over rougher sea ice and more open water.  This leads to increased risk of injury or death, especially for cubs.</a:t>
            </a:r>
          </a:p>
          <a:p>
            <a:endParaRPr lang="en-US" dirty="0"/>
          </a:p>
        </p:txBody>
      </p:sp>
      <p:sp>
        <p:nvSpPr>
          <p:cNvPr id="4" name="Slide Number Placeholder 3"/>
          <p:cNvSpPr>
            <a:spLocks noGrp="1"/>
          </p:cNvSpPr>
          <p:nvPr>
            <p:ph type="sldNum" sz="quarter" idx="5"/>
          </p:nvPr>
        </p:nvSpPr>
        <p:spPr/>
        <p:txBody>
          <a:bodyPr/>
          <a:lstStyle/>
          <a:p>
            <a:fld id="{4A4EAEFA-B749-6045-9F94-D0F7D0214C81}" type="slidenum">
              <a:rPr lang="en-US" smtClean="0"/>
              <a:t>26</a:t>
            </a:fld>
            <a:endParaRPr lang="en-US"/>
          </a:p>
        </p:txBody>
      </p:sp>
    </p:spTree>
    <p:extLst>
      <p:ext uri="{BB962C8B-B14F-4D97-AF65-F5344CB8AC3E}">
        <p14:creationId xmlns:p14="http://schemas.microsoft.com/office/powerpoint/2010/main" val="33086926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0771055-4134-0941-A5FD-EFAA5A8AB067}" type="datetimeFigureOut">
              <a:rPr lang="en-US" smtClean="0"/>
              <a:t>11/25/20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03DDCD-ABB7-3A46-9FE6-560C2D8EC6A8}" type="slidenum">
              <a:rPr lang="en-US" smtClean="0"/>
              <a:t>‹#›</a:t>
            </a:fld>
            <a:endParaRPr lang="en-US"/>
          </a:p>
        </p:txBody>
      </p:sp>
    </p:spTree>
    <p:extLst>
      <p:ext uri="{BB962C8B-B14F-4D97-AF65-F5344CB8AC3E}">
        <p14:creationId xmlns:p14="http://schemas.microsoft.com/office/powerpoint/2010/main" val="3567198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0771055-4134-0941-A5FD-EFAA5A8AB067}" type="datetimeFigureOut">
              <a:rPr lang="en-US" smtClean="0"/>
              <a:t>11/25/20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03DDCD-ABB7-3A46-9FE6-560C2D8EC6A8}" type="slidenum">
              <a:rPr lang="en-US" smtClean="0"/>
              <a:t>‹#›</a:t>
            </a:fld>
            <a:endParaRPr lang="en-US"/>
          </a:p>
        </p:txBody>
      </p:sp>
    </p:spTree>
    <p:extLst>
      <p:ext uri="{BB962C8B-B14F-4D97-AF65-F5344CB8AC3E}">
        <p14:creationId xmlns:p14="http://schemas.microsoft.com/office/powerpoint/2010/main" val="1092657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771055-4134-0941-A5FD-EFAA5A8AB067}" type="datetimeFigureOut">
              <a:rPr lang="en-US" smtClean="0"/>
              <a:t>11/25/20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03DDCD-ABB7-3A46-9FE6-560C2D8EC6A8}" type="slidenum">
              <a:rPr lang="en-US" smtClean="0"/>
              <a:t>‹#›</a:t>
            </a:fld>
            <a:endParaRPr lang="en-US"/>
          </a:p>
        </p:txBody>
      </p:sp>
    </p:spTree>
    <p:extLst>
      <p:ext uri="{BB962C8B-B14F-4D97-AF65-F5344CB8AC3E}">
        <p14:creationId xmlns:p14="http://schemas.microsoft.com/office/powerpoint/2010/main" val="1844005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0771055-4134-0941-A5FD-EFAA5A8AB067}" type="datetimeFigureOut">
              <a:rPr lang="en-US" smtClean="0"/>
              <a:t>11/25/20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03DDCD-ABB7-3A46-9FE6-560C2D8EC6A8}" type="slidenum">
              <a:rPr lang="en-US" smtClean="0"/>
              <a:t>‹#›</a:t>
            </a:fld>
            <a:endParaRPr lang="en-US"/>
          </a:p>
        </p:txBody>
      </p:sp>
    </p:spTree>
    <p:extLst>
      <p:ext uri="{BB962C8B-B14F-4D97-AF65-F5344CB8AC3E}">
        <p14:creationId xmlns:p14="http://schemas.microsoft.com/office/powerpoint/2010/main" val="499676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0771055-4134-0941-A5FD-EFAA5A8AB067}" type="datetimeFigureOut">
              <a:rPr lang="en-US" smtClean="0"/>
              <a:t>11/25/20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D03DDCD-ABB7-3A46-9FE6-560C2D8EC6A8}" type="slidenum">
              <a:rPr lang="en-US" smtClean="0"/>
              <a:t>‹#›</a:t>
            </a:fld>
            <a:endParaRPr lang="en-US"/>
          </a:p>
        </p:txBody>
      </p:sp>
    </p:spTree>
    <p:extLst>
      <p:ext uri="{BB962C8B-B14F-4D97-AF65-F5344CB8AC3E}">
        <p14:creationId xmlns:p14="http://schemas.microsoft.com/office/powerpoint/2010/main" val="362557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0771055-4134-0941-A5FD-EFAA5A8AB067}" type="datetimeFigureOut">
              <a:rPr lang="en-US" smtClean="0"/>
              <a:t>11/25/20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D03DDCD-ABB7-3A46-9FE6-560C2D8EC6A8}" type="slidenum">
              <a:rPr lang="en-US" smtClean="0"/>
              <a:t>‹#›</a:t>
            </a:fld>
            <a:endParaRPr lang="en-US"/>
          </a:p>
        </p:txBody>
      </p:sp>
    </p:spTree>
    <p:extLst>
      <p:ext uri="{BB962C8B-B14F-4D97-AF65-F5344CB8AC3E}">
        <p14:creationId xmlns:p14="http://schemas.microsoft.com/office/powerpoint/2010/main" val="8664468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771055-4134-0941-A5FD-EFAA5A8AB067}" type="datetimeFigureOut">
              <a:rPr lang="en-US" smtClean="0"/>
              <a:t>11/25/20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D03DDCD-ABB7-3A46-9FE6-560C2D8EC6A8}" type="slidenum">
              <a:rPr lang="en-US" smtClean="0"/>
              <a:t>‹#›</a:t>
            </a:fld>
            <a:endParaRPr lang="en-US"/>
          </a:p>
        </p:txBody>
      </p:sp>
    </p:spTree>
    <p:extLst>
      <p:ext uri="{BB962C8B-B14F-4D97-AF65-F5344CB8AC3E}">
        <p14:creationId xmlns:p14="http://schemas.microsoft.com/office/powerpoint/2010/main" val="15405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0771055-4134-0941-A5FD-EFAA5A8AB067}" type="datetimeFigureOut">
              <a:rPr lang="en-US" smtClean="0"/>
              <a:t>11/25/20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03DDCD-ABB7-3A46-9FE6-560C2D8EC6A8}" type="slidenum">
              <a:rPr lang="en-US" smtClean="0"/>
              <a:t>‹#›</a:t>
            </a:fld>
            <a:endParaRPr lang="en-US"/>
          </a:p>
        </p:txBody>
      </p:sp>
    </p:spTree>
    <p:extLst>
      <p:ext uri="{BB962C8B-B14F-4D97-AF65-F5344CB8AC3E}">
        <p14:creationId xmlns:p14="http://schemas.microsoft.com/office/powerpoint/2010/main" val="1199075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0771055-4134-0941-A5FD-EFAA5A8AB067}" type="datetimeFigureOut">
              <a:rPr lang="en-US" smtClean="0"/>
              <a:t>11/25/20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03DDCD-ABB7-3A46-9FE6-560C2D8EC6A8}" type="slidenum">
              <a:rPr lang="en-US" smtClean="0"/>
              <a:t>‹#›</a:t>
            </a:fld>
            <a:endParaRPr lang="en-US"/>
          </a:p>
        </p:txBody>
      </p:sp>
    </p:spTree>
    <p:extLst>
      <p:ext uri="{BB962C8B-B14F-4D97-AF65-F5344CB8AC3E}">
        <p14:creationId xmlns:p14="http://schemas.microsoft.com/office/powerpoint/2010/main" val="687348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0771055-4134-0941-A5FD-EFAA5A8AB067}" type="datetimeFigureOut">
              <a:rPr lang="en-US" smtClean="0"/>
              <a:t>11/25/20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03DDCD-ABB7-3A46-9FE6-560C2D8EC6A8}" type="slidenum">
              <a:rPr lang="en-US" smtClean="0"/>
              <a:t>‹#›</a:t>
            </a:fld>
            <a:endParaRPr lang="en-US"/>
          </a:p>
        </p:txBody>
      </p:sp>
    </p:spTree>
    <p:extLst>
      <p:ext uri="{BB962C8B-B14F-4D97-AF65-F5344CB8AC3E}">
        <p14:creationId xmlns:p14="http://schemas.microsoft.com/office/powerpoint/2010/main" val="2103359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0771055-4134-0941-A5FD-EFAA5A8AB067}" type="datetimeFigureOut">
              <a:rPr lang="en-US" smtClean="0"/>
              <a:t>11/25/20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03DDCD-ABB7-3A46-9FE6-560C2D8EC6A8}" type="slidenum">
              <a:rPr lang="en-US" smtClean="0"/>
              <a:t>‹#›</a:t>
            </a:fld>
            <a:endParaRPr lang="en-US"/>
          </a:p>
        </p:txBody>
      </p:sp>
    </p:spTree>
    <p:extLst>
      <p:ext uri="{BB962C8B-B14F-4D97-AF65-F5344CB8AC3E}">
        <p14:creationId xmlns:p14="http://schemas.microsoft.com/office/powerpoint/2010/main" val="20409102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274639"/>
            <a:ext cx="10972800"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609600" y="6245225"/>
            <a:ext cx="2844800" cy="476250"/>
          </a:xfrm>
        </p:spPr>
        <p:txBody>
          <a:bodyPr/>
          <a:lstStyle>
            <a:lvl1pPr>
              <a:defRPr/>
            </a:lvl1pPr>
          </a:lstStyle>
          <a:p>
            <a:endParaRPr lang="en-US"/>
          </a:p>
        </p:txBody>
      </p:sp>
      <p:sp>
        <p:nvSpPr>
          <p:cNvPr id="4" name="Footer Placeholder 3"/>
          <p:cNvSpPr>
            <a:spLocks noGrp="1"/>
          </p:cNvSpPr>
          <p:nvPr>
            <p:ph type="ftr" sz="quarter" idx="11"/>
          </p:nvPr>
        </p:nvSpPr>
        <p:spPr>
          <a:xfrm>
            <a:off x="4165600" y="6245225"/>
            <a:ext cx="3860800" cy="476250"/>
          </a:xfrm>
        </p:spPr>
        <p:txBody>
          <a:bodyPr/>
          <a:lstStyle>
            <a:lvl1pPr>
              <a:defRPr/>
            </a:lvl1pPr>
          </a:lstStyle>
          <a:p>
            <a:endParaRPr lang="en-US"/>
          </a:p>
        </p:txBody>
      </p:sp>
      <p:sp>
        <p:nvSpPr>
          <p:cNvPr id="5" name="Slide Number Placeholder 4"/>
          <p:cNvSpPr>
            <a:spLocks noGrp="1"/>
          </p:cNvSpPr>
          <p:nvPr>
            <p:ph type="sldNum" sz="quarter" idx="12"/>
          </p:nvPr>
        </p:nvSpPr>
        <p:spPr>
          <a:xfrm>
            <a:off x="8737600" y="6245225"/>
            <a:ext cx="2844800" cy="476250"/>
          </a:xfrm>
        </p:spPr>
        <p:txBody>
          <a:bodyPr/>
          <a:lstStyle>
            <a:lvl1pPr>
              <a:defRPr smtClean="0"/>
            </a:lvl1pPr>
          </a:lstStyle>
          <a:p>
            <a:fld id="{4C4274B8-BB58-CD47-9646-B84F8E895C4A}" type="slidenum">
              <a:rPr lang="en-US"/>
              <a:pPr/>
              <a:t>‹#›</a:t>
            </a:fld>
            <a:endParaRPr lang="en-US"/>
          </a:p>
        </p:txBody>
      </p:sp>
    </p:spTree>
    <p:extLst>
      <p:ext uri="{BB962C8B-B14F-4D97-AF65-F5344CB8AC3E}">
        <p14:creationId xmlns:p14="http://schemas.microsoft.com/office/powerpoint/2010/main" val="1742035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771055-4134-0941-A5FD-EFAA5A8AB067}" type="datetimeFigureOut">
              <a:rPr lang="en-US" smtClean="0"/>
              <a:t>11/25/20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03DDCD-ABB7-3A46-9FE6-560C2D8EC6A8}" type="slidenum">
              <a:rPr lang="en-US" smtClean="0"/>
              <a:t>‹#›</a:t>
            </a:fld>
            <a:endParaRPr lang="en-US"/>
          </a:p>
        </p:txBody>
      </p:sp>
    </p:spTree>
    <p:extLst>
      <p:ext uri="{BB962C8B-B14F-4D97-AF65-F5344CB8AC3E}">
        <p14:creationId xmlns:p14="http://schemas.microsoft.com/office/powerpoint/2010/main" val="9280568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tiff"/><Relationship Id="rId2" Type="http://schemas.openxmlformats.org/officeDocument/2006/relationships/image" Target="../media/image16.tif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tif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9089"/>
            <a:ext cx="9144000" cy="2387600"/>
          </a:xfrm>
        </p:spPr>
        <p:txBody>
          <a:bodyPr/>
          <a:lstStyle/>
          <a:p>
            <a:r>
              <a:rPr lang="en-US" dirty="0">
                <a:latin typeface="Times New Roman"/>
                <a:cs typeface="Times New Roman"/>
              </a:rPr>
              <a:t>Stage structure and </a:t>
            </a:r>
            <a:r>
              <a:rPr lang="en-US" dirty="0" err="1">
                <a:latin typeface="Times New Roman"/>
                <a:cs typeface="Times New Roman"/>
              </a:rPr>
              <a:t>stochasticity</a:t>
            </a:r>
            <a:endParaRPr lang="en-US" dirty="0">
              <a:latin typeface="Times New Roman"/>
              <a:cs typeface="Times New Roman"/>
            </a:endParaRPr>
          </a:p>
        </p:txBody>
      </p:sp>
      <p:pic>
        <p:nvPicPr>
          <p:cNvPr id="4" name="Picture 3" descr="greenturt"/>
          <p:cNvPicPr>
            <a:picLocks noChangeAspect="1" noChangeArrowheads="1"/>
          </p:cNvPicPr>
          <p:nvPr/>
        </p:nvPicPr>
        <p:blipFill>
          <a:blip r:embed="rId2"/>
          <a:srcRect/>
          <a:stretch>
            <a:fillRect/>
          </a:stretch>
        </p:blipFill>
        <p:spPr bwMode="auto">
          <a:xfrm>
            <a:off x="27706" y="3509963"/>
            <a:ext cx="3810000" cy="2830513"/>
          </a:xfrm>
          <a:prstGeom prst="rect">
            <a:avLst/>
          </a:prstGeom>
          <a:noFill/>
          <a:ln w="9525">
            <a:noFill/>
            <a:miter lim="800000"/>
            <a:headEnd/>
            <a:tailEnd/>
          </a:ln>
        </p:spPr>
      </p:pic>
      <p:pic>
        <p:nvPicPr>
          <p:cNvPr id="5" name="Picture 4" descr="2280a"/>
          <p:cNvPicPr>
            <a:picLocks noChangeAspect="1" noChangeArrowheads="1"/>
          </p:cNvPicPr>
          <p:nvPr/>
        </p:nvPicPr>
        <p:blipFill>
          <a:blip r:embed="rId3"/>
          <a:srcRect/>
          <a:stretch>
            <a:fillRect/>
          </a:stretch>
        </p:blipFill>
        <p:spPr bwMode="auto">
          <a:xfrm>
            <a:off x="3837707" y="3509963"/>
            <a:ext cx="4329020" cy="2830513"/>
          </a:xfrm>
          <a:prstGeom prst="rect">
            <a:avLst/>
          </a:prstGeom>
          <a:noFill/>
          <a:ln w="9525">
            <a:noFill/>
            <a:miter lim="800000"/>
            <a:headEnd/>
            <a:tailEnd/>
          </a:ln>
        </p:spPr>
      </p:pic>
      <p:pic>
        <p:nvPicPr>
          <p:cNvPr id="6" name="Picture 6"/>
          <p:cNvPicPr>
            <a:picLocks noChangeAspect="1"/>
          </p:cNvPicPr>
          <p:nvPr/>
        </p:nvPicPr>
        <p:blipFill>
          <a:blip r:embed="rId4"/>
          <a:srcRect/>
          <a:stretch>
            <a:fillRect/>
          </a:stretch>
        </p:blipFill>
        <p:spPr bwMode="auto">
          <a:xfrm>
            <a:off x="7711368" y="3509963"/>
            <a:ext cx="4480632" cy="2890837"/>
          </a:xfrm>
          <a:prstGeom prst="rect">
            <a:avLst/>
          </a:prstGeom>
          <a:noFill/>
          <a:ln w="9525">
            <a:noFill/>
            <a:miter lim="800000"/>
            <a:headEnd/>
            <a:tailEnd/>
          </a:ln>
        </p:spPr>
      </p:pic>
    </p:spTree>
    <p:extLst>
      <p:ext uri="{BB962C8B-B14F-4D97-AF65-F5344CB8AC3E}">
        <p14:creationId xmlns:p14="http://schemas.microsoft.com/office/powerpoint/2010/main" val="10107457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2985654" y="0"/>
            <a:ext cx="8686800" cy="1143000"/>
          </a:xfrm>
        </p:spPr>
        <p:txBody>
          <a:bodyPr/>
          <a:lstStyle/>
          <a:p>
            <a:pPr eaLnBrk="1" hangingPunct="1"/>
            <a:r>
              <a:rPr lang="en-US" sz="3600" b="1" dirty="0">
                <a:latin typeface="Times New Roman" charset="0"/>
              </a:rPr>
              <a:t>Without Environmental </a:t>
            </a:r>
            <a:r>
              <a:rPr lang="en-US" sz="3600" b="1" dirty="0" err="1">
                <a:latin typeface="Times New Roman" charset="0"/>
              </a:rPr>
              <a:t>Stochasticity</a:t>
            </a:r>
            <a:endParaRPr lang="en-US" sz="3600" b="1" dirty="0">
              <a:latin typeface="Times New Roman" charset="0"/>
            </a:endParaRPr>
          </a:p>
        </p:txBody>
      </p:sp>
      <p:pic>
        <p:nvPicPr>
          <p:cNvPr id="17411" name="Picture 3" descr="greenturt"/>
          <p:cNvPicPr>
            <a:picLocks noChangeAspect="1" noChangeArrowheads="1"/>
          </p:cNvPicPr>
          <p:nvPr/>
        </p:nvPicPr>
        <p:blipFill>
          <a:blip r:embed="rId3"/>
          <a:srcRect/>
          <a:stretch>
            <a:fillRect/>
          </a:stretch>
        </p:blipFill>
        <p:spPr bwMode="auto">
          <a:xfrm>
            <a:off x="481534" y="1134507"/>
            <a:ext cx="3810000" cy="2830513"/>
          </a:xfrm>
          <a:prstGeom prst="rect">
            <a:avLst/>
          </a:prstGeom>
          <a:noFill/>
          <a:ln w="9525">
            <a:noFill/>
            <a:miter lim="800000"/>
            <a:headEnd/>
            <a:tailEnd/>
          </a:ln>
        </p:spPr>
      </p:pic>
      <p:grpSp>
        <p:nvGrpSpPr>
          <p:cNvPr id="2" name="Group 4"/>
          <p:cNvGrpSpPr>
            <a:grpSpLocks/>
          </p:cNvGrpSpPr>
          <p:nvPr/>
        </p:nvGrpSpPr>
        <p:grpSpPr bwMode="auto">
          <a:xfrm>
            <a:off x="6762750" y="1841500"/>
            <a:ext cx="228600" cy="2057400"/>
            <a:chOff x="3600" y="1104"/>
            <a:chExt cx="144" cy="1296"/>
          </a:xfrm>
        </p:grpSpPr>
        <p:sp>
          <p:nvSpPr>
            <p:cNvPr id="17500" name="Line 5"/>
            <p:cNvSpPr>
              <a:spLocks noChangeShapeType="1"/>
            </p:cNvSpPr>
            <p:nvPr/>
          </p:nvSpPr>
          <p:spPr bwMode="auto">
            <a:xfrm>
              <a:off x="3600" y="1104"/>
              <a:ext cx="0" cy="1296"/>
            </a:xfrm>
            <a:prstGeom prst="line">
              <a:avLst/>
            </a:prstGeom>
            <a:noFill/>
            <a:ln w="9525">
              <a:solidFill>
                <a:schemeClr val="tx1"/>
              </a:solidFill>
              <a:round/>
              <a:headEnd/>
              <a:tailEnd/>
            </a:ln>
          </p:spPr>
          <p:txBody>
            <a:bodyPr>
              <a:prstTxWarp prst="textNoShape">
                <a:avLst/>
              </a:prstTxWarp>
            </a:bodyPr>
            <a:lstStyle/>
            <a:p>
              <a:endParaRPr lang="en-US"/>
            </a:p>
          </p:txBody>
        </p:sp>
        <p:sp>
          <p:nvSpPr>
            <p:cNvPr id="17501" name="Line 6"/>
            <p:cNvSpPr>
              <a:spLocks noChangeShapeType="1"/>
            </p:cNvSpPr>
            <p:nvPr/>
          </p:nvSpPr>
          <p:spPr bwMode="auto">
            <a:xfrm>
              <a:off x="3600" y="2400"/>
              <a:ext cx="144" cy="0"/>
            </a:xfrm>
            <a:prstGeom prst="line">
              <a:avLst/>
            </a:prstGeom>
            <a:noFill/>
            <a:ln w="9525">
              <a:solidFill>
                <a:schemeClr val="tx1"/>
              </a:solidFill>
              <a:round/>
              <a:headEnd/>
              <a:tailEnd/>
            </a:ln>
          </p:spPr>
          <p:txBody>
            <a:bodyPr>
              <a:prstTxWarp prst="textNoShape">
                <a:avLst/>
              </a:prstTxWarp>
            </a:bodyPr>
            <a:lstStyle/>
            <a:p>
              <a:endParaRPr lang="en-US"/>
            </a:p>
          </p:txBody>
        </p:sp>
        <p:sp>
          <p:nvSpPr>
            <p:cNvPr id="17502" name="Line 7"/>
            <p:cNvSpPr>
              <a:spLocks noChangeShapeType="1"/>
            </p:cNvSpPr>
            <p:nvPr/>
          </p:nvSpPr>
          <p:spPr bwMode="auto">
            <a:xfrm>
              <a:off x="3600" y="1104"/>
              <a:ext cx="144" cy="0"/>
            </a:xfrm>
            <a:prstGeom prst="line">
              <a:avLst/>
            </a:prstGeom>
            <a:noFill/>
            <a:ln w="9525">
              <a:solidFill>
                <a:schemeClr val="tx1"/>
              </a:solidFill>
              <a:round/>
              <a:headEnd/>
              <a:tailEnd/>
            </a:ln>
          </p:spPr>
          <p:txBody>
            <a:bodyPr>
              <a:prstTxWarp prst="textNoShape">
                <a:avLst/>
              </a:prstTxWarp>
            </a:bodyPr>
            <a:lstStyle/>
            <a:p>
              <a:endParaRPr lang="en-US"/>
            </a:p>
          </p:txBody>
        </p:sp>
      </p:grpSp>
      <p:grpSp>
        <p:nvGrpSpPr>
          <p:cNvPr id="3" name="Group 8"/>
          <p:cNvGrpSpPr>
            <a:grpSpLocks/>
          </p:cNvGrpSpPr>
          <p:nvPr/>
        </p:nvGrpSpPr>
        <p:grpSpPr bwMode="auto">
          <a:xfrm flipH="1">
            <a:off x="9505950" y="1841500"/>
            <a:ext cx="228600" cy="2057400"/>
            <a:chOff x="3600" y="1104"/>
            <a:chExt cx="144" cy="1296"/>
          </a:xfrm>
        </p:grpSpPr>
        <p:sp>
          <p:nvSpPr>
            <p:cNvPr id="17497" name="Line 9"/>
            <p:cNvSpPr>
              <a:spLocks noChangeShapeType="1"/>
            </p:cNvSpPr>
            <p:nvPr/>
          </p:nvSpPr>
          <p:spPr bwMode="auto">
            <a:xfrm>
              <a:off x="3600" y="1104"/>
              <a:ext cx="0" cy="1296"/>
            </a:xfrm>
            <a:prstGeom prst="line">
              <a:avLst/>
            </a:prstGeom>
            <a:noFill/>
            <a:ln w="9525">
              <a:solidFill>
                <a:schemeClr val="tx1"/>
              </a:solidFill>
              <a:round/>
              <a:headEnd/>
              <a:tailEnd/>
            </a:ln>
          </p:spPr>
          <p:txBody>
            <a:bodyPr>
              <a:prstTxWarp prst="textNoShape">
                <a:avLst/>
              </a:prstTxWarp>
            </a:bodyPr>
            <a:lstStyle/>
            <a:p>
              <a:endParaRPr lang="en-US"/>
            </a:p>
          </p:txBody>
        </p:sp>
        <p:sp>
          <p:nvSpPr>
            <p:cNvPr id="17498" name="Line 10"/>
            <p:cNvSpPr>
              <a:spLocks noChangeShapeType="1"/>
            </p:cNvSpPr>
            <p:nvPr/>
          </p:nvSpPr>
          <p:spPr bwMode="auto">
            <a:xfrm>
              <a:off x="3600" y="2400"/>
              <a:ext cx="144" cy="0"/>
            </a:xfrm>
            <a:prstGeom prst="line">
              <a:avLst/>
            </a:prstGeom>
            <a:noFill/>
            <a:ln w="9525">
              <a:solidFill>
                <a:schemeClr val="tx1"/>
              </a:solidFill>
              <a:round/>
              <a:headEnd/>
              <a:tailEnd/>
            </a:ln>
          </p:spPr>
          <p:txBody>
            <a:bodyPr>
              <a:prstTxWarp prst="textNoShape">
                <a:avLst/>
              </a:prstTxWarp>
            </a:bodyPr>
            <a:lstStyle/>
            <a:p>
              <a:endParaRPr lang="en-US"/>
            </a:p>
          </p:txBody>
        </p:sp>
        <p:sp>
          <p:nvSpPr>
            <p:cNvPr id="17499" name="Line 11"/>
            <p:cNvSpPr>
              <a:spLocks noChangeShapeType="1"/>
            </p:cNvSpPr>
            <p:nvPr/>
          </p:nvSpPr>
          <p:spPr bwMode="auto">
            <a:xfrm>
              <a:off x="3600" y="1104"/>
              <a:ext cx="144" cy="0"/>
            </a:xfrm>
            <a:prstGeom prst="line">
              <a:avLst/>
            </a:prstGeom>
            <a:noFill/>
            <a:ln w="9525">
              <a:solidFill>
                <a:schemeClr val="tx1"/>
              </a:solidFill>
              <a:round/>
              <a:headEnd/>
              <a:tailEnd/>
            </a:ln>
          </p:spPr>
          <p:txBody>
            <a:bodyPr>
              <a:prstTxWarp prst="textNoShape">
                <a:avLst/>
              </a:prstTxWarp>
            </a:bodyPr>
            <a:lstStyle/>
            <a:p>
              <a:endParaRPr lang="en-US"/>
            </a:p>
          </p:txBody>
        </p:sp>
      </p:grpSp>
      <p:sp>
        <p:nvSpPr>
          <p:cNvPr id="17414" name="Text Box 12"/>
          <p:cNvSpPr txBox="1">
            <a:spLocks noChangeArrowheads="1"/>
          </p:cNvSpPr>
          <p:nvPr/>
        </p:nvSpPr>
        <p:spPr bwMode="auto">
          <a:xfrm>
            <a:off x="6756400" y="1497013"/>
            <a:ext cx="311150" cy="366712"/>
          </a:xfrm>
          <a:prstGeom prst="rect">
            <a:avLst/>
          </a:prstGeom>
          <a:noFill/>
          <a:ln w="9525">
            <a:noFill/>
            <a:miter lim="800000"/>
            <a:headEnd/>
            <a:tailEnd/>
          </a:ln>
        </p:spPr>
        <p:txBody>
          <a:bodyPr wrap="none">
            <a:prstTxWarp prst="textNoShape">
              <a:avLst/>
            </a:prstTxWarp>
            <a:spAutoFit/>
          </a:bodyPr>
          <a:lstStyle/>
          <a:p>
            <a:r>
              <a:rPr lang="en-US"/>
              <a:t>e</a:t>
            </a:r>
          </a:p>
        </p:txBody>
      </p:sp>
      <p:sp>
        <p:nvSpPr>
          <p:cNvPr id="17415" name="Text Box 13"/>
          <p:cNvSpPr txBox="1">
            <a:spLocks noChangeArrowheads="1"/>
          </p:cNvSpPr>
          <p:nvPr/>
        </p:nvSpPr>
        <p:spPr bwMode="auto">
          <a:xfrm>
            <a:off x="7937500" y="1497013"/>
            <a:ext cx="239168" cy="369332"/>
          </a:xfrm>
          <a:prstGeom prst="rect">
            <a:avLst/>
          </a:prstGeom>
          <a:noFill/>
          <a:ln w="9525">
            <a:noFill/>
            <a:miter lim="800000"/>
            <a:headEnd/>
            <a:tailEnd/>
          </a:ln>
        </p:spPr>
        <p:txBody>
          <a:bodyPr wrap="none">
            <a:prstTxWarp prst="textNoShape">
              <a:avLst/>
            </a:prstTxWarp>
            <a:spAutoFit/>
          </a:bodyPr>
          <a:lstStyle/>
          <a:p>
            <a:r>
              <a:rPr lang="en-US"/>
              <a:t>j</a:t>
            </a:r>
          </a:p>
        </p:txBody>
      </p:sp>
      <p:sp>
        <p:nvSpPr>
          <p:cNvPr id="17416" name="Text Box 14"/>
          <p:cNvSpPr txBox="1">
            <a:spLocks noChangeArrowheads="1"/>
          </p:cNvSpPr>
          <p:nvPr/>
        </p:nvSpPr>
        <p:spPr bwMode="auto">
          <a:xfrm>
            <a:off x="9118600" y="1497013"/>
            <a:ext cx="295274" cy="369332"/>
          </a:xfrm>
          <a:prstGeom prst="rect">
            <a:avLst/>
          </a:prstGeom>
          <a:noFill/>
          <a:ln w="9525">
            <a:noFill/>
            <a:miter lim="800000"/>
            <a:headEnd/>
            <a:tailEnd/>
          </a:ln>
        </p:spPr>
        <p:txBody>
          <a:bodyPr wrap="none">
            <a:prstTxWarp prst="textNoShape">
              <a:avLst/>
            </a:prstTxWarp>
            <a:spAutoFit/>
          </a:bodyPr>
          <a:lstStyle/>
          <a:p>
            <a:r>
              <a:rPr lang="en-US"/>
              <a:t>a</a:t>
            </a:r>
          </a:p>
        </p:txBody>
      </p:sp>
      <p:sp>
        <p:nvSpPr>
          <p:cNvPr id="17417" name="Text Box 15"/>
          <p:cNvSpPr txBox="1">
            <a:spLocks noChangeArrowheads="1"/>
          </p:cNvSpPr>
          <p:nvPr/>
        </p:nvSpPr>
        <p:spPr bwMode="auto">
          <a:xfrm>
            <a:off x="6305550" y="1855788"/>
            <a:ext cx="311150" cy="366712"/>
          </a:xfrm>
          <a:prstGeom prst="rect">
            <a:avLst/>
          </a:prstGeom>
          <a:noFill/>
          <a:ln w="9525">
            <a:noFill/>
            <a:miter lim="800000"/>
            <a:headEnd/>
            <a:tailEnd/>
          </a:ln>
        </p:spPr>
        <p:txBody>
          <a:bodyPr wrap="none">
            <a:prstTxWarp prst="textNoShape">
              <a:avLst/>
            </a:prstTxWarp>
            <a:spAutoFit/>
          </a:bodyPr>
          <a:lstStyle/>
          <a:p>
            <a:r>
              <a:rPr lang="en-US"/>
              <a:t>e</a:t>
            </a:r>
          </a:p>
        </p:txBody>
      </p:sp>
      <p:sp>
        <p:nvSpPr>
          <p:cNvPr id="17418" name="Text Box 16"/>
          <p:cNvSpPr txBox="1">
            <a:spLocks noChangeArrowheads="1"/>
          </p:cNvSpPr>
          <p:nvPr/>
        </p:nvSpPr>
        <p:spPr bwMode="auto">
          <a:xfrm>
            <a:off x="6305550" y="2725738"/>
            <a:ext cx="239168" cy="369332"/>
          </a:xfrm>
          <a:prstGeom prst="rect">
            <a:avLst/>
          </a:prstGeom>
          <a:noFill/>
          <a:ln w="9525">
            <a:noFill/>
            <a:miter lim="800000"/>
            <a:headEnd/>
            <a:tailEnd/>
          </a:ln>
        </p:spPr>
        <p:txBody>
          <a:bodyPr wrap="none">
            <a:prstTxWarp prst="textNoShape">
              <a:avLst/>
            </a:prstTxWarp>
            <a:spAutoFit/>
          </a:bodyPr>
          <a:lstStyle/>
          <a:p>
            <a:r>
              <a:rPr lang="en-US"/>
              <a:t>j</a:t>
            </a:r>
          </a:p>
        </p:txBody>
      </p:sp>
      <p:sp>
        <p:nvSpPr>
          <p:cNvPr id="17419" name="Text Box 17"/>
          <p:cNvSpPr txBox="1">
            <a:spLocks noChangeArrowheads="1"/>
          </p:cNvSpPr>
          <p:nvPr/>
        </p:nvSpPr>
        <p:spPr bwMode="auto">
          <a:xfrm>
            <a:off x="6305550" y="3595688"/>
            <a:ext cx="295274" cy="369332"/>
          </a:xfrm>
          <a:prstGeom prst="rect">
            <a:avLst/>
          </a:prstGeom>
          <a:noFill/>
          <a:ln w="9525">
            <a:noFill/>
            <a:miter lim="800000"/>
            <a:headEnd/>
            <a:tailEnd/>
          </a:ln>
        </p:spPr>
        <p:txBody>
          <a:bodyPr wrap="none">
            <a:prstTxWarp prst="textNoShape">
              <a:avLst/>
            </a:prstTxWarp>
            <a:spAutoFit/>
          </a:bodyPr>
          <a:lstStyle/>
          <a:p>
            <a:r>
              <a:rPr lang="en-US"/>
              <a:t>a</a:t>
            </a:r>
          </a:p>
        </p:txBody>
      </p:sp>
      <p:sp>
        <p:nvSpPr>
          <p:cNvPr id="17420" name="Text Box 18"/>
          <p:cNvSpPr txBox="1">
            <a:spLocks noChangeArrowheads="1"/>
          </p:cNvSpPr>
          <p:nvPr/>
        </p:nvSpPr>
        <p:spPr bwMode="auto">
          <a:xfrm>
            <a:off x="6762751" y="1865313"/>
            <a:ext cx="296863" cy="336550"/>
          </a:xfrm>
          <a:prstGeom prst="rect">
            <a:avLst/>
          </a:prstGeom>
          <a:noFill/>
          <a:ln w="9525">
            <a:noFill/>
            <a:miter lim="800000"/>
            <a:headEnd/>
            <a:tailEnd/>
          </a:ln>
        </p:spPr>
        <p:txBody>
          <a:bodyPr wrap="none">
            <a:prstTxWarp prst="textNoShape">
              <a:avLst/>
            </a:prstTxWarp>
            <a:spAutoFit/>
          </a:bodyPr>
          <a:lstStyle/>
          <a:p>
            <a:r>
              <a:rPr lang="en-US" sz="1600"/>
              <a:t>0</a:t>
            </a:r>
          </a:p>
        </p:txBody>
      </p:sp>
      <p:sp>
        <p:nvSpPr>
          <p:cNvPr id="17421" name="Text Box 19"/>
          <p:cNvSpPr txBox="1">
            <a:spLocks noChangeArrowheads="1"/>
          </p:cNvSpPr>
          <p:nvPr/>
        </p:nvSpPr>
        <p:spPr bwMode="auto">
          <a:xfrm>
            <a:off x="6762751" y="2709863"/>
            <a:ext cx="296863" cy="336550"/>
          </a:xfrm>
          <a:prstGeom prst="rect">
            <a:avLst/>
          </a:prstGeom>
          <a:noFill/>
          <a:ln w="9525">
            <a:noFill/>
            <a:miter lim="800000"/>
            <a:headEnd/>
            <a:tailEnd/>
          </a:ln>
        </p:spPr>
        <p:txBody>
          <a:bodyPr wrap="none">
            <a:prstTxWarp prst="textNoShape">
              <a:avLst/>
            </a:prstTxWarp>
            <a:spAutoFit/>
          </a:bodyPr>
          <a:lstStyle/>
          <a:p>
            <a:r>
              <a:rPr lang="en-US" sz="1600"/>
              <a:t>0</a:t>
            </a:r>
          </a:p>
        </p:txBody>
      </p:sp>
      <p:sp>
        <p:nvSpPr>
          <p:cNvPr id="17422" name="Text Box 20"/>
          <p:cNvSpPr txBox="1">
            <a:spLocks noChangeArrowheads="1"/>
          </p:cNvSpPr>
          <p:nvPr/>
        </p:nvSpPr>
        <p:spPr bwMode="auto">
          <a:xfrm>
            <a:off x="6762751" y="3556000"/>
            <a:ext cx="296863" cy="336550"/>
          </a:xfrm>
          <a:prstGeom prst="rect">
            <a:avLst/>
          </a:prstGeom>
          <a:noFill/>
          <a:ln w="9525">
            <a:noFill/>
            <a:miter lim="800000"/>
            <a:headEnd/>
            <a:tailEnd/>
          </a:ln>
        </p:spPr>
        <p:txBody>
          <a:bodyPr wrap="none">
            <a:prstTxWarp prst="textNoShape">
              <a:avLst/>
            </a:prstTxWarp>
            <a:spAutoFit/>
          </a:bodyPr>
          <a:lstStyle/>
          <a:p>
            <a:r>
              <a:rPr lang="en-US" sz="1600"/>
              <a:t>0</a:t>
            </a:r>
          </a:p>
        </p:txBody>
      </p:sp>
      <p:sp>
        <p:nvSpPr>
          <p:cNvPr id="17423" name="Text Box 21"/>
          <p:cNvSpPr txBox="1">
            <a:spLocks noChangeArrowheads="1"/>
          </p:cNvSpPr>
          <p:nvPr/>
        </p:nvSpPr>
        <p:spPr bwMode="auto">
          <a:xfrm>
            <a:off x="7696201" y="1246188"/>
            <a:ext cx="790601" cy="369332"/>
          </a:xfrm>
          <a:prstGeom prst="rect">
            <a:avLst/>
          </a:prstGeom>
          <a:noFill/>
          <a:ln w="9525">
            <a:noFill/>
            <a:miter lim="800000"/>
            <a:headEnd/>
            <a:tailEnd/>
          </a:ln>
        </p:spPr>
        <p:txBody>
          <a:bodyPr wrap="none">
            <a:prstTxWarp prst="textNoShape">
              <a:avLst/>
            </a:prstTxWarp>
            <a:spAutoFit/>
          </a:bodyPr>
          <a:lstStyle/>
          <a:p>
            <a:r>
              <a:rPr lang="en-US" b="1">
                <a:solidFill>
                  <a:schemeClr val="hlink"/>
                </a:solidFill>
              </a:rPr>
              <a:t>Time t</a:t>
            </a:r>
          </a:p>
        </p:txBody>
      </p:sp>
      <p:sp>
        <p:nvSpPr>
          <p:cNvPr id="17424" name="Text Box 22"/>
          <p:cNvSpPr txBox="1">
            <a:spLocks noChangeArrowheads="1"/>
          </p:cNvSpPr>
          <p:nvPr/>
        </p:nvSpPr>
        <p:spPr bwMode="auto">
          <a:xfrm rot="-5400000">
            <a:off x="5597976" y="2723634"/>
            <a:ext cx="1023037" cy="369332"/>
          </a:xfrm>
          <a:prstGeom prst="rect">
            <a:avLst/>
          </a:prstGeom>
          <a:noFill/>
          <a:ln w="9525">
            <a:noFill/>
            <a:miter lim="800000"/>
            <a:headEnd/>
            <a:tailEnd/>
          </a:ln>
        </p:spPr>
        <p:txBody>
          <a:bodyPr wrap="none">
            <a:prstTxWarp prst="textNoShape">
              <a:avLst/>
            </a:prstTxWarp>
            <a:spAutoFit/>
          </a:bodyPr>
          <a:lstStyle/>
          <a:p>
            <a:r>
              <a:rPr lang="en-US" b="1">
                <a:solidFill>
                  <a:schemeClr val="hlink"/>
                </a:solidFill>
              </a:rPr>
              <a:t>Time t+1</a:t>
            </a:r>
          </a:p>
        </p:txBody>
      </p:sp>
      <p:sp>
        <p:nvSpPr>
          <p:cNvPr id="17425" name="Text Box 23"/>
          <p:cNvSpPr txBox="1">
            <a:spLocks noChangeArrowheads="1"/>
          </p:cNvSpPr>
          <p:nvPr/>
        </p:nvSpPr>
        <p:spPr bwMode="auto">
          <a:xfrm>
            <a:off x="6305550" y="2290763"/>
            <a:ext cx="311150" cy="366712"/>
          </a:xfrm>
          <a:prstGeom prst="rect">
            <a:avLst/>
          </a:prstGeom>
          <a:noFill/>
          <a:ln w="9525">
            <a:noFill/>
            <a:miter lim="800000"/>
            <a:headEnd/>
            <a:tailEnd/>
          </a:ln>
        </p:spPr>
        <p:txBody>
          <a:bodyPr wrap="none">
            <a:prstTxWarp prst="textNoShape">
              <a:avLst/>
            </a:prstTxWarp>
            <a:spAutoFit/>
          </a:bodyPr>
          <a:lstStyle/>
          <a:p>
            <a:r>
              <a:rPr lang="en-US"/>
              <a:t>h</a:t>
            </a:r>
          </a:p>
        </p:txBody>
      </p:sp>
      <p:sp>
        <p:nvSpPr>
          <p:cNvPr id="17426" name="Text Box 24"/>
          <p:cNvSpPr txBox="1">
            <a:spLocks noChangeArrowheads="1"/>
          </p:cNvSpPr>
          <p:nvPr/>
        </p:nvSpPr>
        <p:spPr bwMode="auto">
          <a:xfrm>
            <a:off x="6305550" y="3160713"/>
            <a:ext cx="274434" cy="369332"/>
          </a:xfrm>
          <a:prstGeom prst="rect">
            <a:avLst/>
          </a:prstGeom>
          <a:noFill/>
          <a:ln w="9525">
            <a:noFill/>
            <a:miter lim="800000"/>
            <a:headEnd/>
            <a:tailEnd/>
          </a:ln>
        </p:spPr>
        <p:txBody>
          <a:bodyPr wrap="none">
            <a:prstTxWarp prst="textNoShape">
              <a:avLst/>
            </a:prstTxWarp>
            <a:spAutoFit/>
          </a:bodyPr>
          <a:lstStyle/>
          <a:p>
            <a:r>
              <a:rPr lang="en-US"/>
              <a:t>s</a:t>
            </a:r>
          </a:p>
        </p:txBody>
      </p:sp>
      <p:sp>
        <p:nvSpPr>
          <p:cNvPr id="17427" name="Text Box 25"/>
          <p:cNvSpPr txBox="1">
            <a:spLocks noChangeArrowheads="1"/>
          </p:cNvSpPr>
          <p:nvPr/>
        </p:nvSpPr>
        <p:spPr bwMode="auto">
          <a:xfrm>
            <a:off x="7346950" y="1497013"/>
            <a:ext cx="311150" cy="366712"/>
          </a:xfrm>
          <a:prstGeom prst="rect">
            <a:avLst/>
          </a:prstGeom>
          <a:noFill/>
          <a:ln w="9525">
            <a:noFill/>
            <a:miter lim="800000"/>
            <a:headEnd/>
            <a:tailEnd/>
          </a:ln>
        </p:spPr>
        <p:txBody>
          <a:bodyPr wrap="none">
            <a:prstTxWarp prst="textNoShape">
              <a:avLst/>
            </a:prstTxWarp>
            <a:spAutoFit/>
          </a:bodyPr>
          <a:lstStyle/>
          <a:p>
            <a:r>
              <a:rPr lang="en-US"/>
              <a:t>h</a:t>
            </a:r>
          </a:p>
        </p:txBody>
      </p:sp>
      <p:sp>
        <p:nvSpPr>
          <p:cNvPr id="17428" name="Text Box 26"/>
          <p:cNvSpPr txBox="1">
            <a:spLocks noChangeArrowheads="1"/>
          </p:cNvSpPr>
          <p:nvPr/>
        </p:nvSpPr>
        <p:spPr bwMode="auto">
          <a:xfrm>
            <a:off x="8528050" y="1497013"/>
            <a:ext cx="274434" cy="369332"/>
          </a:xfrm>
          <a:prstGeom prst="rect">
            <a:avLst/>
          </a:prstGeom>
          <a:noFill/>
          <a:ln w="9525">
            <a:noFill/>
            <a:miter lim="800000"/>
            <a:headEnd/>
            <a:tailEnd/>
          </a:ln>
        </p:spPr>
        <p:txBody>
          <a:bodyPr wrap="none">
            <a:prstTxWarp prst="textNoShape">
              <a:avLst/>
            </a:prstTxWarp>
            <a:spAutoFit/>
          </a:bodyPr>
          <a:lstStyle/>
          <a:p>
            <a:r>
              <a:rPr lang="en-US"/>
              <a:t>s</a:t>
            </a:r>
          </a:p>
        </p:txBody>
      </p:sp>
      <p:sp>
        <p:nvSpPr>
          <p:cNvPr id="17429" name="Text Box 27"/>
          <p:cNvSpPr txBox="1">
            <a:spLocks noChangeArrowheads="1"/>
          </p:cNvSpPr>
          <p:nvPr/>
        </p:nvSpPr>
        <p:spPr bwMode="auto">
          <a:xfrm>
            <a:off x="6762750" y="2287588"/>
            <a:ext cx="548548" cy="338554"/>
          </a:xfrm>
          <a:prstGeom prst="rect">
            <a:avLst/>
          </a:prstGeom>
          <a:noFill/>
          <a:ln w="9525">
            <a:noFill/>
            <a:miter lim="800000"/>
            <a:headEnd/>
            <a:tailEnd/>
          </a:ln>
        </p:spPr>
        <p:txBody>
          <a:bodyPr wrap="none">
            <a:prstTxWarp prst="textNoShape">
              <a:avLst/>
            </a:prstTxWarp>
            <a:spAutoFit/>
          </a:bodyPr>
          <a:lstStyle/>
          <a:p>
            <a:r>
              <a:rPr lang="en-US" sz="1600"/>
              <a:t>0.68</a:t>
            </a:r>
          </a:p>
        </p:txBody>
      </p:sp>
      <p:sp>
        <p:nvSpPr>
          <p:cNvPr id="17430" name="Text Box 28"/>
          <p:cNvSpPr txBox="1">
            <a:spLocks noChangeArrowheads="1"/>
          </p:cNvSpPr>
          <p:nvPr/>
        </p:nvSpPr>
        <p:spPr bwMode="auto">
          <a:xfrm>
            <a:off x="6762751" y="3132138"/>
            <a:ext cx="296863" cy="336550"/>
          </a:xfrm>
          <a:prstGeom prst="rect">
            <a:avLst/>
          </a:prstGeom>
          <a:noFill/>
          <a:ln w="9525">
            <a:noFill/>
            <a:miter lim="800000"/>
            <a:headEnd/>
            <a:tailEnd/>
          </a:ln>
        </p:spPr>
        <p:txBody>
          <a:bodyPr wrap="none">
            <a:prstTxWarp prst="textNoShape">
              <a:avLst/>
            </a:prstTxWarp>
            <a:spAutoFit/>
          </a:bodyPr>
          <a:lstStyle/>
          <a:p>
            <a:r>
              <a:rPr lang="en-US" sz="1600"/>
              <a:t>0</a:t>
            </a:r>
          </a:p>
        </p:txBody>
      </p:sp>
      <p:sp>
        <p:nvSpPr>
          <p:cNvPr id="17431" name="Text Box 29"/>
          <p:cNvSpPr txBox="1">
            <a:spLocks noChangeArrowheads="1"/>
          </p:cNvSpPr>
          <p:nvPr/>
        </p:nvSpPr>
        <p:spPr bwMode="auto">
          <a:xfrm>
            <a:off x="7326313" y="1855788"/>
            <a:ext cx="296862" cy="336550"/>
          </a:xfrm>
          <a:prstGeom prst="rect">
            <a:avLst/>
          </a:prstGeom>
          <a:noFill/>
          <a:ln w="9525">
            <a:noFill/>
            <a:miter lim="800000"/>
            <a:headEnd/>
            <a:tailEnd/>
          </a:ln>
        </p:spPr>
        <p:txBody>
          <a:bodyPr wrap="none">
            <a:prstTxWarp prst="textNoShape">
              <a:avLst/>
            </a:prstTxWarp>
            <a:spAutoFit/>
          </a:bodyPr>
          <a:lstStyle/>
          <a:p>
            <a:r>
              <a:rPr lang="en-US" sz="1600"/>
              <a:t>0</a:t>
            </a:r>
          </a:p>
        </p:txBody>
      </p:sp>
      <p:sp>
        <p:nvSpPr>
          <p:cNvPr id="17432" name="Text Box 30"/>
          <p:cNvSpPr txBox="1">
            <a:spLocks noChangeArrowheads="1"/>
          </p:cNvSpPr>
          <p:nvPr/>
        </p:nvSpPr>
        <p:spPr bwMode="auto">
          <a:xfrm>
            <a:off x="7326313" y="2700338"/>
            <a:ext cx="548548" cy="338554"/>
          </a:xfrm>
          <a:prstGeom prst="rect">
            <a:avLst/>
          </a:prstGeom>
          <a:noFill/>
          <a:ln w="9525">
            <a:noFill/>
            <a:miter lim="800000"/>
            <a:headEnd/>
            <a:tailEnd/>
          </a:ln>
        </p:spPr>
        <p:txBody>
          <a:bodyPr wrap="none">
            <a:prstTxWarp prst="textNoShape">
              <a:avLst/>
            </a:prstTxWarp>
            <a:spAutoFit/>
          </a:bodyPr>
          <a:lstStyle/>
          <a:p>
            <a:r>
              <a:rPr lang="en-US" sz="1600"/>
              <a:t>0.05</a:t>
            </a:r>
          </a:p>
        </p:txBody>
      </p:sp>
      <p:sp>
        <p:nvSpPr>
          <p:cNvPr id="17433" name="Text Box 31"/>
          <p:cNvSpPr txBox="1">
            <a:spLocks noChangeArrowheads="1"/>
          </p:cNvSpPr>
          <p:nvPr/>
        </p:nvSpPr>
        <p:spPr bwMode="auto">
          <a:xfrm>
            <a:off x="7326313" y="3546475"/>
            <a:ext cx="296862" cy="336550"/>
          </a:xfrm>
          <a:prstGeom prst="rect">
            <a:avLst/>
          </a:prstGeom>
          <a:noFill/>
          <a:ln w="9525">
            <a:noFill/>
            <a:miter lim="800000"/>
            <a:headEnd/>
            <a:tailEnd/>
          </a:ln>
        </p:spPr>
        <p:txBody>
          <a:bodyPr wrap="none">
            <a:prstTxWarp prst="textNoShape">
              <a:avLst/>
            </a:prstTxWarp>
            <a:spAutoFit/>
          </a:bodyPr>
          <a:lstStyle/>
          <a:p>
            <a:r>
              <a:rPr lang="en-US" sz="1600"/>
              <a:t>0</a:t>
            </a:r>
          </a:p>
        </p:txBody>
      </p:sp>
      <p:sp>
        <p:nvSpPr>
          <p:cNvPr id="17434" name="Text Box 32"/>
          <p:cNvSpPr txBox="1">
            <a:spLocks noChangeArrowheads="1"/>
          </p:cNvSpPr>
          <p:nvPr/>
        </p:nvSpPr>
        <p:spPr bwMode="auto">
          <a:xfrm>
            <a:off x="7326313" y="2278063"/>
            <a:ext cx="548548" cy="338554"/>
          </a:xfrm>
          <a:prstGeom prst="rect">
            <a:avLst/>
          </a:prstGeom>
          <a:noFill/>
          <a:ln w="9525">
            <a:noFill/>
            <a:miter lim="800000"/>
            <a:headEnd/>
            <a:tailEnd/>
          </a:ln>
        </p:spPr>
        <p:txBody>
          <a:bodyPr wrap="none">
            <a:prstTxWarp prst="textNoShape">
              <a:avLst/>
            </a:prstTxWarp>
            <a:spAutoFit/>
          </a:bodyPr>
          <a:lstStyle/>
          <a:p>
            <a:r>
              <a:rPr lang="en-US" sz="1600"/>
              <a:t>0.70</a:t>
            </a:r>
          </a:p>
        </p:txBody>
      </p:sp>
      <p:sp>
        <p:nvSpPr>
          <p:cNvPr id="17435" name="Text Box 33"/>
          <p:cNvSpPr txBox="1">
            <a:spLocks noChangeArrowheads="1"/>
          </p:cNvSpPr>
          <p:nvPr/>
        </p:nvSpPr>
        <p:spPr bwMode="auto">
          <a:xfrm>
            <a:off x="7326313" y="3122613"/>
            <a:ext cx="296862" cy="336550"/>
          </a:xfrm>
          <a:prstGeom prst="rect">
            <a:avLst/>
          </a:prstGeom>
          <a:noFill/>
          <a:ln w="9525">
            <a:noFill/>
            <a:miter lim="800000"/>
            <a:headEnd/>
            <a:tailEnd/>
          </a:ln>
        </p:spPr>
        <p:txBody>
          <a:bodyPr wrap="none">
            <a:prstTxWarp prst="textNoShape">
              <a:avLst/>
            </a:prstTxWarp>
            <a:spAutoFit/>
          </a:bodyPr>
          <a:lstStyle/>
          <a:p>
            <a:r>
              <a:rPr lang="en-US" sz="1600"/>
              <a:t>0</a:t>
            </a:r>
          </a:p>
        </p:txBody>
      </p:sp>
      <p:sp>
        <p:nvSpPr>
          <p:cNvPr id="17436" name="Text Box 34"/>
          <p:cNvSpPr txBox="1">
            <a:spLocks noChangeArrowheads="1"/>
          </p:cNvSpPr>
          <p:nvPr/>
        </p:nvSpPr>
        <p:spPr bwMode="auto">
          <a:xfrm>
            <a:off x="7935913" y="1855788"/>
            <a:ext cx="296862" cy="336550"/>
          </a:xfrm>
          <a:prstGeom prst="rect">
            <a:avLst/>
          </a:prstGeom>
          <a:noFill/>
          <a:ln w="9525">
            <a:noFill/>
            <a:miter lim="800000"/>
            <a:headEnd/>
            <a:tailEnd/>
          </a:ln>
        </p:spPr>
        <p:txBody>
          <a:bodyPr wrap="none">
            <a:prstTxWarp prst="textNoShape">
              <a:avLst/>
            </a:prstTxWarp>
            <a:spAutoFit/>
          </a:bodyPr>
          <a:lstStyle/>
          <a:p>
            <a:r>
              <a:rPr lang="en-US" sz="1600"/>
              <a:t>0</a:t>
            </a:r>
          </a:p>
        </p:txBody>
      </p:sp>
      <p:sp>
        <p:nvSpPr>
          <p:cNvPr id="17437" name="Text Box 35"/>
          <p:cNvSpPr txBox="1">
            <a:spLocks noChangeArrowheads="1"/>
          </p:cNvSpPr>
          <p:nvPr/>
        </p:nvSpPr>
        <p:spPr bwMode="auto">
          <a:xfrm>
            <a:off x="7935913" y="2700338"/>
            <a:ext cx="548548" cy="338554"/>
          </a:xfrm>
          <a:prstGeom prst="rect">
            <a:avLst/>
          </a:prstGeom>
          <a:noFill/>
          <a:ln w="9525">
            <a:noFill/>
            <a:miter lim="800000"/>
            <a:headEnd/>
            <a:tailEnd/>
          </a:ln>
        </p:spPr>
        <p:txBody>
          <a:bodyPr wrap="none">
            <a:prstTxWarp prst="textNoShape">
              <a:avLst/>
            </a:prstTxWarp>
            <a:spAutoFit/>
          </a:bodyPr>
          <a:lstStyle/>
          <a:p>
            <a:r>
              <a:rPr lang="en-US" sz="1600"/>
              <a:t>0.66</a:t>
            </a:r>
          </a:p>
        </p:txBody>
      </p:sp>
      <p:sp>
        <p:nvSpPr>
          <p:cNvPr id="17438" name="Text Box 36"/>
          <p:cNvSpPr txBox="1">
            <a:spLocks noChangeArrowheads="1"/>
          </p:cNvSpPr>
          <p:nvPr/>
        </p:nvSpPr>
        <p:spPr bwMode="auto">
          <a:xfrm>
            <a:off x="7935913" y="3546475"/>
            <a:ext cx="296862" cy="336550"/>
          </a:xfrm>
          <a:prstGeom prst="rect">
            <a:avLst/>
          </a:prstGeom>
          <a:noFill/>
          <a:ln w="9525">
            <a:noFill/>
            <a:miter lim="800000"/>
            <a:headEnd/>
            <a:tailEnd/>
          </a:ln>
        </p:spPr>
        <p:txBody>
          <a:bodyPr wrap="none">
            <a:prstTxWarp prst="textNoShape">
              <a:avLst/>
            </a:prstTxWarp>
            <a:spAutoFit/>
          </a:bodyPr>
          <a:lstStyle/>
          <a:p>
            <a:r>
              <a:rPr lang="en-US" sz="1600"/>
              <a:t>0</a:t>
            </a:r>
          </a:p>
        </p:txBody>
      </p:sp>
      <p:sp>
        <p:nvSpPr>
          <p:cNvPr id="17439" name="Text Box 37"/>
          <p:cNvSpPr txBox="1">
            <a:spLocks noChangeArrowheads="1"/>
          </p:cNvSpPr>
          <p:nvPr/>
        </p:nvSpPr>
        <p:spPr bwMode="auto">
          <a:xfrm>
            <a:off x="7935913" y="2278063"/>
            <a:ext cx="296862" cy="336550"/>
          </a:xfrm>
          <a:prstGeom prst="rect">
            <a:avLst/>
          </a:prstGeom>
          <a:noFill/>
          <a:ln w="9525">
            <a:noFill/>
            <a:miter lim="800000"/>
            <a:headEnd/>
            <a:tailEnd/>
          </a:ln>
        </p:spPr>
        <p:txBody>
          <a:bodyPr wrap="none">
            <a:prstTxWarp prst="textNoShape">
              <a:avLst/>
            </a:prstTxWarp>
            <a:spAutoFit/>
          </a:bodyPr>
          <a:lstStyle/>
          <a:p>
            <a:r>
              <a:rPr lang="en-US" sz="1600"/>
              <a:t>0</a:t>
            </a:r>
          </a:p>
        </p:txBody>
      </p:sp>
      <p:sp>
        <p:nvSpPr>
          <p:cNvPr id="17440" name="Text Box 38"/>
          <p:cNvSpPr txBox="1">
            <a:spLocks noChangeArrowheads="1"/>
          </p:cNvSpPr>
          <p:nvPr/>
        </p:nvSpPr>
        <p:spPr bwMode="auto">
          <a:xfrm>
            <a:off x="7935913" y="3122613"/>
            <a:ext cx="548548" cy="338554"/>
          </a:xfrm>
          <a:prstGeom prst="rect">
            <a:avLst/>
          </a:prstGeom>
          <a:noFill/>
          <a:ln w="9525">
            <a:noFill/>
            <a:miter lim="800000"/>
            <a:headEnd/>
            <a:tailEnd/>
          </a:ln>
        </p:spPr>
        <p:txBody>
          <a:bodyPr wrap="none">
            <a:prstTxWarp prst="textNoShape">
              <a:avLst/>
            </a:prstTxWarp>
            <a:spAutoFit/>
          </a:bodyPr>
          <a:lstStyle/>
          <a:p>
            <a:r>
              <a:rPr lang="en-US" sz="1600"/>
              <a:t>0.02</a:t>
            </a:r>
          </a:p>
        </p:txBody>
      </p:sp>
      <p:sp>
        <p:nvSpPr>
          <p:cNvPr id="17441" name="Text Box 39"/>
          <p:cNvSpPr txBox="1">
            <a:spLocks noChangeArrowheads="1"/>
          </p:cNvSpPr>
          <p:nvPr/>
        </p:nvSpPr>
        <p:spPr bwMode="auto">
          <a:xfrm>
            <a:off x="8532813" y="1855788"/>
            <a:ext cx="444352" cy="338554"/>
          </a:xfrm>
          <a:prstGeom prst="rect">
            <a:avLst/>
          </a:prstGeom>
          <a:noFill/>
          <a:ln w="9525">
            <a:noFill/>
            <a:miter lim="800000"/>
            <a:headEnd/>
            <a:tailEnd/>
          </a:ln>
        </p:spPr>
        <p:txBody>
          <a:bodyPr wrap="none">
            <a:prstTxWarp prst="textNoShape">
              <a:avLst/>
            </a:prstTxWarp>
            <a:spAutoFit/>
          </a:bodyPr>
          <a:lstStyle/>
          <a:p>
            <a:r>
              <a:rPr lang="en-US" sz="1600"/>
              <a:t>4.7</a:t>
            </a:r>
          </a:p>
        </p:txBody>
      </p:sp>
      <p:sp>
        <p:nvSpPr>
          <p:cNvPr id="17442" name="Text Box 40"/>
          <p:cNvSpPr txBox="1">
            <a:spLocks noChangeArrowheads="1"/>
          </p:cNvSpPr>
          <p:nvPr/>
        </p:nvSpPr>
        <p:spPr bwMode="auto">
          <a:xfrm>
            <a:off x="8532813" y="2700338"/>
            <a:ext cx="296862" cy="336550"/>
          </a:xfrm>
          <a:prstGeom prst="rect">
            <a:avLst/>
          </a:prstGeom>
          <a:noFill/>
          <a:ln w="9525">
            <a:noFill/>
            <a:miter lim="800000"/>
            <a:headEnd/>
            <a:tailEnd/>
          </a:ln>
        </p:spPr>
        <p:txBody>
          <a:bodyPr wrap="none">
            <a:prstTxWarp prst="textNoShape">
              <a:avLst/>
            </a:prstTxWarp>
            <a:spAutoFit/>
          </a:bodyPr>
          <a:lstStyle/>
          <a:p>
            <a:r>
              <a:rPr lang="en-US" sz="1600"/>
              <a:t>0</a:t>
            </a:r>
          </a:p>
        </p:txBody>
      </p:sp>
      <p:sp>
        <p:nvSpPr>
          <p:cNvPr id="17443" name="Text Box 41"/>
          <p:cNvSpPr txBox="1">
            <a:spLocks noChangeArrowheads="1"/>
          </p:cNvSpPr>
          <p:nvPr/>
        </p:nvSpPr>
        <p:spPr bwMode="auto">
          <a:xfrm>
            <a:off x="8532813" y="3546475"/>
            <a:ext cx="548548" cy="338554"/>
          </a:xfrm>
          <a:prstGeom prst="rect">
            <a:avLst/>
          </a:prstGeom>
          <a:noFill/>
          <a:ln w="9525">
            <a:noFill/>
            <a:miter lim="800000"/>
            <a:headEnd/>
            <a:tailEnd/>
          </a:ln>
        </p:spPr>
        <p:txBody>
          <a:bodyPr wrap="none">
            <a:prstTxWarp prst="textNoShape">
              <a:avLst/>
            </a:prstTxWarp>
            <a:spAutoFit/>
          </a:bodyPr>
          <a:lstStyle/>
          <a:p>
            <a:r>
              <a:rPr lang="en-US" sz="1600"/>
              <a:t>0.06</a:t>
            </a:r>
          </a:p>
        </p:txBody>
      </p:sp>
      <p:sp>
        <p:nvSpPr>
          <p:cNvPr id="17444" name="Text Box 42"/>
          <p:cNvSpPr txBox="1">
            <a:spLocks noChangeArrowheads="1"/>
          </p:cNvSpPr>
          <p:nvPr/>
        </p:nvSpPr>
        <p:spPr bwMode="auto">
          <a:xfrm>
            <a:off x="8532813" y="2278063"/>
            <a:ext cx="296862" cy="336550"/>
          </a:xfrm>
          <a:prstGeom prst="rect">
            <a:avLst/>
          </a:prstGeom>
          <a:noFill/>
          <a:ln w="9525">
            <a:noFill/>
            <a:miter lim="800000"/>
            <a:headEnd/>
            <a:tailEnd/>
          </a:ln>
        </p:spPr>
        <p:txBody>
          <a:bodyPr wrap="none">
            <a:prstTxWarp prst="textNoShape">
              <a:avLst/>
            </a:prstTxWarp>
            <a:spAutoFit/>
          </a:bodyPr>
          <a:lstStyle/>
          <a:p>
            <a:r>
              <a:rPr lang="en-US" sz="1600"/>
              <a:t>0</a:t>
            </a:r>
          </a:p>
        </p:txBody>
      </p:sp>
      <p:sp>
        <p:nvSpPr>
          <p:cNvPr id="17445" name="Text Box 43"/>
          <p:cNvSpPr txBox="1">
            <a:spLocks noChangeArrowheads="1"/>
          </p:cNvSpPr>
          <p:nvPr/>
        </p:nvSpPr>
        <p:spPr bwMode="auto">
          <a:xfrm>
            <a:off x="8532813" y="3122613"/>
            <a:ext cx="548548" cy="338554"/>
          </a:xfrm>
          <a:prstGeom prst="rect">
            <a:avLst/>
          </a:prstGeom>
          <a:noFill/>
          <a:ln w="9525">
            <a:noFill/>
            <a:miter lim="800000"/>
            <a:headEnd/>
            <a:tailEnd/>
          </a:ln>
        </p:spPr>
        <p:txBody>
          <a:bodyPr wrap="none">
            <a:prstTxWarp prst="textNoShape">
              <a:avLst/>
            </a:prstTxWarp>
            <a:spAutoFit/>
          </a:bodyPr>
          <a:lstStyle/>
          <a:p>
            <a:r>
              <a:rPr lang="en-US" sz="1600"/>
              <a:t>0.68</a:t>
            </a:r>
          </a:p>
        </p:txBody>
      </p:sp>
      <p:sp>
        <p:nvSpPr>
          <p:cNvPr id="17446" name="Text Box 44"/>
          <p:cNvSpPr txBox="1">
            <a:spLocks noChangeArrowheads="1"/>
          </p:cNvSpPr>
          <p:nvPr/>
        </p:nvSpPr>
        <p:spPr bwMode="auto">
          <a:xfrm>
            <a:off x="9124950" y="1855788"/>
            <a:ext cx="548548" cy="338554"/>
          </a:xfrm>
          <a:prstGeom prst="rect">
            <a:avLst/>
          </a:prstGeom>
          <a:noFill/>
          <a:ln w="9525">
            <a:noFill/>
            <a:miter lim="800000"/>
            <a:headEnd/>
            <a:tailEnd/>
          </a:ln>
        </p:spPr>
        <p:txBody>
          <a:bodyPr wrap="none">
            <a:prstTxWarp prst="textNoShape">
              <a:avLst/>
            </a:prstTxWarp>
            <a:spAutoFit/>
          </a:bodyPr>
          <a:lstStyle/>
          <a:p>
            <a:r>
              <a:rPr lang="en-US" sz="1600"/>
              <a:t>61.9</a:t>
            </a:r>
          </a:p>
        </p:txBody>
      </p:sp>
      <p:sp>
        <p:nvSpPr>
          <p:cNvPr id="17447" name="Text Box 45"/>
          <p:cNvSpPr txBox="1">
            <a:spLocks noChangeArrowheads="1"/>
          </p:cNvSpPr>
          <p:nvPr/>
        </p:nvSpPr>
        <p:spPr bwMode="auto">
          <a:xfrm>
            <a:off x="9124951" y="2700338"/>
            <a:ext cx="296863" cy="336550"/>
          </a:xfrm>
          <a:prstGeom prst="rect">
            <a:avLst/>
          </a:prstGeom>
          <a:noFill/>
          <a:ln w="9525">
            <a:noFill/>
            <a:miter lim="800000"/>
            <a:headEnd/>
            <a:tailEnd/>
          </a:ln>
        </p:spPr>
        <p:txBody>
          <a:bodyPr wrap="none">
            <a:prstTxWarp prst="textNoShape">
              <a:avLst/>
            </a:prstTxWarp>
            <a:spAutoFit/>
          </a:bodyPr>
          <a:lstStyle/>
          <a:p>
            <a:r>
              <a:rPr lang="en-US" sz="1600"/>
              <a:t>0</a:t>
            </a:r>
          </a:p>
        </p:txBody>
      </p:sp>
      <p:sp>
        <p:nvSpPr>
          <p:cNvPr id="17448" name="Text Box 46"/>
          <p:cNvSpPr txBox="1">
            <a:spLocks noChangeArrowheads="1"/>
          </p:cNvSpPr>
          <p:nvPr/>
        </p:nvSpPr>
        <p:spPr bwMode="auto">
          <a:xfrm>
            <a:off x="9124950" y="3546475"/>
            <a:ext cx="548548" cy="338554"/>
          </a:xfrm>
          <a:prstGeom prst="rect">
            <a:avLst/>
          </a:prstGeom>
          <a:noFill/>
          <a:ln w="9525">
            <a:noFill/>
            <a:miter lim="800000"/>
            <a:headEnd/>
            <a:tailEnd/>
          </a:ln>
        </p:spPr>
        <p:txBody>
          <a:bodyPr wrap="none">
            <a:prstTxWarp prst="textNoShape">
              <a:avLst/>
            </a:prstTxWarp>
            <a:spAutoFit/>
          </a:bodyPr>
          <a:lstStyle/>
          <a:p>
            <a:r>
              <a:rPr lang="en-US" sz="1600"/>
              <a:t>0.81</a:t>
            </a:r>
          </a:p>
        </p:txBody>
      </p:sp>
      <p:sp>
        <p:nvSpPr>
          <p:cNvPr id="17449" name="Text Box 47"/>
          <p:cNvSpPr txBox="1">
            <a:spLocks noChangeArrowheads="1"/>
          </p:cNvSpPr>
          <p:nvPr/>
        </p:nvSpPr>
        <p:spPr bwMode="auto">
          <a:xfrm>
            <a:off x="9124951" y="2278063"/>
            <a:ext cx="296863" cy="336550"/>
          </a:xfrm>
          <a:prstGeom prst="rect">
            <a:avLst/>
          </a:prstGeom>
          <a:noFill/>
          <a:ln w="9525">
            <a:noFill/>
            <a:miter lim="800000"/>
            <a:headEnd/>
            <a:tailEnd/>
          </a:ln>
        </p:spPr>
        <p:txBody>
          <a:bodyPr wrap="none">
            <a:prstTxWarp prst="textNoShape">
              <a:avLst/>
            </a:prstTxWarp>
            <a:spAutoFit/>
          </a:bodyPr>
          <a:lstStyle/>
          <a:p>
            <a:r>
              <a:rPr lang="en-US" sz="1600"/>
              <a:t>0</a:t>
            </a:r>
          </a:p>
        </p:txBody>
      </p:sp>
      <p:sp>
        <p:nvSpPr>
          <p:cNvPr id="17450" name="Text Box 48"/>
          <p:cNvSpPr txBox="1">
            <a:spLocks noChangeArrowheads="1"/>
          </p:cNvSpPr>
          <p:nvPr/>
        </p:nvSpPr>
        <p:spPr bwMode="auto">
          <a:xfrm>
            <a:off x="9124951" y="3122613"/>
            <a:ext cx="296863" cy="336550"/>
          </a:xfrm>
          <a:prstGeom prst="rect">
            <a:avLst/>
          </a:prstGeom>
          <a:noFill/>
          <a:ln w="9525">
            <a:noFill/>
            <a:miter lim="800000"/>
            <a:headEnd/>
            <a:tailEnd/>
          </a:ln>
        </p:spPr>
        <p:txBody>
          <a:bodyPr wrap="none">
            <a:prstTxWarp prst="textNoShape">
              <a:avLst/>
            </a:prstTxWarp>
            <a:spAutoFit/>
          </a:bodyPr>
          <a:lstStyle/>
          <a:p>
            <a:r>
              <a:rPr lang="en-US" sz="1600"/>
              <a:t>0</a:t>
            </a:r>
          </a:p>
        </p:txBody>
      </p:sp>
      <p:sp>
        <p:nvSpPr>
          <p:cNvPr id="17451" name="Text Box 49"/>
          <p:cNvSpPr txBox="1">
            <a:spLocks noChangeArrowheads="1"/>
          </p:cNvSpPr>
          <p:nvPr/>
        </p:nvSpPr>
        <p:spPr bwMode="auto">
          <a:xfrm>
            <a:off x="5715000" y="914400"/>
            <a:ext cx="1871538" cy="369332"/>
          </a:xfrm>
          <a:prstGeom prst="rect">
            <a:avLst/>
          </a:prstGeom>
          <a:noFill/>
          <a:ln w="9525">
            <a:noFill/>
            <a:miter lim="800000"/>
            <a:headEnd/>
            <a:tailEnd/>
          </a:ln>
        </p:spPr>
        <p:txBody>
          <a:bodyPr wrap="none">
            <a:prstTxWarp prst="textNoShape">
              <a:avLst/>
            </a:prstTxWarp>
            <a:spAutoFit/>
          </a:bodyPr>
          <a:lstStyle/>
          <a:p>
            <a:r>
              <a:rPr lang="en-US" b="1" u="sng"/>
              <a:t>Transition matrix:</a:t>
            </a:r>
          </a:p>
        </p:txBody>
      </p:sp>
      <p:sp>
        <p:nvSpPr>
          <p:cNvPr id="17452" name="Text Box 50"/>
          <p:cNvSpPr txBox="1">
            <a:spLocks noChangeArrowheads="1"/>
          </p:cNvSpPr>
          <p:nvPr/>
        </p:nvSpPr>
        <p:spPr bwMode="auto">
          <a:xfrm>
            <a:off x="5638800" y="4114800"/>
            <a:ext cx="1773434" cy="369332"/>
          </a:xfrm>
          <a:prstGeom prst="rect">
            <a:avLst/>
          </a:prstGeom>
          <a:noFill/>
          <a:ln w="9525">
            <a:noFill/>
            <a:miter lim="800000"/>
            <a:headEnd/>
            <a:tailEnd/>
          </a:ln>
        </p:spPr>
        <p:txBody>
          <a:bodyPr wrap="none">
            <a:prstTxWarp prst="textNoShape">
              <a:avLst/>
            </a:prstTxWarp>
            <a:spAutoFit/>
          </a:bodyPr>
          <a:lstStyle/>
          <a:p>
            <a:r>
              <a:rPr lang="en-US" b="1" u="sng"/>
              <a:t>Elasticity matrix:</a:t>
            </a:r>
          </a:p>
        </p:txBody>
      </p:sp>
      <p:grpSp>
        <p:nvGrpSpPr>
          <p:cNvPr id="4" name="Group 51"/>
          <p:cNvGrpSpPr>
            <a:grpSpLocks/>
          </p:cNvGrpSpPr>
          <p:nvPr/>
        </p:nvGrpSpPr>
        <p:grpSpPr bwMode="auto">
          <a:xfrm>
            <a:off x="6781800" y="4737100"/>
            <a:ext cx="228600" cy="2057400"/>
            <a:chOff x="3600" y="1104"/>
            <a:chExt cx="144" cy="1296"/>
          </a:xfrm>
        </p:grpSpPr>
        <p:sp>
          <p:nvSpPr>
            <p:cNvPr id="17494" name="Line 52"/>
            <p:cNvSpPr>
              <a:spLocks noChangeShapeType="1"/>
            </p:cNvSpPr>
            <p:nvPr/>
          </p:nvSpPr>
          <p:spPr bwMode="auto">
            <a:xfrm>
              <a:off x="3600" y="1104"/>
              <a:ext cx="0" cy="1296"/>
            </a:xfrm>
            <a:prstGeom prst="line">
              <a:avLst/>
            </a:prstGeom>
            <a:noFill/>
            <a:ln w="9525">
              <a:solidFill>
                <a:schemeClr val="tx1"/>
              </a:solidFill>
              <a:round/>
              <a:headEnd/>
              <a:tailEnd/>
            </a:ln>
          </p:spPr>
          <p:txBody>
            <a:bodyPr>
              <a:prstTxWarp prst="textNoShape">
                <a:avLst/>
              </a:prstTxWarp>
            </a:bodyPr>
            <a:lstStyle/>
            <a:p>
              <a:endParaRPr lang="en-US"/>
            </a:p>
          </p:txBody>
        </p:sp>
        <p:sp>
          <p:nvSpPr>
            <p:cNvPr id="17495" name="Line 53"/>
            <p:cNvSpPr>
              <a:spLocks noChangeShapeType="1"/>
            </p:cNvSpPr>
            <p:nvPr/>
          </p:nvSpPr>
          <p:spPr bwMode="auto">
            <a:xfrm>
              <a:off x="3600" y="2400"/>
              <a:ext cx="144" cy="0"/>
            </a:xfrm>
            <a:prstGeom prst="line">
              <a:avLst/>
            </a:prstGeom>
            <a:noFill/>
            <a:ln w="9525">
              <a:solidFill>
                <a:schemeClr val="tx1"/>
              </a:solidFill>
              <a:round/>
              <a:headEnd/>
              <a:tailEnd/>
            </a:ln>
          </p:spPr>
          <p:txBody>
            <a:bodyPr>
              <a:prstTxWarp prst="textNoShape">
                <a:avLst/>
              </a:prstTxWarp>
            </a:bodyPr>
            <a:lstStyle/>
            <a:p>
              <a:endParaRPr lang="en-US"/>
            </a:p>
          </p:txBody>
        </p:sp>
        <p:sp>
          <p:nvSpPr>
            <p:cNvPr id="17496" name="Line 54"/>
            <p:cNvSpPr>
              <a:spLocks noChangeShapeType="1"/>
            </p:cNvSpPr>
            <p:nvPr/>
          </p:nvSpPr>
          <p:spPr bwMode="auto">
            <a:xfrm>
              <a:off x="3600" y="1104"/>
              <a:ext cx="144" cy="0"/>
            </a:xfrm>
            <a:prstGeom prst="line">
              <a:avLst/>
            </a:prstGeom>
            <a:noFill/>
            <a:ln w="9525">
              <a:solidFill>
                <a:schemeClr val="tx1"/>
              </a:solidFill>
              <a:round/>
              <a:headEnd/>
              <a:tailEnd/>
            </a:ln>
          </p:spPr>
          <p:txBody>
            <a:bodyPr>
              <a:prstTxWarp prst="textNoShape">
                <a:avLst/>
              </a:prstTxWarp>
            </a:bodyPr>
            <a:lstStyle/>
            <a:p>
              <a:endParaRPr lang="en-US"/>
            </a:p>
          </p:txBody>
        </p:sp>
      </p:grpSp>
      <p:grpSp>
        <p:nvGrpSpPr>
          <p:cNvPr id="5" name="Group 55"/>
          <p:cNvGrpSpPr>
            <a:grpSpLocks/>
          </p:cNvGrpSpPr>
          <p:nvPr/>
        </p:nvGrpSpPr>
        <p:grpSpPr bwMode="auto">
          <a:xfrm flipH="1">
            <a:off x="9525000" y="4737100"/>
            <a:ext cx="228600" cy="2057400"/>
            <a:chOff x="3600" y="1104"/>
            <a:chExt cx="144" cy="1296"/>
          </a:xfrm>
        </p:grpSpPr>
        <p:sp>
          <p:nvSpPr>
            <p:cNvPr id="17491" name="Line 56"/>
            <p:cNvSpPr>
              <a:spLocks noChangeShapeType="1"/>
            </p:cNvSpPr>
            <p:nvPr/>
          </p:nvSpPr>
          <p:spPr bwMode="auto">
            <a:xfrm>
              <a:off x="3600" y="1104"/>
              <a:ext cx="0" cy="1296"/>
            </a:xfrm>
            <a:prstGeom prst="line">
              <a:avLst/>
            </a:prstGeom>
            <a:noFill/>
            <a:ln w="9525">
              <a:solidFill>
                <a:schemeClr val="tx1"/>
              </a:solidFill>
              <a:round/>
              <a:headEnd/>
              <a:tailEnd/>
            </a:ln>
          </p:spPr>
          <p:txBody>
            <a:bodyPr>
              <a:prstTxWarp prst="textNoShape">
                <a:avLst/>
              </a:prstTxWarp>
            </a:bodyPr>
            <a:lstStyle/>
            <a:p>
              <a:endParaRPr lang="en-US"/>
            </a:p>
          </p:txBody>
        </p:sp>
        <p:sp>
          <p:nvSpPr>
            <p:cNvPr id="17492" name="Line 57"/>
            <p:cNvSpPr>
              <a:spLocks noChangeShapeType="1"/>
            </p:cNvSpPr>
            <p:nvPr/>
          </p:nvSpPr>
          <p:spPr bwMode="auto">
            <a:xfrm>
              <a:off x="3600" y="2400"/>
              <a:ext cx="144" cy="0"/>
            </a:xfrm>
            <a:prstGeom prst="line">
              <a:avLst/>
            </a:prstGeom>
            <a:noFill/>
            <a:ln w="9525">
              <a:solidFill>
                <a:schemeClr val="tx1"/>
              </a:solidFill>
              <a:round/>
              <a:headEnd/>
              <a:tailEnd/>
            </a:ln>
          </p:spPr>
          <p:txBody>
            <a:bodyPr>
              <a:prstTxWarp prst="textNoShape">
                <a:avLst/>
              </a:prstTxWarp>
            </a:bodyPr>
            <a:lstStyle/>
            <a:p>
              <a:endParaRPr lang="en-US"/>
            </a:p>
          </p:txBody>
        </p:sp>
        <p:sp>
          <p:nvSpPr>
            <p:cNvPr id="17493" name="Line 58"/>
            <p:cNvSpPr>
              <a:spLocks noChangeShapeType="1"/>
            </p:cNvSpPr>
            <p:nvPr/>
          </p:nvSpPr>
          <p:spPr bwMode="auto">
            <a:xfrm>
              <a:off x="3600" y="1104"/>
              <a:ext cx="144" cy="0"/>
            </a:xfrm>
            <a:prstGeom prst="line">
              <a:avLst/>
            </a:prstGeom>
            <a:noFill/>
            <a:ln w="9525">
              <a:solidFill>
                <a:schemeClr val="tx1"/>
              </a:solidFill>
              <a:round/>
              <a:headEnd/>
              <a:tailEnd/>
            </a:ln>
          </p:spPr>
          <p:txBody>
            <a:bodyPr>
              <a:prstTxWarp prst="textNoShape">
                <a:avLst/>
              </a:prstTxWarp>
            </a:bodyPr>
            <a:lstStyle/>
            <a:p>
              <a:endParaRPr lang="en-US"/>
            </a:p>
          </p:txBody>
        </p:sp>
      </p:grpSp>
      <p:sp>
        <p:nvSpPr>
          <p:cNvPr id="17455" name="Text Box 59"/>
          <p:cNvSpPr txBox="1">
            <a:spLocks noChangeArrowheads="1"/>
          </p:cNvSpPr>
          <p:nvPr/>
        </p:nvSpPr>
        <p:spPr bwMode="auto">
          <a:xfrm>
            <a:off x="6775450" y="4392613"/>
            <a:ext cx="311150" cy="366712"/>
          </a:xfrm>
          <a:prstGeom prst="rect">
            <a:avLst/>
          </a:prstGeom>
          <a:noFill/>
          <a:ln w="9525">
            <a:noFill/>
            <a:miter lim="800000"/>
            <a:headEnd/>
            <a:tailEnd/>
          </a:ln>
        </p:spPr>
        <p:txBody>
          <a:bodyPr wrap="none">
            <a:prstTxWarp prst="textNoShape">
              <a:avLst/>
            </a:prstTxWarp>
            <a:spAutoFit/>
          </a:bodyPr>
          <a:lstStyle/>
          <a:p>
            <a:r>
              <a:rPr lang="en-US"/>
              <a:t>e</a:t>
            </a:r>
          </a:p>
        </p:txBody>
      </p:sp>
      <p:sp>
        <p:nvSpPr>
          <p:cNvPr id="17456" name="Text Box 60"/>
          <p:cNvSpPr txBox="1">
            <a:spLocks noChangeArrowheads="1"/>
          </p:cNvSpPr>
          <p:nvPr/>
        </p:nvSpPr>
        <p:spPr bwMode="auto">
          <a:xfrm>
            <a:off x="7956550" y="4392613"/>
            <a:ext cx="239168" cy="369332"/>
          </a:xfrm>
          <a:prstGeom prst="rect">
            <a:avLst/>
          </a:prstGeom>
          <a:noFill/>
          <a:ln w="9525">
            <a:noFill/>
            <a:miter lim="800000"/>
            <a:headEnd/>
            <a:tailEnd/>
          </a:ln>
        </p:spPr>
        <p:txBody>
          <a:bodyPr wrap="none">
            <a:prstTxWarp prst="textNoShape">
              <a:avLst/>
            </a:prstTxWarp>
            <a:spAutoFit/>
          </a:bodyPr>
          <a:lstStyle/>
          <a:p>
            <a:r>
              <a:rPr lang="en-US"/>
              <a:t>j</a:t>
            </a:r>
          </a:p>
        </p:txBody>
      </p:sp>
      <p:sp>
        <p:nvSpPr>
          <p:cNvPr id="17457" name="Text Box 61"/>
          <p:cNvSpPr txBox="1">
            <a:spLocks noChangeArrowheads="1"/>
          </p:cNvSpPr>
          <p:nvPr/>
        </p:nvSpPr>
        <p:spPr bwMode="auto">
          <a:xfrm>
            <a:off x="9137650" y="4392613"/>
            <a:ext cx="295274" cy="369332"/>
          </a:xfrm>
          <a:prstGeom prst="rect">
            <a:avLst/>
          </a:prstGeom>
          <a:noFill/>
          <a:ln w="9525">
            <a:noFill/>
            <a:miter lim="800000"/>
            <a:headEnd/>
            <a:tailEnd/>
          </a:ln>
        </p:spPr>
        <p:txBody>
          <a:bodyPr wrap="none">
            <a:prstTxWarp prst="textNoShape">
              <a:avLst/>
            </a:prstTxWarp>
            <a:spAutoFit/>
          </a:bodyPr>
          <a:lstStyle/>
          <a:p>
            <a:r>
              <a:rPr lang="en-US"/>
              <a:t>a</a:t>
            </a:r>
          </a:p>
        </p:txBody>
      </p:sp>
      <p:sp>
        <p:nvSpPr>
          <p:cNvPr id="17458" name="Text Box 62"/>
          <p:cNvSpPr txBox="1">
            <a:spLocks noChangeArrowheads="1"/>
          </p:cNvSpPr>
          <p:nvPr/>
        </p:nvSpPr>
        <p:spPr bwMode="auto">
          <a:xfrm>
            <a:off x="6324600" y="4751388"/>
            <a:ext cx="311150" cy="366712"/>
          </a:xfrm>
          <a:prstGeom prst="rect">
            <a:avLst/>
          </a:prstGeom>
          <a:noFill/>
          <a:ln w="9525">
            <a:noFill/>
            <a:miter lim="800000"/>
            <a:headEnd/>
            <a:tailEnd/>
          </a:ln>
        </p:spPr>
        <p:txBody>
          <a:bodyPr wrap="none">
            <a:prstTxWarp prst="textNoShape">
              <a:avLst/>
            </a:prstTxWarp>
            <a:spAutoFit/>
          </a:bodyPr>
          <a:lstStyle/>
          <a:p>
            <a:r>
              <a:rPr lang="en-US"/>
              <a:t>e</a:t>
            </a:r>
          </a:p>
        </p:txBody>
      </p:sp>
      <p:sp>
        <p:nvSpPr>
          <p:cNvPr id="17459" name="Text Box 63"/>
          <p:cNvSpPr txBox="1">
            <a:spLocks noChangeArrowheads="1"/>
          </p:cNvSpPr>
          <p:nvPr/>
        </p:nvSpPr>
        <p:spPr bwMode="auto">
          <a:xfrm>
            <a:off x="6324600" y="5621338"/>
            <a:ext cx="239168" cy="369332"/>
          </a:xfrm>
          <a:prstGeom prst="rect">
            <a:avLst/>
          </a:prstGeom>
          <a:noFill/>
          <a:ln w="9525">
            <a:noFill/>
            <a:miter lim="800000"/>
            <a:headEnd/>
            <a:tailEnd/>
          </a:ln>
        </p:spPr>
        <p:txBody>
          <a:bodyPr wrap="none">
            <a:prstTxWarp prst="textNoShape">
              <a:avLst/>
            </a:prstTxWarp>
            <a:spAutoFit/>
          </a:bodyPr>
          <a:lstStyle/>
          <a:p>
            <a:r>
              <a:rPr lang="en-US"/>
              <a:t>j</a:t>
            </a:r>
          </a:p>
        </p:txBody>
      </p:sp>
      <p:sp>
        <p:nvSpPr>
          <p:cNvPr id="17460" name="Text Box 64"/>
          <p:cNvSpPr txBox="1">
            <a:spLocks noChangeArrowheads="1"/>
          </p:cNvSpPr>
          <p:nvPr/>
        </p:nvSpPr>
        <p:spPr bwMode="auto">
          <a:xfrm>
            <a:off x="6324600" y="6491288"/>
            <a:ext cx="295274" cy="369332"/>
          </a:xfrm>
          <a:prstGeom prst="rect">
            <a:avLst/>
          </a:prstGeom>
          <a:noFill/>
          <a:ln w="9525">
            <a:noFill/>
            <a:miter lim="800000"/>
            <a:headEnd/>
            <a:tailEnd/>
          </a:ln>
        </p:spPr>
        <p:txBody>
          <a:bodyPr wrap="none">
            <a:prstTxWarp prst="textNoShape">
              <a:avLst/>
            </a:prstTxWarp>
            <a:spAutoFit/>
          </a:bodyPr>
          <a:lstStyle/>
          <a:p>
            <a:r>
              <a:rPr lang="en-US"/>
              <a:t>a</a:t>
            </a:r>
          </a:p>
        </p:txBody>
      </p:sp>
      <p:sp>
        <p:nvSpPr>
          <p:cNvPr id="17461" name="Text Box 65"/>
          <p:cNvSpPr txBox="1">
            <a:spLocks noChangeArrowheads="1"/>
          </p:cNvSpPr>
          <p:nvPr/>
        </p:nvSpPr>
        <p:spPr bwMode="auto">
          <a:xfrm>
            <a:off x="6781801" y="4760913"/>
            <a:ext cx="296863" cy="336550"/>
          </a:xfrm>
          <a:prstGeom prst="rect">
            <a:avLst/>
          </a:prstGeom>
          <a:noFill/>
          <a:ln w="9525">
            <a:noFill/>
            <a:miter lim="800000"/>
            <a:headEnd/>
            <a:tailEnd/>
          </a:ln>
        </p:spPr>
        <p:txBody>
          <a:bodyPr wrap="none">
            <a:prstTxWarp prst="textNoShape">
              <a:avLst/>
            </a:prstTxWarp>
            <a:spAutoFit/>
          </a:bodyPr>
          <a:lstStyle/>
          <a:p>
            <a:r>
              <a:rPr lang="en-US" sz="1600"/>
              <a:t>0</a:t>
            </a:r>
          </a:p>
        </p:txBody>
      </p:sp>
      <p:sp>
        <p:nvSpPr>
          <p:cNvPr id="17462" name="Text Box 66"/>
          <p:cNvSpPr txBox="1">
            <a:spLocks noChangeArrowheads="1"/>
          </p:cNvSpPr>
          <p:nvPr/>
        </p:nvSpPr>
        <p:spPr bwMode="auto">
          <a:xfrm>
            <a:off x="6781801" y="5605463"/>
            <a:ext cx="296863" cy="336550"/>
          </a:xfrm>
          <a:prstGeom prst="rect">
            <a:avLst/>
          </a:prstGeom>
          <a:noFill/>
          <a:ln w="9525">
            <a:noFill/>
            <a:miter lim="800000"/>
            <a:headEnd/>
            <a:tailEnd/>
          </a:ln>
        </p:spPr>
        <p:txBody>
          <a:bodyPr wrap="none">
            <a:prstTxWarp prst="textNoShape">
              <a:avLst/>
            </a:prstTxWarp>
            <a:spAutoFit/>
          </a:bodyPr>
          <a:lstStyle/>
          <a:p>
            <a:r>
              <a:rPr lang="en-US" sz="1600"/>
              <a:t>0</a:t>
            </a:r>
          </a:p>
        </p:txBody>
      </p:sp>
      <p:sp>
        <p:nvSpPr>
          <p:cNvPr id="17463" name="Text Box 67"/>
          <p:cNvSpPr txBox="1">
            <a:spLocks noChangeArrowheads="1"/>
          </p:cNvSpPr>
          <p:nvPr/>
        </p:nvSpPr>
        <p:spPr bwMode="auto">
          <a:xfrm>
            <a:off x="6781801" y="6451600"/>
            <a:ext cx="296863" cy="336550"/>
          </a:xfrm>
          <a:prstGeom prst="rect">
            <a:avLst/>
          </a:prstGeom>
          <a:noFill/>
          <a:ln w="9525">
            <a:noFill/>
            <a:miter lim="800000"/>
            <a:headEnd/>
            <a:tailEnd/>
          </a:ln>
        </p:spPr>
        <p:txBody>
          <a:bodyPr wrap="none">
            <a:prstTxWarp prst="textNoShape">
              <a:avLst/>
            </a:prstTxWarp>
            <a:spAutoFit/>
          </a:bodyPr>
          <a:lstStyle/>
          <a:p>
            <a:r>
              <a:rPr lang="en-US" sz="1600"/>
              <a:t>0</a:t>
            </a:r>
          </a:p>
        </p:txBody>
      </p:sp>
      <p:sp>
        <p:nvSpPr>
          <p:cNvPr id="17464" name="Text Box 68"/>
          <p:cNvSpPr txBox="1">
            <a:spLocks noChangeArrowheads="1"/>
          </p:cNvSpPr>
          <p:nvPr/>
        </p:nvSpPr>
        <p:spPr bwMode="auto">
          <a:xfrm>
            <a:off x="6324600" y="5186363"/>
            <a:ext cx="311150" cy="366712"/>
          </a:xfrm>
          <a:prstGeom prst="rect">
            <a:avLst/>
          </a:prstGeom>
          <a:noFill/>
          <a:ln w="9525">
            <a:noFill/>
            <a:miter lim="800000"/>
            <a:headEnd/>
            <a:tailEnd/>
          </a:ln>
        </p:spPr>
        <p:txBody>
          <a:bodyPr wrap="none">
            <a:prstTxWarp prst="textNoShape">
              <a:avLst/>
            </a:prstTxWarp>
            <a:spAutoFit/>
          </a:bodyPr>
          <a:lstStyle/>
          <a:p>
            <a:r>
              <a:rPr lang="en-US"/>
              <a:t>h</a:t>
            </a:r>
          </a:p>
        </p:txBody>
      </p:sp>
      <p:sp>
        <p:nvSpPr>
          <p:cNvPr id="17465" name="Text Box 69"/>
          <p:cNvSpPr txBox="1">
            <a:spLocks noChangeArrowheads="1"/>
          </p:cNvSpPr>
          <p:nvPr/>
        </p:nvSpPr>
        <p:spPr bwMode="auto">
          <a:xfrm>
            <a:off x="6324600" y="6056313"/>
            <a:ext cx="274434" cy="369332"/>
          </a:xfrm>
          <a:prstGeom prst="rect">
            <a:avLst/>
          </a:prstGeom>
          <a:noFill/>
          <a:ln w="9525">
            <a:noFill/>
            <a:miter lim="800000"/>
            <a:headEnd/>
            <a:tailEnd/>
          </a:ln>
        </p:spPr>
        <p:txBody>
          <a:bodyPr wrap="none">
            <a:prstTxWarp prst="textNoShape">
              <a:avLst/>
            </a:prstTxWarp>
            <a:spAutoFit/>
          </a:bodyPr>
          <a:lstStyle/>
          <a:p>
            <a:r>
              <a:rPr lang="en-US"/>
              <a:t>s</a:t>
            </a:r>
          </a:p>
        </p:txBody>
      </p:sp>
      <p:sp>
        <p:nvSpPr>
          <p:cNvPr id="17466" name="Text Box 70"/>
          <p:cNvSpPr txBox="1">
            <a:spLocks noChangeArrowheads="1"/>
          </p:cNvSpPr>
          <p:nvPr/>
        </p:nvSpPr>
        <p:spPr bwMode="auto">
          <a:xfrm>
            <a:off x="7366000" y="4392613"/>
            <a:ext cx="311150" cy="366712"/>
          </a:xfrm>
          <a:prstGeom prst="rect">
            <a:avLst/>
          </a:prstGeom>
          <a:noFill/>
          <a:ln w="9525">
            <a:noFill/>
            <a:miter lim="800000"/>
            <a:headEnd/>
            <a:tailEnd/>
          </a:ln>
        </p:spPr>
        <p:txBody>
          <a:bodyPr wrap="none">
            <a:prstTxWarp prst="textNoShape">
              <a:avLst/>
            </a:prstTxWarp>
            <a:spAutoFit/>
          </a:bodyPr>
          <a:lstStyle/>
          <a:p>
            <a:r>
              <a:rPr lang="en-US"/>
              <a:t>h</a:t>
            </a:r>
          </a:p>
        </p:txBody>
      </p:sp>
      <p:sp>
        <p:nvSpPr>
          <p:cNvPr id="17467" name="Text Box 71"/>
          <p:cNvSpPr txBox="1">
            <a:spLocks noChangeArrowheads="1"/>
          </p:cNvSpPr>
          <p:nvPr/>
        </p:nvSpPr>
        <p:spPr bwMode="auto">
          <a:xfrm>
            <a:off x="8547100" y="4392613"/>
            <a:ext cx="274434" cy="369332"/>
          </a:xfrm>
          <a:prstGeom prst="rect">
            <a:avLst/>
          </a:prstGeom>
          <a:noFill/>
          <a:ln w="9525">
            <a:noFill/>
            <a:miter lim="800000"/>
            <a:headEnd/>
            <a:tailEnd/>
          </a:ln>
        </p:spPr>
        <p:txBody>
          <a:bodyPr wrap="none">
            <a:prstTxWarp prst="textNoShape">
              <a:avLst/>
            </a:prstTxWarp>
            <a:spAutoFit/>
          </a:bodyPr>
          <a:lstStyle/>
          <a:p>
            <a:r>
              <a:rPr lang="en-US"/>
              <a:t>s</a:t>
            </a:r>
          </a:p>
        </p:txBody>
      </p:sp>
      <p:sp>
        <p:nvSpPr>
          <p:cNvPr id="17468" name="Text Box 72"/>
          <p:cNvSpPr txBox="1">
            <a:spLocks noChangeArrowheads="1"/>
          </p:cNvSpPr>
          <p:nvPr/>
        </p:nvSpPr>
        <p:spPr bwMode="auto">
          <a:xfrm>
            <a:off x="6781800" y="5183188"/>
            <a:ext cx="548548" cy="338554"/>
          </a:xfrm>
          <a:prstGeom prst="rect">
            <a:avLst/>
          </a:prstGeom>
          <a:noFill/>
          <a:ln w="9525">
            <a:noFill/>
            <a:miter lim="800000"/>
            <a:headEnd/>
            <a:tailEnd/>
          </a:ln>
        </p:spPr>
        <p:txBody>
          <a:bodyPr wrap="none">
            <a:prstTxWarp prst="textNoShape">
              <a:avLst/>
            </a:prstTxWarp>
            <a:spAutoFit/>
          </a:bodyPr>
          <a:lstStyle/>
          <a:p>
            <a:r>
              <a:rPr lang="en-US" sz="1600"/>
              <a:t>0.06</a:t>
            </a:r>
          </a:p>
        </p:txBody>
      </p:sp>
      <p:sp>
        <p:nvSpPr>
          <p:cNvPr id="17469" name="Text Box 73"/>
          <p:cNvSpPr txBox="1">
            <a:spLocks noChangeArrowheads="1"/>
          </p:cNvSpPr>
          <p:nvPr/>
        </p:nvSpPr>
        <p:spPr bwMode="auto">
          <a:xfrm>
            <a:off x="6781801" y="6027738"/>
            <a:ext cx="296863" cy="336550"/>
          </a:xfrm>
          <a:prstGeom prst="rect">
            <a:avLst/>
          </a:prstGeom>
          <a:noFill/>
          <a:ln w="9525">
            <a:noFill/>
            <a:miter lim="800000"/>
            <a:headEnd/>
            <a:tailEnd/>
          </a:ln>
        </p:spPr>
        <p:txBody>
          <a:bodyPr wrap="none">
            <a:prstTxWarp prst="textNoShape">
              <a:avLst/>
            </a:prstTxWarp>
            <a:spAutoFit/>
          </a:bodyPr>
          <a:lstStyle/>
          <a:p>
            <a:r>
              <a:rPr lang="en-US" sz="1600"/>
              <a:t>0</a:t>
            </a:r>
          </a:p>
        </p:txBody>
      </p:sp>
      <p:sp>
        <p:nvSpPr>
          <p:cNvPr id="17470" name="Text Box 74"/>
          <p:cNvSpPr txBox="1">
            <a:spLocks noChangeArrowheads="1"/>
          </p:cNvSpPr>
          <p:nvPr/>
        </p:nvSpPr>
        <p:spPr bwMode="auto">
          <a:xfrm>
            <a:off x="7345363" y="4751388"/>
            <a:ext cx="296862" cy="336550"/>
          </a:xfrm>
          <a:prstGeom prst="rect">
            <a:avLst/>
          </a:prstGeom>
          <a:noFill/>
          <a:ln w="9525">
            <a:noFill/>
            <a:miter lim="800000"/>
            <a:headEnd/>
            <a:tailEnd/>
          </a:ln>
        </p:spPr>
        <p:txBody>
          <a:bodyPr wrap="none">
            <a:prstTxWarp prst="textNoShape">
              <a:avLst/>
            </a:prstTxWarp>
            <a:spAutoFit/>
          </a:bodyPr>
          <a:lstStyle/>
          <a:p>
            <a:r>
              <a:rPr lang="en-US" sz="1600"/>
              <a:t>0</a:t>
            </a:r>
          </a:p>
        </p:txBody>
      </p:sp>
      <p:sp>
        <p:nvSpPr>
          <p:cNvPr id="17471" name="Text Box 75"/>
          <p:cNvSpPr txBox="1">
            <a:spLocks noChangeArrowheads="1"/>
          </p:cNvSpPr>
          <p:nvPr/>
        </p:nvSpPr>
        <p:spPr bwMode="auto">
          <a:xfrm>
            <a:off x="7345363" y="5595938"/>
            <a:ext cx="548548" cy="338554"/>
          </a:xfrm>
          <a:prstGeom prst="rect">
            <a:avLst/>
          </a:prstGeom>
          <a:noFill/>
          <a:ln w="9525">
            <a:noFill/>
            <a:miter lim="800000"/>
            <a:headEnd/>
            <a:tailEnd/>
          </a:ln>
        </p:spPr>
        <p:txBody>
          <a:bodyPr wrap="none">
            <a:prstTxWarp prst="textNoShape">
              <a:avLst/>
            </a:prstTxWarp>
            <a:spAutoFit/>
          </a:bodyPr>
          <a:lstStyle/>
          <a:p>
            <a:r>
              <a:rPr lang="en-US" sz="1600"/>
              <a:t>0.06</a:t>
            </a:r>
          </a:p>
        </p:txBody>
      </p:sp>
      <p:sp>
        <p:nvSpPr>
          <p:cNvPr id="17472" name="Text Box 76"/>
          <p:cNvSpPr txBox="1">
            <a:spLocks noChangeArrowheads="1"/>
          </p:cNvSpPr>
          <p:nvPr/>
        </p:nvSpPr>
        <p:spPr bwMode="auto">
          <a:xfrm>
            <a:off x="7345363" y="6442075"/>
            <a:ext cx="296862" cy="336550"/>
          </a:xfrm>
          <a:prstGeom prst="rect">
            <a:avLst/>
          </a:prstGeom>
          <a:noFill/>
          <a:ln w="9525">
            <a:noFill/>
            <a:miter lim="800000"/>
            <a:headEnd/>
            <a:tailEnd/>
          </a:ln>
        </p:spPr>
        <p:txBody>
          <a:bodyPr wrap="none">
            <a:prstTxWarp prst="textNoShape">
              <a:avLst/>
            </a:prstTxWarp>
            <a:spAutoFit/>
          </a:bodyPr>
          <a:lstStyle/>
          <a:p>
            <a:r>
              <a:rPr lang="en-US" sz="1600"/>
              <a:t>0</a:t>
            </a:r>
          </a:p>
        </p:txBody>
      </p:sp>
      <p:sp>
        <p:nvSpPr>
          <p:cNvPr id="17473" name="Text Box 77"/>
          <p:cNvSpPr txBox="1">
            <a:spLocks noChangeArrowheads="1"/>
          </p:cNvSpPr>
          <p:nvPr/>
        </p:nvSpPr>
        <p:spPr bwMode="auto">
          <a:xfrm>
            <a:off x="7345363" y="5173663"/>
            <a:ext cx="548548" cy="338554"/>
          </a:xfrm>
          <a:prstGeom prst="rect">
            <a:avLst/>
          </a:prstGeom>
          <a:noFill/>
          <a:ln w="9525">
            <a:noFill/>
            <a:miter lim="800000"/>
            <a:headEnd/>
            <a:tailEnd/>
          </a:ln>
        </p:spPr>
        <p:txBody>
          <a:bodyPr wrap="none">
            <a:prstTxWarp prst="textNoShape">
              <a:avLst/>
            </a:prstTxWarp>
            <a:spAutoFit/>
          </a:bodyPr>
          <a:lstStyle/>
          <a:p>
            <a:r>
              <a:rPr lang="en-US" sz="1600"/>
              <a:t>0.16</a:t>
            </a:r>
          </a:p>
        </p:txBody>
      </p:sp>
      <p:sp>
        <p:nvSpPr>
          <p:cNvPr id="17474" name="Text Box 78"/>
          <p:cNvSpPr txBox="1">
            <a:spLocks noChangeArrowheads="1"/>
          </p:cNvSpPr>
          <p:nvPr/>
        </p:nvSpPr>
        <p:spPr bwMode="auto">
          <a:xfrm>
            <a:off x="7345363" y="6018213"/>
            <a:ext cx="296862" cy="336550"/>
          </a:xfrm>
          <a:prstGeom prst="rect">
            <a:avLst/>
          </a:prstGeom>
          <a:noFill/>
          <a:ln w="9525">
            <a:noFill/>
            <a:miter lim="800000"/>
            <a:headEnd/>
            <a:tailEnd/>
          </a:ln>
        </p:spPr>
        <p:txBody>
          <a:bodyPr wrap="none">
            <a:prstTxWarp prst="textNoShape">
              <a:avLst/>
            </a:prstTxWarp>
            <a:spAutoFit/>
          </a:bodyPr>
          <a:lstStyle/>
          <a:p>
            <a:r>
              <a:rPr lang="en-US" sz="1600"/>
              <a:t>0</a:t>
            </a:r>
          </a:p>
        </p:txBody>
      </p:sp>
      <p:sp>
        <p:nvSpPr>
          <p:cNvPr id="17475" name="Text Box 79"/>
          <p:cNvSpPr txBox="1">
            <a:spLocks noChangeArrowheads="1"/>
          </p:cNvSpPr>
          <p:nvPr/>
        </p:nvSpPr>
        <p:spPr bwMode="auto">
          <a:xfrm>
            <a:off x="7954963" y="4751388"/>
            <a:ext cx="296862" cy="336550"/>
          </a:xfrm>
          <a:prstGeom prst="rect">
            <a:avLst/>
          </a:prstGeom>
          <a:noFill/>
          <a:ln w="9525">
            <a:noFill/>
            <a:miter lim="800000"/>
            <a:headEnd/>
            <a:tailEnd/>
          </a:ln>
        </p:spPr>
        <p:txBody>
          <a:bodyPr wrap="none">
            <a:prstTxWarp prst="textNoShape">
              <a:avLst/>
            </a:prstTxWarp>
            <a:spAutoFit/>
          </a:bodyPr>
          <a:lstStyle/>
          <a:p>
            <a:r>
              <a:rPr lang="en-US" sz="1600"/>
              <a:t>0</a:t>
            </a:r>
          </a:p>
        </p:txBody>
      </p:sp>
      <p:sp>
        <p:nvSpPr>
          <p:cNvPr id="17476" name="Text Box 80"/>
          <p:cNvSpPr txBox="1">
            <a:spLocks noChangeArrowheads="1"/>
          </p:cNvSpPr>
          <p:nvPr/>
        </p:nvSpPr>
        <p:spPr bwMode="auto">
          <a:xfrm>
            <a:off x="7954963" y="5595938"/>
            <a:ext cx="548548" cy="338554"/>
          </a:xfrm>
          <a:prstGeom prst="rect">
            <a:avLst/>
          </a:prstGeom>
          <a:noFill/>
          <a:ln w="9525">
            <a:noFill/>
            <a:miter lim="800000"/>
            <a:headEnd/>
            <a:tailEnd/>
          </a:ln>
        </p:spPr>
        <p:txBody>
          <a:bodyPr wrap="none">
            <a:prstTxWarp prst="textNoShape">
              <a:avLst/>
            </a:prstTxWarp>
            <a:spAutoFit/>
          </a:bodyPr>
          <a:lstStyle/>
          <a:p>
            <a:r>
              <a:rPr lang="en-US" sz="1600"/>
              <a:t>0.13</a:t>
            </a:r>
          </a:p>
        </p:txBody>
      </p:sp>
      <p:sp>
        <p:nvSpPr>
          <p:cNvPr id="17477" name="Text Box 81"/>
          <p:cNvSpPr txBox="1">
            <a:spLocks noChangeArrowheads="1"/>
          </p:cNvSpPr>
          <p:nvPr/>
        </p:nvSpPr>
        <p:spPr bwMode="auto">
          <a:xfrm>
            <a:off x="7954963" y="6442075"/>
            <a:ext cx="296862" cy="336550"/>
          </a:xfrm>
          <a:prstGeom prst="rect">
            <a:avLst/>
          </a:prstGeom>
          <a:noFill/>
          <a:ln w="9525">
            <a:noFill/>
            <a:miter lim="800000"/>
            <a:headEnd/>
            <a:tailEnd/>
          </a:ln>
        </p:spPr>
        <p:txBody>
          <a:bodyPr wrap="none">
            <a:prstTxWarp prst="textNoShape">
              <a:avLst/>
            </a:prstTxWarp>
            <a:spAutoFit/>
          </a:bodyPr>
          <a:lstStyle/>
          <a:p>
            <a:r>
              <a:rPr lang="en-US" sz="1600"/>
              <a:t>0</a:t>
            </a:r>
          </a:p>
        </p:txBody>
      </p:sp>
      <p:sp>
        <p:nvSpPr>
          <p:cNvPr id="17478" name="Text Box 82"/>
          <p:cNvSpPr txBox="1">
            <a:spLocks noChangeArrowheads="1"/>
          </p:cNvSpPr>
          <p:nvPr/>
        </p:nvSpPr>
        <p:spPr bwMode="auto">
          <a:xfrm>
            <a:off x="7954963" y="5173663"/>
            <a:ext cx="296862" cy="336550"/>
          </a:xfrm>
          <a:prstGeom prst="rect">
            <a:avLst/>
          </a:prstGeom>
          <a:noFill/>
          <a:ln w="9525">
            <a:noFill/>
            <a:miter lim="800000"/>
            <a:headEnd/>
            <a:tailEnd/>
          </a:ln>
        </p:spPr>
        <p:txBody>
          <a:bodyPr wrap="none">
            <a:prstTxWarp prst="textNoShape">
              <a:avLst/>
            </a:prstTxWarp>
            <a:spAutoFit/>
          </a:bodyPr>
          <a:lstStyle/>
          <a:p>
            <a:r>
              <a:rPr lang="en-US" sz="1600"/>
              <a:t>0</a:t>
            </a:r>
          </a:p>
        </p:txBody>
      </p:sp>
      <p:sp>
        <p:nvSpPr>
          <p:cNvPr id="17479" name="Text Box 83"/>
          <p:cNvSpPr txBox="1">
            <a:spLocks noChangeArrowheads="1"/>
          </p:cNvSpPr>
          <p:nvPr/>
        </p:nvSpPr>
        <p:spPr bwMode="auto">
          <a:xfrm>
            <a:off x="7954963" y="6018213"/>
            <a:ext cx="548548" cy="338554"/>
          </a:xfrm>
          <a:prstGeom prst="rect">
            <a:avLst/>
          </a:prstGeom>
          <a:noFill/>
          <a:ln w="9525">
            <a:noFill/>
            <a:miter lim="800000"/>
            <a:headEnd/>
            <a:tailEnd/>
          </a:ln>
        </p:spPr>
        <p:txBody>
          <a:bodyPr wrap="none">
            <a:prstTxWarp prst="textNoShape">
              <a:avLst/>
            </a:prstTxWarp>
            <a:spAutoFit/>
          </a:bodyPr>
          <a:lstStyle/>
          <a:p>
            <a:r>
              <a:rPr lang="en-US" sz="1600"/>
              <a:t>0.06</a:t>
            </a:r>
          </a:p>
        </p:txBody>
      </p:sp>
      <p:sp>
        <p:nvSpPr>
          <p:cNvPr id="17480" name="Text Box 84"/>
          <p:cNvSpPr txBox="1">
            <a:spLocks noChangeArrowheads="1"/>
          </p:cNvSpPr>
          <p:nvPr/>
        </p:nvSpPr>
        <p:spPr bwMode="auto">
          <a:xfrm>
            <a:off x="8551863" y="4751388"/>
            <a:ext cx="548548" cy="338554"/>
          </a:xfrm>
          <a:prstGeom prst="rect">
            <a:avLst/>
          </a:prstGeom>
          <a:noFill/>
          <a:ln w="9525">
            <a:noFill/>
            <a:miter lim="800000"/>
            <a:headEnd/>
            <a:tailEnd/>
          </a:ln>
        </p:spPr>
        <p:txBody>
          <a:bodyPr wrap="none">
            <a:prstTxWarp prst="textNoShape">
              <a:avLst/>
            </a:prstTxWarp>
            <a:spAutoFit/>
          </a:bodyPr>
          <a:lstStyle/>
          <a:p>
            <a:r>
              <a:rPr lang="en-US" sz="1600"/>
              <a:t>0.01</a:t>
            </a:r>
          </a:p>
        </p:txBody>
      </p:sp>
      <p:sp>
        <p:nvSpPr>
          <p:cNvPr id="17481" name="Text Box 85"/>
          <p:cNvSpPr txBox="1">
            <a:spLocks noChangeArrowheads="1"/>
          </p:cNvSpPr>
          <p:nvPr/>
        </p:nvSpPr>
        <p:spPr bwMode="auto">
          <a:xfrm>
            <a:off x="8551863" y="5595938"/>
            <a:ext cx="296862" cy="336550"/>
          </a:xfrm>
          <a:prstGeom prst="rect">
            <a:avLst/>
          </a:prstGeom>
          <a:noFill/>
          <a:ln w="9525">
            <a:noFill/>
            <a:miter lim="800000"/>
            <a:headEnd/>
            <a:tailEnd/>
          </a:ln>
        </p:spPr>
        <p:txBody>
          <a:bodyPr wrap="none">
            <a:prstTxWarp prst="textNoShape">
              <a:avLst/>
            </a:prstTxWarp>
            <a:spAutoFit/>
          </a:bodyPr>
          <a:lstStyle/>
          <a:p>
            <a:r>
              <a:rPr lang="en-US" sz="1600"/>
              <a:t>0</a:t>
            </a:r>
          </a:p>
        </p:txBody>
      </p:sp>
      <p:sp>
        <p:nvSpPr>
          <p:cNvPr id="17482" name="Text Box 86"/>
          <p:cNvSpPr txBox="1">
            <a:spLocks noChangeArrowheads="1"/>
          </p:cNvSpPr>
          <p:nvPr/>
        </p:nvSpPr>
        <p:spPr bwMode="auto">
          <a:xfrm>
            <a:off x="8551863" y="6442075"/>
            <a:ext cx="548548" cy="338554"/>
          </a:xfrm>
          <a:prstGeom prst="rect">
            <a:avLst/>
          </a:prstGeom>
          <a:noFill/>
          <a:ln w="9525">
            <a:noFill/>
            <a:miter lim="800000"/>
            <a:headEnd/>
            <a:tailEnd/>
          </a:ln>
        </p:spPr>
        <p:txBody>
          <a:bodyPr wrap="none">
            <a:prstTxWarp prst="textNoShape">
              <a:avLst/>
            </a:prstTxWarp>
            <a:spAutoFit/>
          </a:bodyPr>
          <a:lstStyle/>
          <a:p>
            <a:r>
              <a:rPr lang="en-US" sz="1600"/>
              <a:t>0.05</a:t>
            </a:r>
          </a:p>
        </p:txBody>
      </p:sp>
      <p:sp>
        <p:nvSpPr>
          <p:cNvPr id="17483" name="Text Box 87"/>
          <p:cNvSpPr txBox="1">
            <a:spLocks noChangeArrowheads="1"/>
          </p:cNvSpPr>
          <p:nvPr/>
        </p:nvSpPr>
        <p:spPr bwMode="auto">
          <a:xfrm>
            <a:off x="8551863" y="5173663"/>
            <a:ext cx="296862" cy="336550"/>
          </a:xfrm>
          <a:prstGeom prst="rect">
            <a:avLst/>
          </a:prstGeom>
          <a:noFill/>
          <a:ln w="9525">
            <a:noFill/>
            <a:miter lim="800000"/>
            <a:headEnd/>
            <a:tailEnd/>
          </a:ln>
        </p:spPr>
        <p:txBody>
          <a:bodyPr wrap="none">
            <a:prstTxWarp prst="textNoShape">
              <a:avLst/>
            </a:prstTxWarp>
            <a:spAutoFit/>
          </a:bodyPr>
          <a:lstStyle/>
          <a:p>
            <a:r>
              <a:rPr lang="en-US" sz="1600"/>
              <a:t>0</a:t>
            </a:r>
          </a:p>
        </p:txBody>
      </p:sp>
      <p:sp>
        <p:nvSpPr>
          <p:cNvPr id="17484" name="Text Box 88"/>
          <p:cNvSpPr txBox="1">
            <a:spLocks noChangeArrowheads="1"/>
          </p:cNvSpPr>
          <p:nvPr/>
        </p:nvSpPr>
        <p:spPr bwMode="auto">
          <a:xfrm>
            <a:off x="8551863" y="6018213"/>
            <a:ext cx="548548" cy="338554"/>
          </a:xfrm>
          <a:prstGeom prst="rect">
            <a:avLst/>
          </a:prstGeom>
          <a:noFill/>
          <a:ln w="9525">
            <a:noFill/>
            <a:miter lim="800000"/>
            <a:headEnd/>
            <a:tailEnd/>
          </a:ln>
        </p:spPr>
        <p:txBody>
          <a:bodyPr wrap="none">
            <a:prstTxWarp prst="textNoShape">
              <a:avLst/>
            </a:prstTxWarp>
            <a:spAutoFit/>
          </a:bodyPr>
          <a:lstStyle/>
          <a:p>
            <a:r>
              <a:rPr lang="en-US" sz="1600"/>
              <a:t>0.15</a:t>
            </a:r>
          </a:p>
        </p:txBody>
      </p:sp>
      <p:sp>
        <p:nvSpPr>
          <p:cNvPr id="17485" name="Text Box 89"/>
          <p:cNvSpPr txBox="1">
            <a:spLocks noChangeArrowheads="1"/>
          </p:cNvSpPr>
          <p:nvPr/>
        </p:nvSpPr>
        <p:spPr bwMode="auto">
          <a:xfrm>
            <a:off x="9144000" y="4751388"/>
            <a:ext cx="548548" cy="338554"/>
          </a:xfrm>
          <a:prstGeom prst="rect">
            <a:avLst/>
          </a:prstGeom>
          <a:noFill/>
          <a:ln w="9525">
            <a:noFill/>
            <a:miter lim="800000"/>
            <a:headEnd/>
            <a:tailEnd/>
          </a:ln>
        </p:spPr>
        <p:txBody>
          <a:bodyPr wrap="none">
            <a:prstTxWarp prst="textNoShape">
              <a:avLst/>
            </a:prstTxWarp>
            <a:spAutoFit/>
          </a:bodyPr>
          <a:lstStyle/>
          <a:p>
            <a:r>
              <a:rPr lang="en-US" sz="1600"/>
              <a:t>0.05</a:t>
            </a:r>
          </a:p>
        </p:txBody>
      </p:sp>
      <p:sp>
        <p:nvSpPr>
          <p:cNvPr id="17486" name="Text Box 90"/>
          <p:cNvSpPr txBox="1">
            <a:spLocks noChangeArrowheads="1"/>
          </p:cNvSpPr>
          <p:nvPr/>
        </p:nvSpPr>
        <p:spPr bwMode="auto">
          <a:xfrm>
            <a:off x="9144001" y="5595938"/>
            <a:ext cx="296863" cy="336550"/>
          </a:xfrm>
          <a:prstGeom prst="rect">
            <a:avLst/>
          </a:prstGeom>
          <a:noFill/>
          <a:ln w="9525">
            <a:noFill/>
            <a:miter lim="800000"/>
            <a:headEnd/>
            <a:tailEnd/>
          </a:ln>
        </p:spPr>
        <p:txBody>
          <a:bodyPr wrap="none">
            <a:prstTxWarp prst="textNoShape">
              <a:avLst/>
            </a:prstTxWarp>
            <a:spAutoFit/>
          </a:bodyPr>
          <a:lstStyle/>
          <a:p>
            <a:r>
              <a:rPr lang="en-US" sz="1600"/>
              <a:t>0</a:t>
            </a:r>
          </a:p>
        </p:txBody>
      </p:sp>
      <p:sp>
        <p:nvSpPr>
          <p:cNvPr id="17487" name="Text Box 91"/>
          <p:cNvSpPr txBox="1">
            <a:spLocks noChangeArrowheads="1"/>
          </p:cNvSpPr>
          <p:nvPr/>
        </p:nvSpPr>
        <p:spPr bwMode="auto">
          <a:xfrm>
            <a:off x="9144000" y="6442075"/>
            <a:ext cx="548548" cy="338554"/>
          </a:xfrm>
          <a:prstGeom prst="rect">
            <a:avLst/>
          </a:prstGeom>
          <a:noFill/>
          <a:ln w="9525">
            <a:noFill/>
            <a:miter lim="800000"/>
            <a:headEnd/>
            <a:tailEnd/>
          </a:ln>
        </p:spPr>
        <p:txBody>
          <a:bodyPr wrap="none">
            <a:prstTxWarp prst="textNoShape">
              <a:avLst/>
            </a:prstTxWarp>
            <a:spAutoFit/>
          </a:bodyPr>
          <a:lstStyle/>
          <a:p>
            <a:r>
              <a:rPr lang="en-US" sz="1600"/>
              <a:t>0.27</a:t>
            </a:r>
          </a:p>
        </p:txBody>
      </p:sp>
      <p:sp>
        <p:nvSpPr>
          <p:cNvPr id="17488" name="Text Box 92"/>
          <p:cNvSpPr txBox="1">
            <a:spLocks noChangeArrowheads="1"/>
          </p:cNvSpPr>
          <p:nvPr/>
        </p:nvSpPr>
        <p:spPr bwMode="auto">
          <a:xfrm>
            <a:off x="9144001" y="5173663"/>
            <a:ext cx="296863" cy="336550"/>
          </a:xfrm>
          <a:prstGeom prst="rect">
            <a:avLst/>
          </a:prstGeom>
          <a:noFill/>
          <a:ln w="9525">
            <a:noFill/>
            <a:miter lim="800000"/>
            <a:headEnd/>
            <a:tailEnd/>
          </a:ln>
        </p:spPr>
        <p:txBody>
          <a:bodyPr wrap="none">
            <a:prstTxWarp prst="textNoShape">
              <a:avLst/>
            </a:prstTxWarp>
            <a:spAutoFit/>
          </a:bodyPr>
          <a:lstStyle/>
          <a:p>
            <a:r>
              <a:rPr lang="en-US" sz="1600"/>
              <a:t>0</a:t>
            </a:r>
          </a:p>
        </p:txBody>
      </p:sp>
      <p:sp>
        <p:nvSpPr>
          <p:cNvPr id="17489" name="Text Box 93"/>
          <p:cNvSpPr txBox="1">
            <a:spLocks noChangeArrowheads="1"/>
          </p:cNvSpPr>
          <p:nvPr/>
        </p:nvSpPr>
        <p:spPr bwMode="auto">
          <a:xfrm>
            <a:off x="9144001" y="6018213"/>
            <a:ext cx="296863" cy="336550"/>
          </a:xfrm>
          <a:prstGeom prst="rect">
            <a:avLst/>
          </a:prstGeom>
          <a:noFill/>
          <a:ln w="9525">
            <a:noFill/>
            <a:miter lim="800000"/>
            <a:headEnd/>
            <a:tailEnd/>
          </a:ln>
        </p:spPr>
        <p:txBody>
          <a:bodyPr wrap="none">
            <a:prstTxWarp prst="textNoShape">
              <a:avLst/>
            </a:prstTxWarp>
            <a:spAutoFit/>
          </a:bodyPr>
          <a:lstStyle/>
          <a:p>
            <a:r>
              <a:rPr lang="en-US" sz="1600"/>
              <a:t>0</a:t>
            </a:r>
          </a:p>
        </p:txBody>
      </p:sp>
    </p:spTree>
    <p:extLst>
      <p:ext uri="{BB962C8B-B14F-4D97-AF65-F5344CB8AC3E}">
        <p14:creationId xmlns:p14="http://schemas.microsoft.com/office/powerpoint/2010/main" val="2136520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752600" y="228600"/>
            <a:ext cx="8686800" cy="1143000"/>
          </a:xfrm>
        </p:spPr>
        <p:txBody>
          <a:bodyPr>
            <a:normAutofit fontScale="90000"/>
          </a:bodyPr>
          <a:lstStyle/>
          <a:p>
            <a:pPr eaLnBrk="1" hangingPunct="1"/>
            <a:r>
              <a:rPr lang="en-US" b="1"/>
              <a:t>Incorporating stochasticity into structured population models </a:t>
            </a:r>
          </a:p>
        </p:txBody>
      </p:sp>
      <p:sp>
        <p:nvSpPr>
          <p:cNvPr id="39939" name="Rectangle 3"/>
          <p:cNvSpPr>
            <a:spLocks noGrp="1" noChangeArrowheads="1"/>
          </p:cNvSpPr>
          <p:nvPr>
            <p:ph type="body" idx="1"/>
          </p:nvPr>
        </p:nvSpPr>
        <p:spPr>
          <a:xfrm>
            <a:off x="734290" y="1953490"/>
            <a:ext cx="11132128" cy="3144982"/>
          </a:xfrm>
        </p:spPr>
        <p:txBody>
          <a:bodyPr/>
          <a:lstStyle/>
          <a:p>
            <a:pPr marL="609600" indent="-609600">
              <a:buNone/>
            </a:pPr>
            <a:r>
              <a:rPr lang="en-US" sz="2400" b="1" dirty="0"/>
              <a:t>You need structured population data for more than 2 years.</a:t>
            </a:r>
          </a:p>
          <a:p>
            <a:pPr marL="609600" indent="-609600">
              <a:buNone/>
            </a:pPr>
            <a:endParaRPr lang="en-US" sz="2400" b="1" dirty="0"/>
          </a:p>
          <a:p>
            <a:pPr marL="609600" indent="-609600">
              <a:buNone/>
            </a:pPr>
            <a:r>
              <a:rPr lang="en-US" sz="2400" b="1" dirty="0"/>
              <a:t>For example, with 4 years of data, you can have 3 matrices: A</a:t>
            </a:r>
            <a:r>
              <a:rPr lang="en-US" sz="2400" b="1" baseline="-25000" dirty="0"/>
              <a:t>1</a:t>
            </a:r>
            <a:r>
              <a:rPr lang="en-US" sz="2400" b="1" dirty="0"/>
              <a:t>, A</a:t>
            </a:r>
            <a:r>
              <a:rPr lang="en-US" sz="2400" b="1" baseline="-25000" dirty="0"/>
              <a:t>2</a:t>
            </a:r>
            <a:r>
              <a:rPr lang="en-US" sz="2400" b="1" dirty="0"/>
              <a:t>, A</a:t>
            </a:r>
            <a:r>
              <a:rPr lang="en-US" sz="2400" b="1" baseline="-25000" dirty="0"/>
              <a:t>3</a:t>
            </a:r>
          </a:p>
          <a:p>
            <a:pPr marL="609600" indent="-609600">
              <a:buNone/>
            </a:pPr>
            <a:endParaRPr lang="en-US" sz="2400" b="1" dirty="0"/>
          </a:p>
          <a:p>
            <a:pPr marL="609600" indent="-609600">
              <a:buNone/>
            </a:pPr>
            <a:r>
              <a:rPr lang="en-US" sz="2400" b="1" dirty="0"/>
              <a:t>Matrices can have unequal probabilities of occurring.</a:t>
            </a:r>
          </a:p>
        </p:txBody>
      </p:sp>
    </p:spTree>
    <p:extLst>
      <p:ext uri="{BB962C8B-B14F-4D97-AF65-F5344CB8AC3E}">
        <p14:creationId xmlns:p14="http://schemas.microsoft.com/office/powerpoint/2010/main" val="15154503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Times New Roman"/>
                <a:cs typeface="Times New Roman"/>
              </a:rPr>
              <a:t>How would you project population size at time 50?</a:t>
            </a:r>
          </a:p>
        </p:txBody>
      </p:sp>
    </p:spTree>
    <p:extLst>
      <p:ext uri="{BB962C8B-B14F-4D97-AF65-F5344CB8AC3E}">
        <p14:creationId xmlns:p14="http://schemas.microsoft.com/office/powerpoint/2010/main" val="1749146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ChangeArrowheads="1"/>
          </p:cNvSpPr>
          <p:nvPr/>
        </p:nvSpPr>
        <p:spPr bwMode="auto">
          <a:xfrm>
            <a:off x="2209800" y="76200"/>
            <a:ext cx="7772400" cy="1143000"/>
          </a:xfrm>
          <a:prstGeom prst="rect">
            <a:avLst/>
          </a:prstGeom>
          <a:noFill/>
          <a:ln w="9525">
            <a:noFill/>
            <a:miter lim="800000"/>
            <a:headEnd/>
            <a:tailEnd/>
          </a:ln>
        </p:spPr>
        <p:txBody>
          <a:bodyPr anchor="ctr">
            <a:prstTxWarp prst="textNoShape">
              <a:avLst/>
            </a:prstTxWarp>
          </a:bodyPr>
          <a:lstStyle/>
          <a:p>
            <a:pPr algn="ctr"/>
            <a:r>
              <a:rPr lang="en-US" sz="4400" b="1" dirty="0">
                <a:solidFill>
                  <a:schemeClr val="tx2"/>
                </a:solidFill>
                <a:latin typeface="Times New Roman" charset="0"/>
              </a:rPr>
              <a:t>Stochastic matrix modeling</a:t>
            </a:r>
          </a:p>
        </p:txBody>
      </p:sp>
      <p:sp>
        <p:nvSpPr>
          <p:cNvPr id="44035" name="Rectangle 3"/>
          <p:cNvSpPr>
            <a:spLocks noChangeArrowheads="1"/>
          </p:cNvSpPr>
          <p:nvPr/>
        </p:nvSpPr>
        <p:spPr bwMode="auto">
          <a:xfrm>
            <a:off x="2133600" y="1371600"/>
            <a:ext cx="8229600" cy="4114800"/>
          </a:xfrm>
          <a:prstGeom prst="rect">
            <a:avLst/>
          </a:prstGeom>
          <a:noFill/>
          <a:ln w="9525">
            <a:noFill/>
            <a:miter lim="800000"/>
            <a:headEnd/>
            <a:tailEnd/>
          </a:ln>
        </p:spPr>
        <p:txBody>
          <a:bodyPr>
            <a:prstTxWarp prst="textNoShape">
              <a:avLst/>
            </a:prstTxWarp>
          </a:bodyPr>
          <a:lstStyle/>
          <a:p>
            <a:pPr marL="342900" indent="-342900">
              <a:spcBef>
                <a:spcPct val="20000"/>
              </a:spcBef>
            </a:pPr>
            <a:r>
              <a:rPr lang="en-US" sz="3200" b="1" dirty="0">
                <a:latin typeface="Times New Roman" charset="0"/>
              </a:rPr>
              <a:t>Input</a:t>
            </a:r>
          </a:p>
          <a:p>
            <a:pPr marL="342900" indent="-342900">
              <a:spcBef>
                <a:spcPct val="20000"/>
              </a:spcBef>
            </a:pPr>
            <a:r>
              <a:rPr lang="en-US" sz="2400" b="1" dirty="0">
                <a:solidFill>
                  <a:schemeClr val="accent2"/>
                </a:solidFill>
                <a:latin typeface="Times New Roman" charset="0"/>
              </a:rPr>
              <a:t>-your matrices</a:t>
            </a:r>
          </a:p>
          <a:p>
            <a:pPr marL="342900" indent="-342900">
              <a:spcBef>
                <a:spcPct val="20000"/>
              </a:spcBef>
            </a:pPr>
            <a:r>
              <a:rPr lang="en-US" sz="2400" b="1" dirty="0">
                <a:solidFill>
                  <a:schemeClr val="accent2"/>
                </a:solidFill>
                <a:latin typeface="Times New Roman" charset="0"/>
              </a:rPr>
              <a:t>-the probability of each matrix occurring (must add to one)</a:t>
            </a:r>
          </a:p>
          <a:p>
            <a:pPr marL="342900" indent="-342900">
              <a:spcBef>
                <a:spcPct val="20000"/>
              </a:spcBef>
            </a:pPr>
            <a:r>
              <a:rPr lang="en-US" sz="2400" b="1" dirty="0">
                <a:solidFill>
                  <a:schemeClr val="accent2"/>
                </a:solidFill>
                <a:latin typeface="Times New Roman" charset="0"/>
              </a:rPr>
              <a:t>-the number of year to project into the future</a:t>
            </a:r>
          </a:p>
          <a:p>
            <a:pPr marL="342900" indent="-342900">
              <a:spcBef>
                <a:spcPct val="20000"/>
              </a:spcBef>
            </a:pPr>
            <a:r>
              <a:rPr lang="en-US" sz="2400" b="1" dirty="0">
                <a:solidFill>
                  <a:schemeClr val="accent2"/>
                </a:solidFill>
                <a:latin typeface="Times New Roman" charset="0"/>
              </a:rPr>
              <a:t>-the number of replicate simulations you want to run</a:t>
            </a:r>
          </a:p>
          <a:p>
            <a:pPr marL="342900" indent="-342900">
              <a:spcBef>
                <a:spcPct val="20000"/>
              </a:spcBef>
            </a:pPr>
            <a:r>
              <a:rPr lang="en-US" sz="2400" b="1" dirty="0">
                <a:solidFill>
                  <a:schemeClr val="accent2"/>
                </a:solidFill>
                <a:latin typeface="Times New Roman" charset="0"/>
              </a:rPr>
              <a:t>-the initial population size</a:t>
            </a:r>
          </a:p>
          <a:p>
            <a:pPr marL="342900" indent="-342900">
              <a:spcBef>
                <a:spcPct val="20000"/>
              </a:spcBef>
            </a:pPr>
            <a:endParaRPr lang="en-US" sz="3200" b="1" dirty="0">
              <a:solidFill>
                <a:schemeClr val="accent2"/>
              </a:solidFill>
              <a:latin typeface="Times New Roman" charset="0"/>
            </a:endParaRPr>
          </a:p>
          <a:p>
            <a:pPr marL="342900" indent="-342900">
              <a:spcBef>
                <a:spcPct val="20000"/>
              </a:spcBef>
            </a:pPr>
            <a:r>
              <a:rPr lang="en-US" sz="3200" b="1" dirty="0">
                <a:latin typeface="Times New Roman" charset="0"/>
              </a:rPr>
              <a:t>Output</a:t>
            </a:r>
          </a:p>
          <a:p>
            <a:pPr marL="342900" indent="-342900">
              <a:spcBef>
                <a:spcPct val="20000"/>
              </a:spcBef>
            </a:pPr>
            <a:r>
              <a:rPr lang="en-US" sz="2400" b="1" dirty="0">
                <a:solidFill>
                  <a:schemeClr val="accent2"/>
                </a:solidFill>
                <a:latin typeface="Times New Roman" charset="0"/>
              </a:rPr>
              <a:t>-the ending population size</a:t>
            </a:r>
          </a:p>
          <a:p>
            <a:pPr marL="342900" indent="-342900">
              <a:spcBef>
                <a:spcPct val="20000"/>
              </a:spcBef>
            </a:pPr>
            <a:endParaRPr lang="en-US" sz="2400" dirty="0">
              <a:solidFill>
                <a:schemeClr val="accent2"/>
              </a:solidFill>
              <a:latin typeface="Times New Roman" charset="0"/>
            </a:endParaRPr>
          </a:p>
        </p:txBody>
      </p:sp>
    </p:spTree>
    <p:extLst>
      <p:ext uri="{BB962C8B-B14F-4D97-AF65-F5344CB8AC3E}">
        <p14:creationId xmlns:p14="http://schemas.microsoft.com/office/powerpoint/2010/main" val="1291924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2209800" y="152400"/>
            <a:ext cx="7772400" cy="1143000"/>
          </a:xfrm>
          <a:prstGeom prst="rect">
            <a:avLst/>
          </a:prstGeom>
          <a:noFill/>
          <a:ln w="9525">
            <a:noFill/>
            <a:miter lim="800000"/>
            <a:headEnd/>
            <a:tailEnd/>
          </a:ln>
        </p:spPr>
        <p:txBody>
          <a:bodyPr anchor="ctr">
            <a:prstTxWarp prst="textNoShape">
              <a:avLst/>
            </a:prstTxWarp>
          </a:bodyPr>
          <a:lstStyle/>
          <a:p>
            <a:pPr algn="ctr"/>
            <a:r>
              <a:rPr lang="en-US" sz="4400" b="1" i="1">
                <a:solidFill>
                  <a:schemeClr val="tx2"/>
                </a:solidFill>
                <a:latin typeface="Times New Roman" charset="0"/>
              </a:rPr>
              <a:t>Hudsonia montana</a:t>
            </a:r>
          </a:p>
          <a:p>
            <a:pPr algn="ctr"/>
            <a:r>
              <a:rPr lang="en-US" sz="4400" b="1">
                <a:solidFill>
                  <a:schemeClr val="tx2"/>
                </a:solidFill>
                <a:latin typeface="Times New Roman" charset="0"/>
              </a:rPr>
              <a:t>(Mountain Golden Heather)</a:t>
            </a:r>
          </a:p>
        </p:txBody>
      </p:sp>
      <p:pic>
        <p:nvPicPr>
          <p:cNvPr id="46083" name="Picture 3" descr="2280b"/>
          <p:cNvPicPr>
            <a:picLocks noChangeAspect="1" noChangeArrowheads="1"/>
          </p:cNvPicPr>
          <p:nvPr/>
        </p:nvPicPr>
        <p:blipFill>
          <a:blip r:embed="rId3"/>
          <a:srcRect/>
          <a:stretch>
            <a:fillRect/>
          </a:stretch>
        </p:blipFill>
        <p:spPr bwMode="auto">
          <a:xfrm>
            <a:off x="7010400" y="1524000"/>
            <a:ext cx="3278188" cy="4960938"/>
          </a:xfrm>
          <a:prstGeom prst="rect">
            <a:avLst/>
          </a:prstGeom>
          <a:noFill/>
          <a:ln w="9525">
            <a:noFill/>
            <a:miter lim="800000"/>
            <a:headEnd/>
            <a:tailEnd/>
          </a:ln>
        </p:spPr>
      </p:pic>
      <p:pic>
        <p:nvPicPr>
          <p:cNvPr id="46084" name="Picture 4" descr="2280a"/>
          <p:cNvPicPr>
            <a:picLocks noChangeAspect="1" noChangeArrowheads="1"/>
          </p:cNvPicPr>
          <p:nvPr/>
        </p:nvPicPr>
        <p:blipFill>
          <a:blip r:embed="rId4"/>
          <a:srcRect/>
          <a:stretch>
            <a:fillRect/>
          </a:stretch>
        </p:blipFill>
        <p:spPr bwMode="auto">
          <a:xfrm>
            <a:off x="1752600" y="1752600"/>
            <a:ext cx="4953000" cy="3238500"/>
          </a:xfrm>
          <a:prstGeom prst="rect">
            <a:avLst/>
          </a:prstGeom>
          <a:noFill/>
          <a:ln w="9525">
            <a:noFill/>
            <a:miter lim="800000"/>
            <a:headEnd/>
            <a:tailEnd/>
          </a:ln>
        </p:spPr>
      </p:pic>
      <p:sp>
        <p:nvSpPr>
          <p:cNvPr id="46085" name="Text Box 5"/>
          <p:cNvSpPr txBox="1">
            <a:spLocks noChangeArrowheads="1"/>
          </p:cNvSpPr>
          <p:nvPr/>
        </p:nvSpPr>
        <p:spPr bwMode="auto">
          <a:xfrm>
            <a:off x="1355725" y="5231969"/>
            <a:ext cx="4740275" cy="830997"/>
          </a:xfrm>
          <a:prstGeom prst="rect">
            <a:avLst/>
          </a:prstGeom>
          <a:noFill/>
          <a:ln w="9525">
            <a:noFill/>
            <a:miter lim="800000"/>
            <a:headEnd/>
            <a:tailEnd/>
          </a:ln>
        </p:spPr>
        <p:txBody>
          <a:bodyPr>
            <a:prstTxWarp prst="textNoShape">
              <a:avLst/>
            </a:prstTxWarp>
            <a:spAutoFit/>
          </a:bodyPr>
          <a:lstStyle/>
          <a:p>
            <a:r>
              <a:rPr lang="en-US" sz="2400" b="1" dirty="0">
                <a:solidFill>
                  <a:schemeClr val="accent2"/>
                </a:solidFill>
              </a:rPr>
              <a:t>Threatened plant that lives on Table Rock Mountain in North Carolina</a:t>
            </a:r>
          </a:p>
        </p:txBody>
      </p:sp>
    </p:spTree>
    <p:extLst>
      <p:ext uri="{BB962C8B-B14F-4D97-AF65-F5344CB8AC3E}">
        <p14:creationId xmlns:p14="http://schemas.microsoft.com/office/powerpoint/2010/main" val="2081617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ChangeArrowheads="1"/>
          </p:cNvSpPr>
          <p:nvPr/>
        </p:nvSpPr>
        <p:spPr bwMode="auto">
          <a:xfrm>
            <a:off x="2057400" y="0"/>
            <a:ext cx="8229600" cy="1143000"/>
          </a:xfrm>
          <a:prstGeom prst="rect">
            <a:avLst/>
          </a:prstGeom>
          <a:noFill/>
          <a:ln w="19050">
            <a:noFill/>
            <a:miter lim="800000"/>
            <a:headEnd/>
            <a:tailEnd/>
          </a:ln>
        </p:spPr>
        <p:txBody>
          <a:bodyPr anchor="ctr">
            <a:prstTxWarp prst="textNoShape">
              <a:avLst/>
            </a:prstTxWarp>
          </a:bodyPr>
          <a:lstStyle/>
          <a:p>
            <a:pPr algn="ctr"/>
            <a:r>
              <a:rPr lang="en-US" sz="4400" b="1">
                <a:solidFill>
                  <a:schemeClr val="tx2"/>
                </a:solidFill>
                <a:latin typeface="Times New Roman" charset="0"/>
              </a:rPr>
              <a:t>Life Cycle Graph</a:t>
            </a:r>
          </a:p>
        </p:txBody>
      </p:sp>
      <p:sp>
        <p:nvSpPr>
          <p:cNvPr id="48131" name="Oval 3"/>
          <p:cNvSpPr>
            <a:spLocks noChangeArrowheads="1"/>
          </p:cNvSpPr>
          <p:nvPr/>
        </p:nvSpPr>
        <p:spPr bwMode="auto">
          <a:xfrm>
            <a:off x="2012950" y="1900238"/>
            <a:ext cx="768350" cy="768350"/>
          </a:xfrm>
          <a:prstGeom prst="ellipse">
            <a:avLst/>
          </a:prstGeom>
          <a:noFill/>
          <a:ln w="19050">
            <a:solidFill>
              <a:srgbClr val="000000"/>
            </a:solidFill>
            <a:round/>
            <a:headEnd/>
            <a:tailEnd/>
          </a:ln>
        </p:spPr>
        <p:txBody>
          <a:bodyPr>
            <a:prstTxWarp prst="textNoShape">
              <a:avLst/>
            </a:prstTxWarp>
          </a:bodyPr>
          <a:lstStyle/>
          <a:p>
            <a:endParaRPr lang="en-US"/>
          </a:p>
        </p:txBody>
      </p:sp>
      <p:sp>
        <p:nvSpPr>
          <p:cNvPr id="48132" name="Rectangle 4"/>
          <p:cNvSpPr>
            <a:spLocks noChangeArrowheads="1"/>
          </p:cNvSpPr>
          <p:nvPr/>
        </p:nvSpPr>
        <p:spPr bwMode="auto">
          <a:xfrm>
            <a:off x="1997076" y="2090738"/>
            <a:ext cx="798513" cy="387350"/>
          </a:xfrm>
          <a:prstGeom prst="rect">
            <a:avLst/>
          </a:prstGeom>
          <a:noFill/>
          <a:ln w="19050">
            <a:noFill/>
            <a:miter lim="800000"/>
            <a:headEnd/>
            <a:tailEnd/>
          </a:ln>
        </p:spPr>
        <p:txBody>
          <a:bodyPr>
            <a:prstTxWarp prst="textNoShape">
              <a:avLst/>
            </a:prstTxWarp>
          </a:bodyPr>
          <a:lstStyle/>
          <a:p>
            <a:endParaRPr lang="en-US"/>
          </a:p>
        </p:txBody>
      </p:sp>
      <p:sp>
        <p:nvSpPr>
          <p:cNvPr id="48133" name="Oval 5"/>
          <p:cNvSpPr>
            <a:spLocks noChangeArrowheads="1"/>
          </p:cNvSpPr>
          <p:nvPr/>
        </p:nvSpPr>
        <p:spPr bwMode="auto">
          <a:xfrm>
            <a:off x="5018088" y="1900238"/>
            <a:ext cx="768350" cy="768350"/>
          </a:xfrm>
          <a:prstGeom prst="ellipse">
            <a:avLst/>
          </a:prstGeom>
          <a:noFill/>
          <a:ln w="19050">
            <a:solidFill>
              <a:srgbClr val="000000"/>
            </a:solidFill>
            <a:round/>
            <a:headEnd/>
            <a:tailEnd/>
          </a:ln>
        </p:spPr>
        <p:txBody>
          <a:bodyPr>
            <a:prstTxWarp prst="textNoShape">
              <a:avLst/>
            </a:prstTxWarp>
          </a:bodyPr>
          <a:lstStyle/>
          <a:p>
            <a:endParaRPr lang="en-US"/>
          </a:p>
        </p:txBody>
      </p:sp>
      <p:sp>
        <p:nvSpPr>
          <p:cNvPr id="48134" name="Rectangle 6"/>
          <p:cNvSpPr>
            <a:spLocks noChangeArrowheads="1"/>
          </p:cNvSpPr>
          <p:nvPr/>
        </p:nvSpPr>
        <p:spPr bwMode="auto">
          <a:xfrm>
            <a:off x="5154614" y="2090738"/>
            <a:ext cx="496887" cy="387350"/>
          </a:xfrm>
          <a:prstGeom prst="rect">
            <a:avLst/>
          </a:prstGeom>
          <a:noFill/>
          <a:ln w="19050">
            <a:noFill/>
            <a:miter lim="800000"/>
            <a:headEnd/>
            <a:tailEnd/>
          </a:ln>
        </p:spPr>
        <p:txBody>
          <a:bodyPr>
            <a:prstTxWarp prst="textNoShape">
              <a:avLst/>
            </a:prstTxWarp>
          </a:bodyPr>
          <a:lstStyle/>
          <a:p>
            <a:endParaRPr lang="en-US"/>
          </a:p>
        </p:txBody>
      </p:sp>
      <p:sp>
        <p:nvSpPr>
          <p:cNvPr id="48135" name="Oval 7"/>
          <p:cNvSpPr>
            <a:spLocks noChangeArrowheads="1"/>
          </p:cNvSpPr>
          <p:nvPr/>
        </p:nvSpPr>
        <p:spPr bwMode="auto">
          <a:xfrm>
            <a:off x="6515100" y="1900238"/>
            <a:ext cx="768350" cy="768350"/>
          </a:xfrm>
          <a:prstGeom prst="ellipse">
            <a:avLst/>
          </a:prstGeom>
          <a:noFill/>
          <a:ln w="19050">
            <a:solidFill>
              <a:srgbClr val="000000"/>
            </a:solidFill>
            <a:round/>
            <a:headEnd/>
            <a:tailEnd/>
          </a:ln>
        </p:spPr>
        <p:txBody>
          <a:bodyPr>
            <a:prstTxWarp prst="textNoShape">
              <a:avLst/>
            </a:prstTxWarp>
          </a:bodyPr>
          <a:lstStyle/>
          <a:p>
            <a:endParaRPr lang="en-US"/>
          </a:p>
        </p:txBody>
      </p:sp>
      <p:sp>
        <p:nvSpPr>
          <p:cNvPr id="48136" name="Rectangle 8"/>
          <p:cNvSpPr>
            <a:spLocks noChangeArrowheads="1"/>
          </p:cNvSpPr>
          <p:nvPr/>
        </p:nvSpPr>
        <p:spPr bwMode="auto">
          <a:xfrm>
            <a:off x="6592888" y="2090738"/>
            <a:ext cx="614362" cy="387350"/>
          </a:xfrm>
          <a:prstGeom prst="rect">
            <a:avLst/>
          </a:prstGeom>
          <a:noFill/>
          <a:ln w="19050">
            <a:noFill/>
            <a:miter lim="800000"/>
            <a:headEnd/>
            <a:tailEnd/>
          </a:ln>
        </p:spPr>
        <p:txBody>
          <a:bodyPr>
            <a:prstTxWarp prst="textNoShape">
              <a:avLst/>
            </a:prstTxWarp>
          </a:bodyPr>
          <a:lstStyle/>
          <a:p>
            <a:endParaRPr lang="en-US"/>
          </a:p>
        </p:txBody>
      </p:sp>
      <p:sp>
        <p:nvSpPr>
          <p:cNvPr id="48137" name="Oval 9"/>
          <p:cNvSpPr>
            <a:spLocks noChangeArrowheads="1"/>
          </p:cNvSpPr>
          <p:nvPr/>
        </p:nvSpPr>
        <p:spPr bwMode="auto">
          <a:xfrm>
            <a:off x="8012113" y="1900238"/>
            <a:ext cx="766762" cy="768350"/>
          </a:xfrm>
          <a:prstGeom prst="ellipse">
            <a:avLst/>
          </a:prstGeom>
          <a:noFill/>
          <a:ln w="19050">
            <a:solidFill>
              <a:srgbClr val="000000"/>
            </a:solidFill>
            <a:round/>
            <a:headEnd/>
            <a:tailEnd/>
          </a:ln>
        </p:spPr>
        <p:txBody>
          <a:bodyPr>
            <a:prstTxWarp prst="textNoShape">
              <a:avLst/>
            </a:prstTxWarp>
          </a:bodyPr>
          <a:lstStyle/>
          <a:p>
            <a:endParaRPr lang="en-US"/>
          </a:p>
        </p:txBody>
      </p:sp>
      <p:sp>
        <p:nvSpPr>
          <p:cNvPr id="48138" name="Rectangle 10"/>
          <p:cNvSpPr>
            <a:spLocks noChangeArrowheads="1"/>
          </p:cNvSpPr>
          <p:nvPr/>
        </p:nvSpPr>
        <p:spPr bwMode="auto">
          <a:xfrm>
            <a:off x="8081963" y="2090738"/>
            <a:ext cx="628650" cy="387350"/>
          </a:xfrm>
          <a:prstGeom prst="rect">
            <a:avLst/>
          </a:prstGeom>
          <a:noFill/>
          <a:ln w="19050">
            <a:noFill/>
            <a:miter lim="800000"/>
            <a:headEnd/>
            <a:tailEnd/>
          </a:ln>
        </p:spPr>
        <p:txBody>
          <a:bodyPr>
            <a:prstTxWarp prst="textNoShape">
              <a:avLst/>
            </a:prstTxWarp>
          </a:bodyPr>
          <a:lstStyle/>
          <a:p>
            <a:endParaRPr lang="en-US"/>
          </a:p>
        </p:txBody>
      </p:sp>
      <p:sp>
        <p:nvSpPr>
          <p:cNvPr id="48139" name="Rectangle 11"/>
          <p:cNvSpPr>
            <a:spLocks noChangeArrowheads="1"/>
          </p:cNvSpPr>
          <p:nvPr/>
        </p:nvSpPr>
        <p:spPr bwMode="auto">
          <a:xfrm>
            <a:off x="9564689" y="2090738"/>
            <a:ext cx="657225" cy="387350"/>
          </a:xfrm>
          <a:prstGeom prst="rect">
            <a:avLst/>
          </a:prstGeom>
          <a:noFill/>
          <a:ln w="19050">
            <a:noFill/>
            <a:miter lim="800000"/>
            <a:headEnd/>
            <a:tailEnd/>
          </a:ln>
        </p:spPr>
        <p:txBody>
          <a:bodyPr>
            <a:prstTxWarp prst="textNoShape">
              <a:avLst/>
            </a:prstTxWarp>
          </a:bodyPr>
          <a:lstStyle/>
          <a:p>
            <a:endParaRPr lang="en-US"/>
          </a:p>
        </p:txBody>
      </p:sp>
      <p:sp>
        <p:nvSpPr>
          <p:cNvPr id="48140" name="Oval 12"/>
          <p:cNvSpPr>
            <a:spLocks noChangeArrowheads="1"/>
          </p:cNvSpPr>
          <p:nvPr/>
        </p:nvSpPr>
        <p:spPr bwMode="auto">
          <a:xfrm>
            <a:off x="9507538" y="1900238"/>
            <a:ext cx="768350" cy="768350"/>
          </a:xfrm>
          <a:prstGeom prst="ellipse">
            <a:avLst/>
          </a:prstGeom>
          <a:noFill/>
          <a:ln w="19050">
            <a:solidFill>
              <a:srgbClr val="000000"/>
            </a:solidFill>
            <a:round/>
            <a:headEnd/>
            <a:tailEnd/>
          </a:ln>
        </p:spPr>
        <p:txBody>
          <a:bodyPr>
            <a:prstTxWarp prst="textNoShape">
              <a:avLst/>
            </a:prstTxWarp>
          </a:bodyPr>
          <a:lstStyle/>
          <a:p>
            <a:endParaRPr lang="en-US"/>
          </a:p>
        </p:txBody>
      </p:sp>
      <p:grpSp>
        <p:nvGrpSpPr>
          <p:cNvPr id="2" name="Group 13"/>
          <p:cNvGrpSpPr>
            <a:grpSpLocks/>
          </p:cNvGrpSpPr>
          <p:nvPr/>
        </p:nvGrpSpPr>
        <p:grpSpPr bwMode="auto">
          <a:xfrm>
            <a:off x="2794001" y="2216150"/>
            <a:ext cx="728663" cy="139700"/>
            <a:chOff x="697" y="1293"/>
            <a:chExt cx="459" cy="88"/>
          </a:xfrm>
        </p:grpSpPr>
        <p:sp>
          <p:nvSpPr>
            <p:cNvPr id="48234" name="Line 14"/>
            <p:cNvSpPr>
              <a:spLocks noChangeShapeType="1"/>
            </p:cNvSpPr>
            <p:nvPr/>
          </p:nvSpPr>
          <p:spPr bwMode="auto">
            <a:xfrm>
              <a:off x="697" y="1336"/>
              <a:ext cx="375" cy="1"/>
            </a:xfrm>
            <a:prstGeom prst="line">
              <a:avLst/>
            </a:prstGeom>
            <a:noFill/>
            <a:ln w="19050">
              <a:solidFill>
                <a:srgbClr val="000000"/>
              </a:solidFill>
              <a:round/>
              <a:headEnd/>
              <a:tailEnd type="none" w="lg" len="med"/>
            </a:ln>
          </p:spPr>
          <p:txBody>
            <a:bodyPr>
              <a:prstTxWarp prst="textNoShape">
                <a:avLst/>
              </a:prstTxWarp>
            </a:bodyPr>
            <a:lstStyle/>
            <a:p>
              <a:endParaRPr lang="en-US"/>
            </a:p>
          </p:txBody>
        </p:sp>
        <p:sp>
          <p:nvSpPr>
            <p:cNvPr id="48235" name="Freeform 15"/>
            <p:cNvSpPr>
              <a:spLocks/>
            </p:cNvSpPr>
            <p:nvPr/>
          </p:nvSpPr>
          <p:spPr bwMode="auto">
            <a:xfrm>
              <a:off x="1069" y="1293"/>
              <a:ext cx="87" cy="88"/>
            </a:xfrm>
            <a:custGeom>
              <a:avLst/>
              <a:gdLst>
                <a:gd name="T0" fmla="*/ 0 w 87"/>
                <a:gd name="T1" fmla="*/ 88 h 88"/>
                <a:gd name="T2" fmla="*/ 87 w 87"/>
                <a:gd name="T3" fmla="*/ 43 h 88"/>
                <a:gd name="T4" fmla="*/ 0 w 87"/>
                <a:gd name="T5" fmla="*/ 0 h 88"/>
                <a:gd name="T6" fmla="*/ 0 w 87"/>
                <a:gd name="T7" fmla="*/ 88 h 88"/>
                <a:gd name="T8" fmla="*/ 0 60000 65536"/>
                <a:gd name="T9" fmla="*/ 0 60000 65536"/>
                <a:gd name="T10" fmla="*/ 0 60000 65536"/>
                <a:gd name="T11" fmla="*/ 0 60000 65536"/>
                <a:gd name="T12" fmla="*/ 0 w 87"/>
                <a:gd name="T13" fmla="*/ 0 h 88"/>
                <a:gd name="T14" fmla="*/ 87 w 87"/>
                <a:gd name="T15" fmla="*/ 88 h 88"/>
              </a:gdLst>
              <a:ahLst/>
              <a:cxnLst>
                <a:cxn ang="T8">
                  <a:pos x="T0" y="T1"/>
                </a:cxn>
                <a:cxn ang="T9">
                  <a:pos x="T2" y="T3"/>
                </a:cxn>
                <a:cxn ang="T10">
                  <a:pos x="T4" y="T5"/>
                </a:cxn>
                <a:cxn ang="T11">
                  <a:pos x="T6" y="T7"/>
                </a:cxn>
              </a:cxnLst>
              <a:rect l="T12" t="T13" r="T14" b="T15"/>
              <a:pathLst>
                <a:path w="87" h="88">
                  <a:moveTo>
                    <a:pt x="0" y="88"/>
                  </a:moveTo>
                  <a:lnTo>
                    <a:pt x="87" y="43"/>
                  </a:lnTo>
                  <a:lnTo>
                    <a:pt x="0" y="0"/>
                  </a:lnTo>
                  <a:lnTo>
                    <a:pt x="0" y="88"/>
                  </a:lnTo>
                  <a:close/>
                </a:path>
              </a:pathLst>
            </a:custGeom>
            <a:solidFill>
              <a:srgbClr val="000000"/>
            </a:solidFill>
            <a:ln w="19050">
              <a:noFill/>
              <a:round/>
              <a:headEnd/>
              <a:tailEnd/>
            </a:ln>
          </p:spPr>
          <p:txBody>
            <a:bodyPr>
              <a:prstTxWarp prst="textNoShape">
                <a:avLst/>
              </a:prstTxWarp>
            </a:bodyPr>
            <a:lstStyle/>
            <a:p>
              <a:endParaRPr lang="en-US"/>
            </a:p>
          </p:txBody>
        </p:sp>
      </p:grpSp>
      <p:grpSp>
        <p:nvGrpSpPr>
          <p:cNvPr id="3" name="Group 16"/>
          <p:cNvGrpSpPr>
            <a:grpSpLocks/>
          </p:cNvGrpSpPr>
          <p:nvPr/>
        </p:nvGrpSpPr>
        <p:grpSpPr bwMode="auto">
          <a:xfrm>
            <a:off x="4287838" y="2216150"/>
            <a:ext cx="730250" cy="139700"/>
            <a:chOff x="1638" y="1293"/>
            <a:chExt cx="460" cy="88"/>
          </a:xfrm>
        </p:grpSpPr>
        <p:sp>
          <p:nvSpPr>
            <p:cNvPr id="48232" name="Line 17"/>
            <p:cNvSpPr>
              <a:spLocks noChangeShapeType="1"/>
            </p:cNvSpPr>
            <p:nvPr/>
          </p:nvSpPr>
          <p:spPr bwMode="auto">
            <a:xfrm>
              <a:off x="1638" y="1336"/>
              <a:ext cx="376" cy="1"/>
            </a:xfrm>
            <a:prstGeom prst="line">
              <a:avLst/>
            </a:prstGeom>
            <a:noFill/>
            <a:ln w="19050">
              <a:solidFill>
                <a:srgbClr val="000000"/>
              </a:solidFill>
              <a:round/>
              <a:headEnd/>
              <a:tailEnd type="none" w="lg" len="med"/>
            </a:ln>
          </p:spPr>
          <p:txBody>
            <a:bodyPr>
              <a:prstTxWarp prst="textNoShape">
                <a:avLst/>
              </a:prstTxWarp>
            </a:bodyPr>
            <a:lstStyle/>
            <a:p>
              <a:endParaRPr lang="en-US"/>
            </a:p>
          </p:txBody>
        </p:sp>
        <p:sp>
          <p:nvSpPr>
            <p:cNvPr id="48233" name="Freeform 18"/>
            <p:cNvSpPr>
              <a:spLocks/>
            </p:cNvSpPr>
            <p:nvPr/>
          </p:nvSpPr>
          <p:spPr bwMode="auto">
            <a:xfrm>
              <a:off x="2012" y="1293"/>
              <a:ext cx="86" cy="88"/>
            </a:xfrm>
            <a:custGeom>
              <a:avLst/>
              <a:gdLst>
                <a:gd name="T0" fmla="*/ 0 w 86"/>
                <a:gd name="T1" fmla="*/ 88 h 88"/>
                <a:gd name="T2" fmla="*/ 86 w 86"/>
                <a:gd name="T3" fmla="*/ 43 h 88"/>
                <a:gd name="T4" fmla="*/ 0 w 86"/>
                <a:gd name="T5" fmla="*/ 0 h 88"/>
                <a:gd name="T6" fmla="*/ 0 w 86"/>
                <a:gd name="T7" fmla="*/ 88 h 88"/>
                <a:gd name="T8" fmla="*/ 0 60000 65536"/>
                <a:gd name="T9" fmla="*/ 0 60000 65536"/>
                <a:gd name="T10" fmla="*/ 0 60000 65536"/>
                <a:gd name="T11" fmla="*/ 0 60000 65536"/>
                <a:gd name="T12" fmla="*/ 0 w 86"/>
                <a:gd name="T13" fmla="*/ 0 h 88"/>
                <a:gd name="T14" fmla="*/ 86 w 86"/>
                <a:gd name="T15" fmla="*/ 88 h 88"/>
              </a:gdLst>
              <a:ahLst/>
              <a:cxnLst>
                <a:cxn ang="T8">
                  <a:pos x="T0" y="T1"/>
                </a:cxn>
                <a:cxn ang="T9">
                  <a:pos x="T2" y="T3"/>
                </a:cxn>
                <a:cxn ang="T10">
                  <a:pos x="T4" y="T5"/>
                </a:cxn>
                <a:cxn ang="T11">
                  <a:pos x="T6" y="T7"/>
                </a:cxn>
              </a:cxnLst>
              <a:rect l="T12" t="T13" r="T14" b="T15"/>
              <a:pathLst>
                <a:path w="86" h="88">
                  <a:moveTo>
                    <a:pt x="0" y="88"/>
                  </a:moveTo>
                  <a:lnTo>
                    <a:pt x="86" y="43"/>
                  </a:lnTo>
                  <a:lnTo>
                    <a:pt x="0" y="0"/>
                  </a:lnTo>
                  <a:lnTo>
                    <a:pt x="0" y="88"/>
                  </a:lnTo>
                  <a:close/>
                </a:path>
              </a:pathLst>
            </a:custGeom>
            <a:solidFill>
              <a:srgbClr val="000000"/>
            </a:solidFill>
            <a:ln w="19050">
              <a:noFill/>
              <a:round/>
              <a:headEnd/>
              <a:tailEnd/>
            </a:ln>
          </p:spPr>
          <p:txBody>
            <a:bodyPr>
              <a:prstTxWarp prst="textNoShape">
                <a:avLst/>
              </a:prstTxWarp>
            </a:bodyPr>
            <a:lstStyle/>
            <a:p>
              <a:endParaRPr lang="en-US"/>
            </a:p>
          </p:txBody>
        </p:sp>
      </p:grpSp>
      <p:grpSp>
        <p:nvGrpSpPr>
          <p:cNvPr id="4" name="Group 19"/>
          <p:cNvGrpSpPr>
            <a:grpSpLocks/>
          </p:cNvGrpSpPr>
          <p:nvPr/>
        </p:nvGrpSpPr>
        <p:grpSpPr bwMode="auto">
          <a:xfrm>
            <a:off x="5132389" y="1581151"/>
            <a:ext cx="592137" cy="436563"/>
            <a:chOff x="2170" y="893"/>
            <a:chExt cx="373" cy="275"/>
          </a:xfrm>
        </p:grpSpPr>
        <p:sp>
          <p:nvSpPr>
            <p:cNvPr id="48230" name="Freeform 20"/>
            <p:cNvSpPr>
              <a:spLocks/>
            </p:cNvSpPr>
            <p:nvPr/>
          </p:nvSpPr>
          <p:spPr bwMode="auto">
            <a:xfrm>
              <a:off x="2170" y="893"/>
              <a:ext cx="328" cy="272"/>
            </a:xfrm>
            <a:custGeom>
              <a:avLst/>
              <a:gdLst>
                <a:gd name="T0" fmla="*/ 0 w 328"/>
                <a:gd name="T1" fmla="*/ 272 h 272"/>
                <a:gd name="T2" fmla="*/ 1 w 328"/>
                <a:gd name="T3" fmla="*/ 247 h 272"/>
                <a:gd name="T4" fmla="*/ 4 w 328"/>
                <a:gd name="T5" fmla="*/ 222 h 272"/>
                <a:gd name="T6" fmla="*/ 8 w 328"/>
                <a:gd name="T7" fmla="*/ 197 h 272"/>
                <a:gd name="T8" fmla="*/ 15 w 328"/>
                <a:gd name="T9" fmla="*/ 172 h 272"/>
                <a:gd name="T10" fmla="*/ 22 w 328"/>
                <a:gd name="T11" fmla="*/ 148 h 272"/>
                <a:gd name="T12" fmla="*/ 30 w 328"/>
                <a:gd name="T13" fmla="*/ 126 h 272"/>
                <a:gd name="T14" fmla="*/ 42 w 328"/>
                <a:gd name="T15" fmla="*/ 105 h 272"/>
                <a:gd name="T16" fmla="*/ 53 w 328"/>
                <a:gd name="T17" fmla="*/ 85 h 272"/>
                <a:gd name="T18" fmla="*/ 65 w 328"/>
                <a:gd name="T19" fmla="*/ 67 h 272"/>
                <a:gd name="T20" fmla="*/ 78 w 328"/>
                <a:gd name="T21" fmla="*/ 50 h 272"/>
                <a:gd name="T22" fmla="*/ 92 w 328"/>
                <a:gd name="T23" fmla="*/ 36 h 272"/>
                <a:gd name="T24" fmla="*/ 107 w 328"/>
                <a:gd name="T25" fmla="*/ 23 h 272"/>
                <a:gd name="T26" fmla="*/ 123 w 328"/>
                <a:gd name="T27" fmla="*/ 14 h 272"/>
                <a:gd name="T28" fmla="*/ 138 w 328"/>
                <a:gd name="T29" fmla="*/ 5 h 272"/>
                <a:gd name="T30" fmla="*/ 154 w 328"/>
                <a:gd name="T31" fmla="*/ 1 h 272"/>
                <a:gd name="T32" fmla="*/ 169 w 328"/>
                <a:gd name="T33" fmla="*/ 0 h 272"/>
                <a:gd name="T34" fmla="*/ 181 w 328"/>
                <a:gd name="T35" fmla="*/ 1 h 272"/>
                <a:gd name="T36" fmla="*/ 194 w 328"/>
                <a:gd name="T37" fmla="*/ 4 h 272"/>
                <a:gd name="T38" fmla="*/ 207 w 328"/>
                <a:gd name="T39" fmla="*/ 8 h 272"/>
                <a:gd name="T40" fmla="*/ 219 w 328"/>
                <a:gd name="T41" fmla="*/ 15 h 272"/>
                <a:gd name="T42" fmla="*/ 230 w 328"/>
                <a:gd name="T43" fmla="*/ 22 h 272"/>
                <a:gd name="T44" fmla="*/ 242 w 328"/>
                <a:gd name="T45" fmla="*/ 32 h 272"/>
                <a:gd name="T46" fmla="*/ 264 w 328"/>
                <a:gd name="T47" fmla="*/ 56 h 272"/>
                <a:gd name="T48" fmla="*/ 285 w 328"/>
                <a:gd name="T49" fmla="*/ 84 h 272"/>
                <a:gd name="T50" fmla="*/ 302 w 328"/>
                <a:gd name="T51" fmla="*/ 114 h 272"/>
                <a:gd name="T52" fmla="*/ 317 w 328"/>
                <a:gd name="T53" fmla="*/ 149 h 272"/>
                <a:gd name="T54" fmla="*/ 328 w 328"/>
                <a:gd name="T55" fmla="*/ 187 h 27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28"/>
                <a:gd name="T85" fmla="*/ 0 h 272"/>
                <a:gd name="T86" fmla="*/ 328 w 328"/>
                <a:gd name="T87" fmla="*/ 272 h 27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28" h="272">
                  <a:moveTo>
                    <a:pt x="0" y="272"/>
                  </a:moveTo>
                  <a:lnTo>
                    <a:pt x="1" y="247"/>
                  </a:lnTo>
                  <a:lnTo>
                    <a:pt x="4" y="222"/>
                  </a:lnTo>
                  <a:lnTo>
                    <a:pt x="8" y="197"/>
                  </a:lnTo>
                  <a:lnTo>
                    <a:pt x="15" y="172"/>
                  </a:lnTo>
                  <a:lnTo>
                    <a:pt x="22" y="148"/>
                  </a:lnTo>
                  <a:lnTo>
                    <a:pt x="30" y="126"/>
                  </a:lnTo>
                  <a:lnTo>
                    <a:pt x="42" y="105"/>
                  </a:lnTo>
                  <a:lnTo>
                    <a:pt x="53" y="85"/>
                  </a:lnTo>
                  <a:lnTo>
                    <a:pt x="65" y="67"/>
                  </a:lnTo>
                  <a:lnTo>
                    <a:pt x="78" y="50"/>
                  </a:lnTo>
                  <a:lnTo>
                    <a:pt x="92" y="36"/>
                  </a:lnTo>
                  <a:lnTo>
                    <a:pt x="107" y="23"/>
                  </a:lnTo>
                  <a:lnTo>
                    <a:pt x="123" y="14"/>
                  </a:lnTo>
                  <a:lnTo>
                    <a:pt x="138" y="5"/>
                  </a:lnTo>
                  <a:lnTo>
                    <a:pt x="154" y="1"/>
                  </a:lnTo>
                  <a:lnTo>
                    <a:pt x="169" y="0"/>
                  </a:lnTo>
                  <a:lnTo>
                    <a:pt x="181" y="1"/>
                  </a:lnTo>
                  <a:lnTo>
                    <a:pt x="194" y="4"/>
                  </a:lnTo>
                  <a:lnTo>
                    <a:pt x="207" y="8"/>
                  </a:lnTo>
                  <a:lnTo>
                    <a:pt x="219" y="15"/>
                  </a:lnTo>
                  <a:lnTo>
                    <a:pt x="230" y="22"/>
                  </a:lnTo>
                  <a:lnTo>
                    <a:pt x="242" y="32"/>
                  </a:lnTo>
                  <a:lnTo>
                    <a:pt x="264" y="56"/>
                  </a:lnTo>
                  <a:lnTo>
                    <a:pt x="285" y="84"/>
                  </a:lnTo>
                  <a:lnTo>
                    <a:pt x="302" y="114"/>
                  </a:lnTo>
                  <a:lnTo>
                    <a:pt x="317" y="149"/>
                  </a:lnTo>
                  <a:lnTo>
                    <a:pt x="328" y="187"/>
                  </a:lnTo>
                </a:path>
              </a:pathLst>
            </a:custGeom>
            <a:noFill/>
            <a:ln w="19050">
              <a:solidFill>
                <a:srgbClr val="000000"/>
              </a:solidFill>
              <a:round/>
              <a:headEnd/>
              <a:tailEnd type="none" w="lg" len="med"/>
            </a:ln>
          </p:spPr>
          <p:txBody>
            <a:bodyPr>
              <a:prstTxWarp prst="textNoShape">
                <a:avLst/>
              </a:prstTxWarp>
            </a:bodyPr>
            <a:lstStyle/>
            <a:p>
              <a:endParaRPr lang="en-US"/>
            </a:p>
          </p:txBody>
        </p:sp>
        <p:sp>
          <p:nvSpPr>
            <p:cNvPr id="48231" name="Freeform 21"/>
            <p:cNvSpPr>
              <a:spLocks/>
            </p:cNvSpPr>
            <p:nvPr/>
          </p:nvSpPr>
          <p:spPr bwMode="auto">
            <a:xfrm>
              <a:off x="2455" y="1075"/>
              <a:ext cx="88" cy="93"/>
            </a:xfrm>
            <a:custGeom>
              <a:avLst/>
              <a:gdLst>
                <a:gd name="T0" fmla="*/ 0 w 88"/>
                <a:gd name="T1" fmla="*/ 11 h 93"/>
                <a:gd name="T2" fmla="*/ 55 w 88"/>
                <a:gd name="T3" fmla="*/ 93 h 93"/>
                <a:gd name="T4" fmla="*/ 88 w 88"/>
                <a:gd name="T5" fmla="*/ 0 h 93"/>
                <a:gd name="T6" fmla="*/ 0 w 88"/>
                <a:gd name="T7" fmla="*/ 11 h 93"/>
                <a:gd name="T8" fmla="*/ 0 60000 65536"/>
                <a:gd name="T9" fmla="*/ 0 60000 65536"/>
                <a:gd name="T10" fmla="*/ 0 60000 65536"/>
                <a:gd name="T11" fmla="*/ 0 60000 65536"/>
                <a:gd name="T12" fmla="*/ 0 w 88"/>
                <a:gd name="T13" fmla="*/ 0 h 93"/>
                <a:gd name="T14" fmla="*/ 88 w 88"/>
                <a:gd name="T15" fmla="*/ 93 h 93"/>
              </a:gdLst>
              <a:ahLst/>
              <a:cxnLst>
                <a:cxn ang="T8">
                  <a:pos x="T0" y="T1"/>
                </a:cxn>
                <a:cxn ang="T9">
                  <a:pos x="T2" y="T3"/>
                </a:cxn>
                <a:cxn ang="T10">
                  <a:pos x="T4" y="T5"/>
                </a:cxn>
                <a:cxn ang="T11">
                  <a:pos x="T6" y="T7"/>
                </a:cxn>
              </a:cxnLst>
              <a:rect l="T12" t="T13" r="T14" b="T15"/>
              <a:pathLst>
                <a:path w="88" h="93">
                  <a:moveTo>
                    <a:pt x="0" y="11"/>
                  </a:moveTo>
                  <a:lnTo>
                    <a:pt x="55" y="93"/>
                  </a:lnTo>
                  <a:lnTo>
                    <a:pt x="88" y="0"/>
                  </a:lnTo>
                  <a:lnTo>
                    <a:pt x="0" y="11"/>
                  </a:lnTo>
                  <a:close/>
                </a:path>
              </a:pathLst>
            </a:custGeom>
            <a:solidFill>
              <a:srgbClr val="000000"/>
            </a:solidFill>
            <a:ln w="19050">
              <a:noFill/>
              <a:round/>
              <a:headEnd/>
              <a:tailEnd/>
            </a:ln>
          </p:spPr>
          <p:txBody>
            <a:bodyPr>
              <a:prstTxWarp prst="textNoShape">
                <a:avLst/>
              </a:prstTxWarp>
            </a:bodyPr>
            <a:lstStyle/>
            <a:p>
              <a:endParaRPr lang="en-US"/>
            </a:p>
          </p:txBody>
        </p:sp>
      </p:grpSp>
      <p:grpSp>
        <p:nvGrpSpPr>
          <p:cNvPr id="5" name="Group 22"/>
          <p:cNvGrpSpPr>
            <a:grpSpLocks/>
          </p:cNvGrpSpPr>
          <p:nvPr/>
        </p:nvGrpSpPr>
        <p:grpSpPr bwMode="auto">
          <a:xfrm>
            <a:off x="6627814" y="1581151"/>
            <a:ext cx="593725" cy="436563"/>
            <a:chOff x="3112" y="893"/>
            <a:chExt cx="374" cy="275"/>
          </a:xfrm>
        </p:grpSpPr>
        <p:sp>
          <p:nvSpPr>
            <p:cNvPr id="48228" name="Freeform 23"/>
            <p:cNvSpPr>
              <a:spLocks/>
            </p:cNvSpPr>
            <p:nvPr/>
          </p:nvSpPr>
          <p:spPr bwMode="auto">
            <a:xfrm>
              <a:off x="3112" y="893"/>
              <a:ext cx="329" cy="272"/>
            </a:xfrm>
            <a:custGeom>
              <a:avLst/>
              <a:gdLst>
                <a:gd name="T0" fmla="*/ 0 w 329"/>
                <a:gd name="T1" fmla="*/ 272 h 272"/>
                <a:gd name="T2" fmla="*/ 2 w 329"/>
                <a:gd name="T3" fmla="*/ 247 h 272"/>
                <a:gd name="T4" fmla="*/ 4 w 329"/>
                <a:gd name="T5" fmla="*/ 222 h 272"/>
                <a:gd name="T6" fmla="*/ 9 w 329"/>
                <a:gd name="T7" fmla="*/ 197 h 272"/>
                <a:gd name="T8" fmla="*/ 16 w 329"/>
                <a:gd name="T9" fmla="*/ 172 h 272"/>
                <a:gd name="T10" fmla="*/ 23 w 329"/>
                <a:gd name="T11" fmla="*/ 148 h 272"/>
                <a:gd name="T12" fmla="*/ 31 w 329"/>
                <a:gd name="T13" fmla="*/ 126 h 272"/>
                <a:gd name="T14" fmla="*/ 42 w 329"/>
                <a:gd name="T15" fmla="*/ 105 h 272"/>
                <a:gd name="T16" fmla="*/ 53 w 329"/>
                <a:gd name="T17" fmla="*/ 85 h 272"/>
                <a:gd name="T18" fmla="*/ 66 w 329"/>
                <a:gd name="T19" fmla="*/ 67 h 272"/>
                <a:gd name="T20" fmla="*/ 79 w 329"/>
                <a:gd name="T21" fmla="*/ 50 h 272"/>
                <a:gd name="T22" fmla="*/ 93 w 329"/>
                <a:gd name="T23" fmla="*/ 36 h 272"/>
                <a:gd name="T24" fmla="*/ 108 w 329"/>
                <a:gd name="T25" fmla="*/ 23 h 272"/>
                <a:gd name="T26" fmla="*/ 123 w 329"/>
                <a:gd name="T27" fmla="*/ 14 h 272"/>
                <a:gd name="T28" fmla="*/ 139 w 329"/>
                <a:gd name="T29" fmla="*/ 5 h 272"/>
                <a:gd name="T30" fmla="*/ 154 w 329"/>
                <a:gd name="T31" fmla="*/ 1 h 272"/>
                <a:gd name="T32" fmla="*/ 169 w 329"/>
                <a:gd name="T33" fmla="*/ 0 h 272"/>
                <a:gd name="T34" fmla="*/ 182 w 329"/>
                <a:gd name="T35" fmla="*/ 1 h 272"/>
                <a:gd name="T36" fmla="*/ 195 w 329"/>
                <a:gd name="T37" fmla="*/ 4 h 272"/>
                <a:gd name="T38" fmla="*/ 207 w 329"/>
                <a:gd name="T39" fmla="*/ 8 h 272"/>
                <a:gd name="T40" fmla="*/ 220 w 329"/>
                <a:gd name="T41" fmla="*/ 15 h 272"/>
                <a:gd name="T42" fmla="*/ 231 w 329"/>
                <a:gd name="T43" fmla="*/ 22 h 272"/>
                <a:gd name="T44" fmla="*/ 242 w 329"/>
                <a:gd name="T45" fmla="*/ 32 h 272"/>
                <a:gd name="T46" fmla="*/ 265 w 329"/>
                <a:gd name="T47" fmla="*/ 56 h 272"/>
                <a:gd name="T48" fmla="*/ 286 w 329"/>
                <a:gd name="T49" fmla="*/ 84 h 272"/>
                <a:gd name="T50" fmla="*/ 302 w 329"/>
                <a:gd name="T51" fmla="*/ 114 h 272"/>
                <a:gd name="T52" fmla="*/ 318 w 329"/>
                <a:gd name="T53" fmla="*/ 149 h 272"/>
                <a:gd name="T54" fmla="*/ 329 w 329"/>
                <a:gd name="T55" fmla="*/ 187 h 27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29"/>
                <a:gd name="T85" fmla="*/ 0 h 272"/>
                <a:gd name="T86" fmla="*/ 329 w 329"/>
                <a:gd name="T87" fmla="*/ 272 h 27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29" h="272">
                  <a:moveTo>
                    <a:pt x="0" y="272"/>
                  </a:moveTo>
                  <a:lnTo>
                    <a:pt x="2" y="247"/>
                  </a:lnTo>
                  <a:lnTo>
                    <a:pt x="4" y="222"/>
                  </a:lnTo>
                  <a:lnTo>
                    <a:pt x="9" y="197"/>
                  </a:lnTo>
                  <a:lnTo>
                    <a:pt x="16" y="172"/>
                  </a:lnTo>
                  <a:lnTo>
                    <a:pt x="23" y="148"/>
                  </a:lnTo>
                  <a:lnTo>
                    <a:pt x="31" y="126"/>
                  </a:lnTo>
                  <a:lnTo>
                    <a:pt x="42" y="105"/>
                  </a:lnTo>
                  <a:lnTo>
                    <a:pt x="53" y="85"/>
                  </a:lnTo>
                  <a:lnTo>
                    <a:pt x="66" y="67"/>
                  </a:lnTo>
                  <a:lnTo>
                    <a:pt x="79" y="50"/>
                  </a:lnTo>
                  <a:lnTo>
                    <a:pt x="93" y="36"/>
                  </a:lnTo>
                  <a:lnTo>
                    <a:pt x="108" y="23"/>
                  </a:lnTo>
                  <a:lnTo>
                    <a:pt x="123" y="14"/>
                  </a:lnTo>
                  <a:lnTo>
                    <a:pt x="139" y="5"/>
                  </a:lnTo>
                  <a:lnTo>
                    <a:pt x="154" y="1"/>
                  </a:lnTo>
                  <a:lnTo>
                    <a:pt x="169" y="0"/>
                  </a:lnTo>
                  <a:lnTo>
                    <a:pt x="182" y="1"/>
                  </a:lnTo>
                  <a:lnTo>
                    <a:pt x="195" y="4"/>
                  </a:lnTo>
                  <a:lnTo>
                    <a:pt x="207" y="8"/>
                  </a:lnTo>
                  <a:lnTo>
                    <a:pt x="220" y="15"/>
                  </a:lnTo>
                  <a:lnTo>
                    <a:pt x="231" y="22"/>
                  </a:lnTo>
                  <a:lnTo>
                    <a:pt x="242" y="32"/>
                  </a:lnTo>
                  <a:lnTo>
                    <a:pt x="265" y="56"/>
                  </a:lnTo>
                  <a:lnTo>
                    <a:pt x="286" y="84"/>
                  </a:lnTo>
                  <a:lnTo>
                    <a:pt x="302" y="114"/>
                  </a:lnTo>
                  <a:lnTo>
                    <a:pt x="318" y="149"/>
                  </a:lnTo>
                  <a:lnTo>
                    <a:pt x="329" y="187"/>
                  </a:lnTo>
                </a:path>
              </a:pathLst>
            </a:custGeom>
            <a:noFill/>
            <a:ln w="19050">
              <a:solidFill>
                <a:srgbClr val="000000"/>
              </a:solidFill>
              <a:round/>
              <a:headEnd/>
              <a:tailEnd type="none" w="lg" len="med"/>
            </a:ln>
          </p:spPr>
          <p:txBody>
            <a:bodyPr>
              <a:prstTxWarp prst="textNoShape">
                <a:avLst/>
              </a:prstTxWarp>
            </a:bodyPr>
            <a:lstStyle/>
            <a:p>
              <a:endParaRPr lang="en-US"/>
            </a:p>
          </p:txBody>
        </p:sp>
        <p:sp>
          <p:nvSpPr>
            <p:cNvPr id="48229" name="Freeform 24"/>
            <p:cNvSpPr>
              <a:spLocks/>
            </p:cNvSpPr>
            <p:nvPr/>
          </p:nvSpPr>
          <p:spPr bwMode="auto">
            <a:xfrm>
              <a:off x="3398" y="1075"/>
              <a:ext cx="88" cy="93"/>
            </a:xfrm>
            <a:custGeom>
              <a:avLst/>
              <a:gdLst>
                <a:gd name="T0" fmla="*/ 0 w 88"/>
                <a:gd name="T1" fmla="*/ 11 h 93"/>
                <a:gd name="T2" fmla="*/ 54 w 88"/>
                <a:gd name="T3" fmla="*/ 93 h 93"/>
                <a:gd name="T4" fmla="*/ 88 w 88"/>
                <a:gd name="T5" fmla="*/ 0 h 93"/>
                <a:gd name="T6" fmla="*/ 0 w 88"/>
                <a:gd name="T7" fmla="*/ 11 h 93"/>
                <a:gd name="T8" fmla="*/ 0 60000 65536"/>
                <a:gd name="T9" fmla="*/ 0 60000 65536"/>
                <a:gd name="T10" fmla="*/ 0 60000 65536"/>
                <a:gd name="T11" fmla="*/ 0 60000 65536"/>
                <a:gd name="T12" fmla="*/ 0 w 88"/>
                <a:gd name="T13" fmla="*/ 0 h 93"/>
                <a:gd name="T14" fmla="*/ 88 w 88"/>
                <a:gd name="T15" fmla="*/ 93 h 93"/>
              </a:gdLst>
              <a:ahLst/>
              <a:cxnLst>
                <a:cxn ang="T8">
                  <a:pos x="T0" y="T1"/>
                </a:cxn>
                <a:cxn ang="T9">
                  <a:pos x="T2" y="T3"/>
                </a:cxn>
                <a:cxn ang="T10">
                  <a:pos x="T4" y="T5"/>
                </a:cxn>
                <a:cxn ang="T11">
                  <a:pos x="T6" y="T7"/>
                </a:cxn>
              </a:cxnLst>
              <a:rect l="T12" t="T13" r="T14" b="T15"/>
              <a:pathLst>
                <a:path w="88" h="93">
                  <a:moveTo>
                    <a:pt x="0" y="11"/>
                  </a:moveTo>
                  <a:lnTo>
                    <a:pt x="54" y="93"/>
                  </a:lnTo>
                  <a:lnTo>
                    <a:pt x="88" y="0"/>
                  </a:lnTo>
                  <a:lnTo>
                    <a:pt x="0" y="11"/>
                  </a:lnTo>
                  <a:close/>
                </a:path>
              </a:pathLst>
            </a:custGeom>
            <a:solidFill>
              <a:srgbClr val="000000"/>
            </a:solidFill>
            <a:ln w="19050">
              <a:noFill/>
              <a:round/>
              <a:headEnd/>
              <a:tailEnd/>
            </a:ln>
          </p:spPr>
          <p:txBody>
            <a:bodyPr>
              <a:prstTxWarp prst="textNoShape">
                <a:avLst/>
              </a:prstTxWarp>
            </a:bodyPr>
            <a:lstStyle/>
            <a:p>
              <a:endParaRPr lang="en-US"/>
            </a:p>
          </p:txBody>
        </p:sp>
      </p:grpSp>
      <p:grpSp>
        <p:nvGrpSpPr>
          <p:cNvPr id="6" name="Group 25"/>
          <p:cNvGrpSpPr>
            <a:grpSpLocks/>
          </p:cNvGrpSpPr>
          <p:nvPr/>
        </p:nvGrpSpPr>
        <p:grpSpPr bwMode="auto">
          <a:xfrm>
            <a:off x="5778501" y="2044700"/>
            <a:ext cx="746125" cy="139700"/>
            <a:chOff x="2577" y="1185"/>
            <a:chExt cx="470" cy="88"/>
          </a:xfrm>
        </p:grpSpPr>
        <p:sp>
          <p:nvSpPr>
            <p:cNvPr id="48226" name="Line 26"/>
            <p:cNvSpPr>
              <a:spLocks noChangeShapeType="1"/>
            </p:cNvSpPr>
            <p:nvPr/>
          </p:nvSpPr>
          <p:spPr bwMode="auto">
            <a:xfrm>
              <a:off x="2577" y="1228"/>
              <a:ext cx="386" cy="1"/>
            </a:xfrm>
            <a:prstGeom prst="line">
              <a:avLst/>
            </a:prstGeom>
            <a:noFill/>
            <a:ln w="19050">
              <a:solidFill>
                <a:srgbClr val="000000"/>
              </a:solidFill>
              <a:round/>
              <a:headEnd/>
              <a:tailEnd type="none" w="lg" len="med"/>
            </a:ln>
          </p:spPr>
          <p:txBody>
            <a:bodyPr>
              <a:prstTxWarp prst="textNoShape">
                <a:avLst/>
              </a:prstTxWarp>
            </a:bodyPr>
            <a:lstStyle/>
            <a:p>
              <a:endParaRPr lang="en-US"/>
            </a:p>
          </p:txBody>
        </p:sp>
        <p:sp>
          <p:nvSpPr>
            <p:cNvPr id="48227" name="Freeform 27"/>
            <p:cNvSpPr>
              <a:spLocks/>
            </p:cNvSpPr>
            <p:nvPr/>
          </p:nvSpPr>
          <p:spPr bwMode="auto">
            <a:xfrm>
              <a:off x="2960" y="1185"/>
              <a:ext cx="87" cy="88"/>
            </a:xfrm>
            <a:custGeom>
              <a:avLst/>
              <a:gdLst>
                <a:gd name="T0" fmla="*/ 0 w 87"/>
                <a:gd name="T1" fmla="*/ 88 h 88"/>
                <a:gd name="T2" fmla="*/ 87 w 87"/>
                <a:gd name="T3" fmla="*/ 45 h 88"/>
                <a:gd name="T4" fmla="*/ 0 w 87"/>
                <a:gd name="T5" fmla="*/ 0 h 88"/>
                <a:gd name="T6" fmla="*/ 0 w 87"/>
                <a:gd name="T7" fmla="*/ 88 h 88"/>
                <a:gd name="T8" fmla="*/ 0 60000 65536"/>
                <a:gd name="T9" fmla="*/ 0 60000 65536"/>
                <a:gd name="T10" fmla="*/ 0 60000 65536"/>
                <a:gd name="T11" fmla="*/ 0 60000 65536"/>
                <a:gd name="T12" fmla="*/ 0 w 87"/>
                <a:gd name="T13" fmla="*/ 0 h 88"/>
                <a:gd name="T14" fmla="*/ 87 w 87"/>
                <a:gd name="T15" fmla="*/ 88 h 88"/>
              </a:gdLst>
              <a:ahLst/>
              <a:cxnLst>
                <a:cxn ang="T8">
                  <a:pos x="T0" y="T1"/>
                </a:cxn>
                <a:cxn ang="T9">
                  <a:pos x="T2" y="T3"/>
                </a:cxn>
                <a:cxn ang="T10">
                  <a:pos x="T4" y="T5"/>
                </a:cxn>
                <a:cxn ang="T11">
                  <a:pos x="T6" y="T7"/>
                </a:cxn>
              </a:cxnLst>
              <a:rect l="T12" t="T13" r="T14" b="T15"/>
              <a:pathLst>
                <a:path w="87" h="88">
                  <a:moveTo>
                    <a:pt x="0" y="88"/>
                  </a:moveTo>
                  <a:lnTo>
                    <a:pt x="87" y="45"/>
                  </a:lnTo>
                  <a:lnTo>
                    <a:pt x="0" y="0"/>
                  </a:lnTo>
                  <a:lnTo>
                    <a:pt x="0" y="88"/>
                  </a:lnTo>
                  <a:close/>
                </a:path>
              </a:pathLst>
            </a:custGeom>
            <a:solidFill>
              <a:srgbClr val="000000"/>
            </a:solidFill>
            <a:ln w="19050">
              <a:noFill/>
              <a:round/>
              <a:headEnd/>
              <a:tailEnd/>
            </a:ln>
          </p:spPr>
          <p:txBody>
            <a:bodyPr>
              <a:prstTxWarp prst="textNoShape">
                <a:avLst/>
              </a:prstTxWarp>
            </a:bodyPr>
            <a:lstStyle/>
            <a:p>
              <a:endParaRPr lang="en-US"/>
            </a:p>
          </p:txBody>
        </p:sp>
      </p:grpSp>
      <p:grpSp>
        <p:nvGrpSpPr>
          <p:cNvPr id="7" name="Group 28"/>
          <p:cNvGrpSpPr>
            <a:grpSpLocks/>
          </p:cNvGrpSpPr>
          <p:nvPr/>
        </p:nvGrpSpPr>
        <p:grpSpPr bwMode="auto">
          <a:xfrm>
            <a:off x="5564188" y="2578100"/>
            <a:ext cx="1173162" cy="139700"/>
            <a:chOff x="2442" y="1521"/>
            <a:chExt cx="739" cy="88"/>
          </a:xfrm>
        </p:grpSpPr>
        <p:sp>
          <p:nvSpPr>
            <p:cNvPr id="48224" name="Line 29"/>
            <p:cNvSpPr>
              <a:spLocks noChangeShapeType="1"/>
            </p:cNvSpPr>
            <p:nvPr/>
          </p:nvSpPr>
          <p:spPr bwMode="auto">
            <a:xfrm flipH="1">
              <a:off x="2526" y="1564"/>
              <a:ext cx="655" cy="1"/>
            </a:xfrm>
            <a:prstGeom prst="line">
              <a:avLst/>
            </a:prstGeom>
            <a:noFill/>
            <a:ln w="19050">
              <a:solidFill>
                <a:srgbClr val="000000"/>
              </a:solidFill>
              <a:round/>
              <a:headEnd/>
              <a:tailEnd type="none" w="lg" len="med"/>
            </a:ln>
          </p:spPr>
          <p:txBody>
            <a:bodyPr>
              <a:prstTxWarp prst="textNoShape">
                <a:avLst/>
              </a:prstTxWarp>
            </a:bodyPr>
            <a:lstStyle/>
            <a:p>
              <a:endParaRPr lang="en-US"/>
            </a:p>
          </p:txBody>
        </p:sp>
        <p:sp>
          <p:nvSpPr>
            <p:cNvPr id="48225" name="Freeform 30"/>
            <p:cNvSpPr>
              <a:spLocks/>
            </p:cNvSpPr>
            <p:nvPr/>
          </p:nvSpPr>
          <p:spPr bwMode="auto">
            <a:xfrm>
              <a:off x="2442" y="1521"/>
              <a:ext cx="88" cy="88"/>
            </a:xfrm>
            <a:custGeom>
              <a:avLst/>
              <a:gdLst>
                <a:gd name="T0" fmla="*/ 88 w 88"/>
                <a:gd name="T1" fmla="*/ 0 h 88"/>
                <a:gd name="T2" fmla="*/ 0 w 88"/>
                <a:gd name="T3" fmla="*/ 45 h 88"/>
                <a:gd name="T4" fmla="*/ 88 w 88"/>
                <a:gd name="T5" fmla="*/ 88 h 88"/>
                <a:gd name="T6" fmla="*/ 88 w 88"/>
                <a:gd name="T7" fmla="*/ 0 h 88"/>
                <a:gd name="T8" fmla="*/ 0 60000 65536"/>
                <a:gd name="T9" fmla="*/ 0 60000 65536"/>
                <a:gd name="T10" fmla="*/ 0 60000 65536"/>
                <a:gd name="T11" fmla="*/ 0 60000 65536"/>
                <a:gd name="T12" fmla="*/ 0 w 88"/>
                <a:gd name="T13" fmla="*/ 0 h 88"/>
                <a:gd name="T14" fmla="*/ 88 w 88"/>
                <a:gd name="T15" fmla="*/ 88 h 88"/>
              </a:gdLst>
              <a:ahLst/>
              <a:cxnLst>
                <a:cxn ang="T8">
                  <a:pos x="T0" y="T1"/>
                </a:cxn>
                <a:cxn ang="T9">
                  <a:pos x="T2" y="T3"/>
                </a:cxn>
                <a:cxn ang="T10">
                  <a:pos x="T4" y="T5"/>
                </a:cxn>
                <a:cxn ang="T11">
                  <a:pos x="T6" y="T7"/>
                </a:cxn>
              </a:cxnLst>
              <a:rect l="T12" t="T13" r="T14" b="T15"/>
              <a:pathLst>
                <a:path w="88" h="88">
                  <a:moveTo>
                    <a:pt x="88" y="0"/>
                  </a:moveTo>
                  <a:lnTo>
                    <a:pt x="0" y="45"/>
                  </a:lnTo>
                  <a:lnTo>
                    <a:pt x="88" y="88"/>
                  </a:lnTo>
                  <a:lnTo>
                    <a:pt x="88" y="0"/>
                  </a:lnTo>
                  <a:close/>
                </a:path>
              </a:pathLst>
            </a:custGeom>
            <a:solidFill>
              <a:srgbClr val="000000"/>
            </a:solidFill>
            <a:ln w="19050">
              <a:noFill/>
              <a:round/>
              <a:headEnd/>
              <a:tailEnd/>
            </a:ln>
          </p:spPr>
          <p:txBody>
            <a:bodyPr>
              <a:prstTxWarp prst="textNoShape">
                <a:avLst/>
              </a:prstTxWarp>
            </a:bodyPr>
            <a:lstStyle/>
            <a:p>
              <a:endParaRPr lang="en-US"/>
            </a:p>
          </p:txBody>
        </p:sp>
      </p:grpSp>
      <p:grpSp>
        <p:nvGrpSpPr>
          <p:cNvPr id="8" name="Group 31"/>
          <p:cNvGrpSpPr>
            <a:grpSpLocks/>
          </p:cNvGrpSpPr>
          <p:nvPr/>
        </p:nvGrpSpPr>
        <p:grpSpPr bwMode="auto">
          <a:xfrm>
            <a:off x="8124825" y="1581151"/>
            <a:ext cx="592138" cy="436563"/>
            <a:chOff x="4055" y="893"/>
            <a:chExt cx="373" cy="275"/>
          </a:xfrm>
        </p:grpSpPr>
        <p:sp>
          <p:nvSpPr>
            <p:cNvPr id="48222" name="Freeform 32"/>
            <p:cNvSpPr>
              <a:spLocks/>
            </p:cNvSpPr>
            <p:nvPr/>
          </p:nvSpPr>
          <p:spPr bwMode="auto">
            <a:xfrm>
              <a:off x="4055" y="893"/>
              <a:ext cx="329" cy="272"/>
            </a:xfrm>
            <a:custGeom>
              <a:avLst/>
              <a:gdLst>
                <a:gd name="T0" fmla="*/ 0 w 329"/>
                <a:gd name="T1" fmla="*/ 272 h 272"/>
                <a:gd name="T2" fmla="*/ 1 w 329"/>
                <a:gd name="T3" fmla="*/ 247 h 272"/>
                <a:gd name="T4" fmla="*/ 4 w 329"/>
                <a:gd name="T5" fmla="*/ 222 h 272"/>
                <a:gd name="T6" fmla="*/ 8 w 329"/>
                <a:gd name="T7" fmla="*/ 197 h 272"/>
                <a:gd name="T8" fmla="*/ 15 w 329"/>
                <a:gd name="T9" fmla="*/ 172 h 272"/>
                <a:gd name="T10" fmla="*/ 22 w 329"/>
                <a:gd name="T11" fmla="*/ 148 h 272"/>
                <a:gd name="T12" fmla="*/ 31 w 329"/>
                <a:gd name="T13" fmla="*/ 126 h 272"/>
                <a:gd name="T14" fmla="*/ 42 w 329"/>
                <a:gd name="T15" fmla="*/ 105 h 272"/>
                <a:gd name="T16" fmla="*/ 53 w 329"/>
                <a:gd name="T17" fmla="*/ 85 h 272"/>
                <a:gd name="T18" fmla="*/ 66 w 329"/>
                <a:gd name="T19" fmla="*/ 67 h 272"/>
                <a:gd name="T20" fmla="*/ 78 w 329"/>
                <a:gd name="T21" fmla="*/ 50 h 272"/>
                <a:gd name="T22" fmla="*/ 92 w 329"/>
                <a:gd name="T23" fmla="*/ 36 h 272"/>
                <a:gd name="T24" fmla="*/ 108 w 329"/>
                <a:gd name="T25" fmla="*/ 23 h 272"/>
                <a:gd name="T26" fmla="*/ 123 w 329"/>
                <a:gd name="T27" fmla="*/ 14 h 272"/>
                <a:gd name="T28" fmla="*/ 138 w 329"/>
                <a:gd name="T29" fmla="*/ 5 h 272"/>
                <a:gd name="T30" fmla="*/ 154 w 329"/>
                <a:gd name="T31" fmla="*/ 1 h 272"/>
                <a:gd name="T32" fmla="*/ 169 w 329"/>
                <a:gd name="T33" fmla="*/ 0 h 272"/>
                <a:gd name="T34" fmla="*/ 182 w 329"/>
                <a:gd name="T35" fmla="*/ 1 h 272"/>
                <a:gd name="T36" fmla="*/ 194 w 329"/>
                <a:gd name="T37" fmla="*/ 4 h 272"/>
                <a:gd name="T38" fmla="*/ 207 w 329"/>
                <a:gd name="T39" fmla="*/ 8 h 272"/>
                <a:gd name="T40" fmla="*/ 219 w 329"/>
                <a:gd name="T41" fmla="*/ 15 h 272"/>
                <a:gd name="T42" fmla="*/ 231 w 329"/>
                <a:gd name="T43" fmla="*/ 22 h 272"/>
                <a:gd name="T44" fmla="*/ 242 w 329"/>
                <a:gd name="T45" fmla="*/ 32 h 272"/>
                <a:gd name="T46" fmla="*/ 264 w 329"/>
                <a:gd name="T47" fmla="*/ 56 h 272"/>
                <a:gd name="T48" fmla="*/ 285 w 329"/>
                <a:gd name="T49" fmla="*/ 84 h 272"/>
                <a:gd name="T50" fmla="*/ 302 w 329"/>
                <a:gd name="T51" fmla="*/ 114 h 272"/>
                <a:gd name="T52" fmla="*/ 317 w 329"/>
                <a:gd name="T53" fmla="*/ 149 h 272"/>
                <a:gd name="T54" fmla="*/ 329 w 329"/>
                <a:gd name="T55" fmla="*/ 187 h 27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29"/>
                <a:gd name="T85" fmla="*/ 0 h 272"/>
                <a:gd name="T86" fmla="*/ 329 w 329"/>
                <a:gd name="T87" fmla="*/ 272 h 27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29" h="272">
                  <a:moveTo>
                    <a:pt x="0" y="272"/>
                  </a:moveTo>
                  <a:lnTo>
                    <a:pt x="1" y="247"/>
                  </a:lnTo>
                  <a:lnTo>
                    <a:pt x="4" y="222"/>
                  </a:lnTo>
                  <a:lnTo>
                    <a:pt x="8" y="197"/>
                  </a:lnTo>
                  <a:lnTo>
                    <a:pt x="15" y="172"/>
                  </a:lnTo>
                  <a:lnTo>
                    <a:pt x="22" y="148"/>
                  </a:lnTo>
                  <a:lnTo>
                    <a:pt x="31" y="126"/>
                  </a:lnTo>
                  <a:lnTo>
                    <a:pt x="42" y="105"/>
                  </a:lnTo>
                  <a:lnTo>
                    <a:pt x="53" y="85"/>
                  </a:lnTo>
                  <a:lnTo>
                    <a:pt x="66" y="67"/>
                  </a:lnTo>
                  <a:lnTo>
                    <a:pt x="78" y="50"/>
                  </a:lnTo>
                  <a:lnTo>
                    <a:pt x="92" y="36"/>
                  </a:lnTo>
                  <a:lnTo>
                    <a:pt x="108" y="23"/>
                  </a:lnTo>
                  <a:lnTo>
                    <a:pt x="123" y="14"/>
                  </a:lnTo>
                  <a:lnTo>
                    <a:pt x="138" y="5"/>
                  </a:lnTo>
                  <a:lnTo>
                    <a:pt x="154" y="1"/>
                  </a:lnTo>
                  <a:lnTo>
                    <a:pt x="169" y="0"/>
                  </a:lnTo>
                  <a:lnTo>
                    <a:pt x="182" y="1"/>
                  </a:lnTo>
                  <a:lnTo>
                    <a:pt x="194" y="4"/>
                  </a:lnTo>
                  <a:lnTo>
                    <a:pt x="207" y="8"/>
                  </a:lnTo>
                  <a:lnTo>
                    <a:pt x="219" y="15"/>
                  </a:lnTo>
                  <a:lnTo>
                    <a:pt x="231" y="22"/>
                  </a:lnTo>
                  <a:lnTo>
                    <a:pt x="242" y="32"/>
                  </a:lnTo>
                  <a:lnTo>
                    <a:pt x="264" y="56"/>
                  </a:lnTo>
                  <a:lnTo>
                    <a:pt x="285" y="84"/>
                  </a:lnTo>
                  <a:lnTo>
                    <a:pt x="302" y="114"/>
                  </a:lnTo>
                  <a:lnTo>
                    <a:pt x="317" y="149"/>
                  </a:lnTo>
                  <a:lnTo>
                    <a:pt x="329" y="187"/>
                  </a:lnTo>
                </a:path>
              </a:pathLst>
            </a:custGeom>
            <a:noFill/>
            <a:ln w="19050">
              <a:solidFill>
                <a:srgbClr val="000000"/>
              </a:solidFill>
              <a:round/>
              <a:headEnd/>
              <a:tailEnd type="none" w="lg" len="med"/>
            </a:ln>
          </p:spPr>
          <p:txBody>
            <a:bodyPr>
              <a:prstTxWarp prst="textNoShape">
                <a:avLst/>
              </a:prstTxWarp>
            </a:bodyPr>
            <a:lstStyle/>
            <a:p>
              <a:endParaRPr lang="en-US"/>
            </a:p>
          </p:txBody>
        </p:sp>
        <p:sp>
          <p:nvSpPr>
            <p:cNvPr id="48223" name="Freeform 33"/>
            <p:cNvSpPr>
              <a:spLocks/>
            </p:cNvSpPr>
            <p:nvPr/>
          </p:nvSpPr>
          <p:spPr bwMode="auto">
            <a:xfrm>
              <a:off x="4340" y="1075"/>
              <a:ext cx="88" cy="93"/>
            </a:xfrm>
            <a:custGeom>
              <a:avLst/>
              <a:gdLst>
                <a:gd name="T0" fmla="*/ 0 w 88"/>
                <a:gd name="T1" fmla="*/ 11 h 93"/>
                <a:gd name="T2" fmla="*/ 55 w 88"/>
                <a:gd name="T3" fmla="*/ 93 h 93"/>
                <a:gd name="T4" fmla="*/ 88 w 88"/>
                <a:gd name="T5" fmla="*/ 0 h 93"/>
                <a:gd name="T6" fmla="*/ 0 w 88"/>
                <a:gd name="T7" fmla="*/ 11 h 93"/>
                <a:gd name="T8" fmla="*/ 0 60000 65536"/>
                <a:gd name="T9" fmla="*/ 0 60000 65536"/>
                <a:gd name="T10" fmla="*/ 0 60000 65536"/>
                <a:gd name="T11" fmla="*/ 0 60000 65536"/>
                <a:gd name="T12" fmla="*/ 0 w 88"/>
                <a:gd name="T13" fmla="*/ 0 h 93"/>
                <a:gd name="T14" fmla="*/ 88 w 88"/>
                <a:gd name="T15" fmla="*/ 93 h 93"/>
              </a:gdLst>
              <a:ahLst/>
              <a:cxnLst>
                <a:cxn ang="T8">
                  <a:pos x="T0" y="T1"/>
                </a:cxn>
                <a:cxn ang="T9">
                  <a:pos x="T2" y="T3"/>
                </a:cxn>
                <a:cxn ang="T10">
                  <a:pos x="T4" y="T5"/>
                </a:cxn>
                <a:cxn ang="T11">
                  <a:pos x="T6" y="T7"/>
                </a:cxn>
              </a:cxnLst>
              <a:rect l="T12" t="T13" r="T14" b="T15"/>
              <a:pathLst>
                <a:path w="88" h="93">
                  <a:moveTo>
                    <a:pt x="0" y="11"/>
                  </a:moveTo>
                  <a:lnTo>
                    <a:pt x="55" y="93"/>
                  </a:lnTo>
                  <a:lnTo>
                    <a:pt x="88" y="0"/>
                  </a:lnTo>
                  <a:lnTo>
                    <a:pt x="0" y="11"/>
                  </a:lnTo>
                  <a:close/>
                </a:path>
              </a:pathLst>
            </a:custGeom>
            <a:solidFill>
              <a:srgbClr val="000000"/>
            </a:solidFill>
            <a:ln w="19050">
              <a:noFill/>
              <a:round/>
              <a:headEnd/>
              <a:tailEnd/>
            </a:ln>
          </p:spPr>
          <p:txBody>
            <a:bodyPr>
              <a:prstTxWarp prst="textNoShape">
                <a:avLst/>
              </a:prstTxWarp>
            </a:bodyPr>
            <a:lstStyle/>
            <a:p>
              <a:endParaRPr lang="en-US"/>
            </a:p>
          </p:txBody>
        </p:sp>
      </p:grpSp>
      <p:grpSp>
        <p:nvGrpSpPr>
          <p:cNvPr id="9" name="Group 34"/>
          <p:cNvGrpSpPr>
            <a:grpSpLocks/>
          </p:cNvGrpSpPr>
          <p:nvPr/>
        </p:nvGrpSpPr>
        <p:grpSpPr bwMode="auto">
          <a:xfrm>
            <a:off x="9620251" y="1581151"/>
            <a:ext cx="593725" cy="436563"/>
            <a:chOff x="4997" y="893"/>
            <a:chExt cx="374" cy="275"/>
          </a:xfrm>
        </p:grpSpPr>
        <p:sp>
          <p:nvSpPr>
            <p:cNvPr id="48220" name="Freeform 35"/>
            <p:cNvSpPr>
              <a:spLocks/>
            </p:cNvSpPr>
            <p:nvPr/>
          </p:nvSpPr>
          <p:spPr bwMode="auto">
            <a:xfrm>
              <a:off x="4997" y="893"/>
              <a:ext cx="329" cy="272"/>
            </a:xfrm>
            <a:custGeom>
              <a:avLst/>
              <a:gdLst>
                <a:gd name="T0" fmla="*/ 0 w 329"/>
                <a:gd name="T1" fmla="*/ 272 h 272"/>
                <a:gd name="T2" fmla="*/ 2 w 329"/>
                <a:gd name="T3" fmla="*/ 247 h 272"/>
                <a:gd name="T4" fmla="*/ 5 w 329"/>
                <a:gd name="T5" fmla="*/ 222 h 272"/>
                <a:gd name="T6" fmla="*/ 9 w 329"/>
                <a:gd name="T7" fmla="*/ 197 h 272"/>
                <a:gd name="T8" fmla="*/ 16 w 329"/>
                <a:gd name="T9" fmla="*/ 172 h 272"/>
                <a:gd name="T10" fmla="*/ 23 w 329"/>
                <a:gd name="T11" fmla="*/ 148 h 272"/>
                <a:gd name="T12" fmla="*/ 31 w 329"/>
                <a:gd name="T13" fmla="*/ 126 h 272"/>
                <a:gd name="T14" fmla="*/ 42 w 329"/>
                <a:gd name="T15" fmla="*/ 105 h 272"/>
                <a:gd name="T16" fmla="*/ 54 w 329"/>
                <a:gd name="T17" fmla="*/ 85 h 272"/>
                <a:gd name="T18" fmla="*/ 66 w 329"/>
                <a:gd name="T19" fmla="*/ 67 h 272"/>
                <a:gd name="T20" fmla="*/ 79 w 329"/>
                <a:gd name="T21" fmla="*/ 50 h 272"/>
                <a:gd name="T22" fmla="*/ 93 w 329"/>
                <a:gd name="T23" fmla="*/ 36 h 272"/>
                <a:gd name="T24" fmla="*/ 108 w 329"/>
                <a:gd name="T25" fmla="*/ 23 h 272"/>
                <a:gd name="T26" fmla="*/ 124 w 329"/>
                <a:gd name="T27" fmla="*/ 14 h 272"/>
                <a:gd name="T28" fmla="*/ 139 w 329"/>
                <a:gd name="T29" fmla="*/ 5 h 272"/>
                <a:gd name="T30" fmla="*/ 154 w 329"/>
                <a:gd name="T31" fmla="*/ 1 h 272"/>
                <a:gd name="T32" fmla="*/ 170 w 329"/>
                <a:gd name="T33" fmla="*/ 0 h 272"/>
                <a:gd name="T34" fmla="*/ 182 w 329"/>
                <a:gd name="T35" fmla="*/ 1 h 272"/>
                <a:gd name="T36" fmla="*/ 195 w 329"/>
                <a:gd name="T37" fmla="*/ 4 h 272"/>
                <a:gd name="T38" fmla="*/ 207 w 329"/>
                <a:gd name="T39" fmla="*/ 8 h 272"/>
                <a:gd name="T40" fmla="*/ 220 w 329"/>
                <a:gd name="T41" fmla="*/ 15 h 272"/>
                <a:gd name="T42" fmla="*/ 231 w 329"/>
                <a:gd name="T43" fmla="*/ 22 h 272"/>
                <a:gd name="T44" fmla="*/ 242 w 329"/>
                <a:gd name="T45" fmla="*/ 32 h 272"/>
                <a:gd name="T46" fmla="*/ 265 w 329"/>
                <a:gd name="T47" fmla="*/ 56 h 272"/>
                <a:gd name="T48" fmla="*/ 286 w 329"/>
                <a:gd name="T49" fmla="*/ 84 h 272"/>
                <a:gd name="T50" fmla="*/ 303 w 329"/>
                <a:gd name="T51" fmla="*/ 114 h 272"/>
                <a:gd name="T52" fmla="*/ 318 w 329"/>
                <a:gd name="T53" fmla="*/ 149 h 272"/>
                <a:gd name="T54" fmla="*/ 329 w 329"/>
                <a:gd name="T55" fmla="*/ 187 h 27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29"/>
                <a:gd name="T85" fmla="*/ 0 h 272"/>
                <a:gd name="T86" fmla="*/ 329 w 329"/>
                <a:gd name="T87" fmla="*/ 272 h 27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29" h="272">
                  <a:moveTo>
                    <a:pt x="0" y="272"/>
                  </a:moveTo>
                  <a:lnTo>
                    <a:pt x="2" y="247"/>
                  </a:lnTo>
                  <a:lnTo>
                    <a:pt x="5" y="222"/>
                  </a:lnTo>
                  <a:lnTo>
                    <a:pt x="9" y="197"/>
                  </a:lnTo>
                  <a:lnTo>
                    <a:pt x="16" y="172"/>
                  </a:lnTo>
                  <a:lnTo>
                    <a:pt x="23" y="148"/>
                  </a:lnTo>
                  <a:lnTo>
                    <a:pt x="31" y="126"/>
                  </a:lnTo>
                  <a:lnTo>
                    <a:pt x="42" y="105"/>
                  </a:lnTo>
                  <a:lnTo>
                    <a:pt x="54" y="85"/>
                  </a:lnTo>
                  <a:lnTo>
                    <a:pt x="66" y="67"/>
                  </a:lnTo>
                  <a:lnTo>
                    <a:pt x="79" y="50"/>
                  </a:lnTo>
                  <a:lnTo>
                    <a:pt x="93" y="36"/>
                  </a:lnTo>
                  <a:lnTo>
                    <a:pt x="108" y="23"/>
                  </a:lnTo>
                  <a:lnTo>
                    <a:pt x="124" y="14"/>
                  </a:lnTo>
                  <a:lnTo>
                    <a:pt x="139" y="5"/>
                  </a:lnTo>
                  <a:lnTo>
                    <a:pt x="154" y="1"/>
                  </a:lnTo>
                  <a:lnTo>
                    <a:pt x="170" y="0"/>
                  </a:lnTo>
                  <a:lnTo>
                    <a:pt x="182" y="1"/>
                  </a:lnTo>
                  <a:lnTo>
                    <a:pt x="195" y="4"/>
                  </a:lnTo>
                  <a:lnTo>
                    <a:pt x="207" y="8"/>
                  </a:lnTo>
                  <a:lnTo>
                    <a:pt x="220" y="15"/>
                  </a:lnTo>
                  <a:lnTo>
                    <a:pt x="231" y="22"/>
                  </a:lnTo>
                  <a:lnTo>
                    <a:pt x="242" y="32"/>
                  </a:lnTo>
                  <a:lnTo>
                    <a:pt x="265" y="56"/>
                  </a:lnTo>
                  <a:lnTo>
                    <a:pt x="286" y="84"/>
                  </a:lnTo>
                  <a:lnTo>
                    <a:pt x="303" y="114"/>
                  </a:lnTo>
                  <a:lnTo>
                    <a:pt x="318" y="149"/>
                  </a:lnTo>
                  <a:lnTo>
                    <a:pt x="329" y="187"/>
                  </a:lnTo>
                </a:path>
              </a:pathLst>
            </a:custGeom>
            <a:noFill/>
            <a:ln w="19050">
              <a:solidFill>
                <a:srgbClr val="000000"/>
              </a:solidFill>
              <a:round/>
              <a:headEnd/>
              <a:tailEnd type="none" w="lg" len="med"/>
            </a:ln>
          </p:spPr>
          <p:txBody>
            <a:bodyPr>
              <a:prstTxWarp prst="textNoShape">
                <a:avLst/>
              </a:prstTxWarp>
            </a:bodyPr>
            <a:lstStyle/>
            <a:p>
              <a:endParaRPr lang="en-US"/>
            </a:p>
          </p:txBody>
        </p:sp>
        <p:sp>
          <p:nvSpPr>
            <p:cNvPr id="48221" name="Freeform 36"/>
            <p:cNvSpPr>
              <a:spLocks/>
            </p:cNvSpPr>
            <p:nvPr/>
          </p:nvSpPr>
          <p:spPr bwMode="auto">
            <a:xfrm>
              <a:off x="5283" y="1075"/>
              <a:ext cx="88" cy="93"/>
            </a:xfrm>
            <a:custGeom>
              <a:avLst/>
              <a:gdLst>
                <a:gd name="T0" fmla="*/ 0 w 88"/>
                <a:gd name="T1" fmla="*/ 11 h 93"/>
                <a:gd name="T2" fmla="*/ 54 w 88"/>
                <a:gd name="T3" fmla="*/ 93 h 93"/>
                <a:gd name="T4" fmla="*/ 88 w 88"/>
                <a:gd name="T5" fmla="*/ 0 h 93"/>
                <a:gd name="T6" fmla="*/ 0 w 88"/>
                <a:gd name="T7" fmla="*/ 11 h 93"/>
                <a:gd name="T8" fmla="*/ 0 60000 65536"/>
                <a:gd name="T9" fmla="*/ 0 60000 65536"/>
                <a:gd name="T10" fmla="*/ 0 60000 65536"/>
                <a:gd name="T11" fmla="*/ 0 60000 65536"/>
                <a:gd name="T12" fmla="*/ 0 w 88"/>
                <a:gd name="T13" fmla="*/ 0 h 93"/>
                <a:gd name="T14" fmla="*/ 88 w 88"/>
                <a:gd name="T15" fmla="*/ 93 h 93"/>
              </a:gdLst>
              <a:ahLst/>
              <a:cxnLst>
                <a:cxn ang="T8">
                  <a:pos x="T0" y="T1"/>
                </a:cxn>
                <a:cxn ang="T9">
                  <a:pos x="T2" y="T3"/>
                </a:cxn>
                <a:cxn ang="T10">
                  <a:pos x="T4" y="T5"/>
                </a:cxn>
                <a:cxn ang="T11">
                  <a:pos x="T6" y="T7"/>
                </a:cxn>
              </a:cxnLst>
              <a:rect l="T12" t="T13" r="T14" b="T15"/>
              <a:pathLst>
                <a:path w="88" h="93">
                  <a:moveTo>
                    <a:pt x="0" y="11"/>
                  </a:moveTo>
                  <a:lnTo>
                    <a:pt x="54" y="93"/>
                  </a:lnTo>
                  <a:lnTo>
                    <a:pt x="88" y="0"/>
                  </a:lnTo>
                  <a:lnTo>
                    <a:pt x="0" y="11"/>
                  </a:lnTo>
                  <a:close/>
                </a:path>
              </a:pathLst>
            </a:custGeom>
            <a:solidFill>
              <a:srgbClr val="000000"/>
            </a:solidFill>
            <a:ln w="19050">
              <a:noFill/>
              <a:round/>
              <a:headEnd/>
              <a:tailEnd/>
            </a:ln>
          </p:spPr>
          <p:txBody>
            <a:bodyPr>
              <a:prstTxWarp prst="textNoShape">
                <a:avLst/>
              </a:prstTxWarp>
            </a:bodyPr>
            <a:lstStyle/>
            <a:p>
              <a:endParaRPr lang="en-US"/>
            </a:p>
          </p:txBody>
        </p:sp>
      </p:grpSp>
      <p:sp>
        <p:nvSpPr>
          <p:cNvPr id="48149" name="Rectangle 37"/>
          <p:cNvSpPr>
            <a:spLocks noChangeArrowheads="1"/>
          </p:cNvSpPr>
          <p:nvPr/>
        </p:nvSpPr>
        <p:spPr bwMode="auto">
          <a:xfrm>
            <a:off x="2838450" y="1943101"/>
            <a:ext cx="427038" cy="385763"/>
          </a:xfrm>
          <a:prstGeom prst="rect">
            <a:avLst/>
          </a:prstGeom>
          <a:noFill/>
          <a:ln w="19050">
            <a:noFill/>
            <a:miter lim="800000"/>
            <a:headEnd/>
            <a:tailEnd/>
          </a:ln>
        </p:spPr>
        <p:txBody>
          <a:bodyPr>
            <a:prstTxWarp prst="textNoShape">
              <a:avLst/>
            </a:prstTxWarp>
          </a:bodyPr>
          <a:lstStyle/>
          <a:p>
            <a:endParaRPr lang="en-US"/>
          </a:p>
        </p:txBody>
      </p:sp>
      <p:grpSp>
        <p:nvGrpSpPr>
          <p:cNvPr id="10" name="Group 38"/>
          <p:cNvGrpSpPr>
            <a:grpSpLocks/>
          </p:cNvGrpSpPr>
          <p:nvPr/>
        </p:nvGrpSpPr>
        <p:grpSpPr bwMode="auto">
          <a:xfrm>
            <a:off x="7269164" y="2044700"/>
            <a:ext cx="746125" cy="139700"/>
            <a:chOff x="3516" y="1185"/>
            <a:chExt cx="470" cy="88"/>
          </a:xfrm>
        </p:grpSpPr>
        <p:sp>
          <p:nvSpPr>
            <p:cNvPr id="48218" name="Line 39"/>
            <p:cNvSpPr>
              <a:spLocks noChangeShapeType="1"/>
            </p:cNvSpPr>
            <p:nvPr/>
          </p:nvSpPr>
          <p:spPr bwMode="auto">
            <a:xfrm>
              <a:off x="3516" y="1228"/>
              <a:ext cx="386" cy="1"/>
            </a:xfrm>
            <a:prstGeom prst="line">
              <a:avLst/>
            </a:prstGeom>
            <a:noFill/>
            <a:ln w="19050">
              <a:solidFill>
                <a:srgbClr val="000000"/>
              </a:solidFill>
              <a:round/>
              <a:headEnd/>
              <a:tailEnd type="none" w="lg" len="med"/>
            </a:ln>
          </p:spPr>
          <p:txBody>
            <a:bodyPr>
              <a:prstTxWarp prst="textNoShape">
                <a:avLst/>
              </a:prstTxWarp>
            </a:bodyPr>
            <a:lstStyle/>
            <a:p>
              <a:endParaRPr lang="en-US"/>
            </a:p>
          </p:txBody>
        </p:sp>
        <p:sp>
          <p:nvSpPr>
            <p:cNvPr id="48219" name="Freeform 40"/>
            <p:cNvSpPr>
              <a:spLocks/>
            </p:cNvSpPr>
            <p:nvPr/>
          </p:nvSpPr>
          <p:spPr bwMode="auto">
            <a:xfrm>
              <a:off x="3900" y="1185"/>
              <a:ext cx="86" cy="88"/>
            </a:xfrm>
            <a:custGeom>
              <a:avLst/>
              <a:gdLst>
                <a:gd name="T0" fmla="*/ 0 w 86"/>
                <a:gd name="T1" fmla="*/ 88 h 88"/>
                <a:gd name="T2" fmla="*/ 86 w 86"/>
                <a:gd name="T3" fmla="*/ 45 h 88"/>
                <a:gd name="T4" fmla="*/ 0 w 86"/>
                <a:gd name="T5" fmla="*/ 0 h 88"/>
                <a:gd name="T6" fmla="*/ 0 w 86"/>
                <a:gd name="T7" fmla="*/ 88 h 88"/>
                <a:gd name="T8" fmla="*/ 0 60000 65536"/>
                <a:gd name="T9" fmla="*/ 0 60000 65536"/>
                <a:gd name="T10" fmla="*/ 0 60000 65536"/>
                <a:gd name="T11" fmla="*/ 0 60000 65536"/>
                <a:gd name="T12" fmla="*/ 0 w 86"/>
                <a:gd name="T13" fmla="*/ 0 h 88"/>
                <a:gd name="T14" fmla="*/ 86 w 86"/>
                <a:gd name="T15" fmla="*/ 88 h 88"/>
              </a:gdLst>
              <a:ahLst/>
              <a:cxnLst>
                <a:cxn ang="T8">
                  <a:pos x="T0" y="T1"/>
                </a:cxn>
                <a:cxn ang="T9">
                  <a:pos x="T2" y="T3"/>
                </a:cxn>
                <a:cxn ang="T10">
                  <a:pos x="T4" y="T5"/>
                </a:cxn>
                <a:cxn ang="T11">
                  <a:pos x="T6" y="T7"/>
                </a:cxn>
              </a:cxnLst>
              <a:rect l="T12" t="T13" r="T14" b="T15"/>
              <a:pathLst>
                <a:path w="86" h="88">
                  <a:moveTo>
                    <a:pt x="0" y="88"/>
                  </a:moveTo>
                  <a:lnTo>
                    <a:pt x="86" y="45"/>
                  </a:lnTo>
                  <a:lnTo>
                    <a:pt x="0" y="0"/>
                  </a:lnTo>
                  <a:lnTo>
                    <a:pt x="0" y="88"/>
                  </a:lnTo>
                  <a:close/>
                </a:path>
              </a:pathLst>
            </a:custGeom>
            <a:solidFill>
              <a:srgbClr val="000000"/>
            </a:solidFill>
            <a:ln w="19050">
              <a:noFill/>
              <a:round/>
              <a:headEnd/>
              <a:tailEnd/>
            </a:ln>
          </p:spPr>
          <p:txBody>
            <a:bodyPr>
              <a:prstTxWarp prst="textNoShape">
                <a:avLst/>
              </a:prstTxWarp>
            </a:bodyPr>
            <a:lstStyle/>
            <a:p>
              <a:endParaRPr lang="en-US"/>
            </a:p>
          </p:txBody>
        </p:sp>
      </p:grpSp>
      <p:grpSp>
        <p:nvGrpSpPr>
          <p:cNvPr id="11" name="Group 41"/>
          <p:cNvGrpSpPr>
            <a:grpSpLocks/>
          </p:cNvGrpSpPr>
          <p:nvPr/>
        </p:nvGrpSpPr>
        <p:grpSpPr bwMode="auto">
          <a:xfrm>
            <a:off x="7056438" y="2578100"/>
            <a:ext cx="1173162" cy="139700"/>
            <a:chOff x="3382" y="1521"/>
            <a:chExt cx="739" cy="88"/>
          </a:xfrm>
        </p:grpSpPr>
        <p:sp>
          <p:nvSpPr>
            <p:cNvPr id="48216" name="Line 42"/>
            <p:cNvSpPr>
              <a:spLocks noChangeShapeType="1"/>
            </p:cNvSpPr>
            <p:nvPr/>
          </p:nvSpPr>
          <p:spPr bwMode="auto">
            <a:xfrm flipH="1">
              <a:off x="3466" y="1564"/>
              <a:ext cx="655" cy="1"/>
            </a:xfrm>
            <a:prstGeom prst="line">
              <a:avLst/>
            </a:prstGeom>
            <a:noFill/>
            <a:ln w="19050">
              <a:solidFill>
                <a:srgbClr val="000000"/>
              </a:solidFill>
              <a:round/>
              <a:headEnd/>
              <a:tailEnd type="none" w="lg" len="med"/>
            </a:ln>
          </p:spPr>
          <p:txBody>
            <a:bodyPr>
              <a:prstTxWarp prst="textNoShape">
                <a:avLst/>
              </a:prstTxWarp>
            </a:bodyPr>
            <a:lstStyle/>
            <a:p>
              <a:endParaRPr lang="en-US"/>
            </a:p>
          </p:txBody>
        </p:sp>
        <p:sp>
          <p:nvSpPr>
            <p:cNvPr id="48217" name="Freeform 43"/>
            <p:cNvSpPr>
              <a:spLocks/>
            </p:cNvSpPr>
            <p:nvPr/>
          </p:nvSpPr>
          <p:spPr bwMode="auto">
            <a:xfrm>
              <a:off x="3382" y="1521"/>
              <a:ext cx="88" cy="88"/>
            </a:xfrm>
            <a:custGeom>
              <a:avLst/>
              <a:gdLst>
                <a:gd name="T0" fmla="*/ 88 w 88"/>
                <a:gd name="T1" fmla="*/ 0 h 88"/>
                <a:gd name="T2" fmla="*/ 0 w 88"/>
                <a:gd name="T3" fmla="*/ 45 h 88"/>
                <a:gd name="T4" fmla="*/ 88 w 88"/>
                <a:gd name="T5" fmla="*/ 88 h 88"/>
                <a:gd name="T6" fmla="*/ 88 w 88"/>
                <a:gd name="T7" fmla="*/ 0 h 88"/>
                <a:gd name="T8" fmla="*/ 0 60000 65536"/>
                <a:gd name="T9" fmla="*/ 0 60000 65536"/>
                <a:gd name="T10" fmla="*/ 0 60000 65536"/>
                <a:gd name="T11" fmla="*/ 0 60000 65536"/>
                <a:gd name="T12" fmla="*/ 0 w 88"/>
                <a:gd name="T13" fmla="*/ 0 h 88"/>
                <a:gd name="T14" fmla="*/ 88 w 88"/>
                <a:gd name="T15" fmla="*/ 88 h 88"/>
              </a:gdLst>
              <a:ahLst/>
              <a:cxnLst>
                <a:cxn ang="T8">
                  <a:pos x="T0" y="T1"/>
                </a:cxn>
                <a:cxn ang="T9">
                  <a:pos x="T2" y="T3"/>
                </a:cxn>
                <a:cxn ang="T10">
                  <a:pos x="T4" y="T5"/>
                </a:cxn>
                <a:cxn ang="T11">
                  <a:pos x="T6" y="T7"/>
                </a:cxn>
              </a:cxnLst>
              <a:rect l="T12" t="T13" r="T14" b="T15"/>
              <a:pathLst>
                <a:path w="88" h="88">
                  <a:moveTo>
                    <a:pt x="88" y="0"/>
                  </a:moveTo>
                  <a:lnTo>
                    <a:pt x="0" y="45"/>
                  </a:lnTo>
                  <a:lnTo>
                    <a:pt x="88" y="88"/>
                  </a:lnTo>
                  <a:lnTo>
                    <a:pt x="88" y="0"/>
                  </a:lnTo>
                  <a:close/>
                </a:path>
              </a:pathLst>
            </a:custGeom>
            <a:solidFill>
              <a:srgbClr val="000000"/>
            </a:solidFill>
            <a:ln w="19050">
              <a:noFill/>
              <a:round/>
              <a:headEnd/>
              <a:tailEnd/>
            </a:ln>
          </p:spPr>
          <p:txBody>
            <a:bodyPr>
              <a:prstTxWarp prst="textNoShape">
                <a:avLst/>
              </a:prstTxWarp>
            </a:bodyPr>
            <a:lstStyle/>
            <a:p>
              <a:endParaRPr lang="en-US"/>
            </a:p>
          </p:txBody>
        </p:sp>
      </p:grpSp>
      <p:grpSp>
        <p:nvGrpSpPr>
          <p:cNvPr id="12" name="Group 44"/>
          <p:cNvGrpSpPr>
            <a:grpSpLocks/>
          </p:cNvGrpSpPr>
          <p:nvPr/>
        </p:nvGrpSpPr>
        <p:grpSpPr bwMode="auto">
          <a:xfrm>
            <a:off x="8761414" y="2044700"/>
            <a:ext cx="746125" cy="139700"/>
            <a:chOff x="4456" y="1185"/>
            <a:chExt cx="470" cy="88"/>
          </a:xfrm>
        </p:grpSpPr>
        <p:sp>
          <p:nvSpPr>
            <p:cNvPr id="48214" name="Line 45"/>
            <p:cNvSpPr>
              <a:spLocks noChangeShapeType="1"/>
            </p:cNvSpPr>
            <p:nvPr/>
          </p:nvSpPr>
          <p:spPr bwMode="auto">
            <a:xfrm>
              <a:off x="4456" y="1228"/>
              <a:ext cx="386" cy="1"/>
            </a:xfrm>
            <a:prstGeom prst="line">
              <a:avLst/>
            </a:prstGeom>
            <a:noFill/>
            <a:ln w="19050">
              <a:solidFill>
                <a:srgbClr val="000000"/>
              </a:solidFill>
              <a:round/>
              <a:headEnd/>
              <a:tailEnd type="none" w="lg" len="med"/>
            </a:ln>
          </p:spPr>
          <p:txBody>
            <a:bodyPr>
              <a:prstTxWarp prst="textNoShape">
                <a:avLst/>
              </a:prstTxWarp>
            </a:bodyPr>
            <a:lstStyle/>
            <a:p>
              <a:endParaRPr lang="en-US"/>
            </a:p>
          </p:txBody>
        </p:sp>
        <p:sp>
          <p:nvSpPr>
            <p:cNvPr id="48215" name="Freeform 46"/>
            <p:cNvSpPr>
              <a:spLocks/>
            </p:cNvSpPr>
            <p:nvPr/>
          </p:nvSpPr>
          <p:spPr bwMode="auto">
            <a:xfrm>
              <a:off x="4839" y="1185"/>
              <a:ext cx="87" cy="88"/>
            </a:xfrm>
            <a:custGeom>
              <a:avLst/>
              <a:gdLst>
                <a:gd name="T0" fmla="*/ 0 w 87"/>
                <a:gd name="T1" fmla="*/ 88 h 88"/>
                <a:gd name="T2" fmla="*/ 87 w 87"/>
                <a:gd name="T3" fmla="*/ 45 h 88"/>
                <a:gd name="T4" fmla="*/ 0 w 87"/>
                <a:gd name="T5" fmla="*/ 0 h 88"/>
                <a:gd name="T6" fmla="*/ 0 w 87"/>
                <a:gd name="T7" fmla="*/ 88 h 88"/>
                <a:gd name="T8" fmla="*/ 0 60000 65536"/>
                <a:gd name="T9" fmla="*/ 0 60000 65536"/>
                <a:gd name="T10" fmla="*/ 0 60000 65536"/>
                <a:gd name="T11" fmla="*/ 0 60000 65536"/>
                <a:gd name="T12" fmla="*/ 0 w 87"/>
                <a:gd name="T13" fmla="*/ 0 h 88"/>
                <a:gd name="T14" fmla="*/ 87 w 87"/>
                <a:gd name="T15" fmla="*/ 88 h 88"/>
              </a:gdLst>
              <a:ahLst/>
              <a:cxnLst>
                <a:cxn ang="T8">
                  <a:pos x="T0" y="T1"/>
                </a:cxn>
                <a:cxn ang="T9">
                  <a:pos x="T2" y="T3"/>
                </a:cxn>
                <a:cxn ang="T10">
                  <a:pos x="T4" y="T5"/>
                </a:cxn>
                <a:cxn ang="T11">
                  <a:pos x="T6" y="T7"/>
                </a:cxn>
              </a:cxnLst>
              <a:rect l="T12" t="T13" r="T14" b="T15"/>
              <a:pathLst>
                <a:path w="87" h="88">
                  <a:moveTo>
                    <a:pt x="0" y="88"/>
                  </a:moveTo>
                  <a:lnTo>
                    <a:pt x="87" y="45"/>
                  </a:lnTo>
                  <a:lnTo>
                    <a:pt x="0" y="0"/>
                  </a:lnTo>
                  <a:lnTo>
                    <a:pt x="0" y="88"/>
                  </a:lnTo>
                  <a:close/>
                </a:path>
              </a:pathLst>
            </a:custGeom>
            <a:solidFill>
              <a:srgbClr val="000000"/>
            </a:solidFill>
            <a:ln w="19050">
              <a:noFill/>
              <a:round/>
              <a:headEnd/>
              <a:tailEnd/>
            </a:ln>
          </p:spPr>
          <p:txBody>
            <a:bodyPr>
              <a:prstTxWarp prst="textNoShape">
                <a:avLst/>
              </a:prstTxWarp>
            </a:bodyPr>
            <a:lstStyle/>
            <a:p>
              <a:endParaRPr lang="en-US"/>
            </a:p>
          </p:txBody>
        </p:sp>
      </p:grpSp>
      <p:grpSp>
        <p:nvGrpSpPr>
          <p:cNvPr id="13" name="Group 47"/>
          <p:cNvGrpSpPr>
            <a:grpSpLocks/>
          </p:cNvGrpSpPr>
          <p:nvPr/>
        </p:nvGrpSpPr>
        <p:grpSpPr bwMode="auto">
          <a:xfrm>
            <a:off x="8548689" y="2578100"/>
            <a:ext cx="1171575" cy="139700"/>
            <a:chOff x="4322" y="1521"/>
            <a:chExt cx="738" cy="88"/>
          </a:xfrm>
        </p:grpSpPr>
        <p:sp>
          <p:nvSpPr>
            <p:cNvPr id="48212" name="Line 48"/>
            <p:cNvSpPr>
              <a:spLocks noChangeShapeType="1"/>
            </p:cNvSpPr>
            <p:nvPr/>
          </p:nvSpPr>
          <p:spPr bwMode="auto">
            <a:xfrm flipH="1">
              <a:off x="4406" y="1564"/>
              <a:ext cx="654" cy="1"/>
            </a:xfrm>
            <a:prstGeom prst="line">
              <a:avLst/>
            </a:prstGeom>
            <a:noFill/>
            <a:ln w="19050">
              <a:solidFill>
                <a:srgbClr val="000000"/>
              </a:solidFill>
              <a:round/>
              <a:headEnd/>
              <a:tailEnd type="none" w="lg" len="med"/>
            </a:ln>
          </p:spPr>
          <p:txBody>
            <a:bodyPr>
              <a:prstTxWarp prst="textNoShape">
                <a:avLst/>
              </a:prstTxWarp>
            </a:bodyPr>
            <a:lstStyle/>
            <a:p>
              <a:endParaRPr lang="en-US"/>
            </a:p>
          </p:txBody>
        </p:sp>
        <p:sp>
          <p:nvSpPr>
            <p:cNvPr id="48213" name="Freeform 49"/>
            <p:cNvSpPr>
              <a:spLocks/>
            </p:cNvSpPr>
            <p:nvPr/>
          </p:nvSpPr>
          <p:spPr bwMode="auto">
            <a:xfrm>
              <a:off x="4322" y="1521"/>
              <a:ext cx="88" cy="88"/>
            </a:xfrm>
            <a:custGeom>
              <a:avLst/>
              <a:gdLst>
                <a:gd name="T0" fmla="*/ 88 w 88"/>
                <a:gd name="T1" fmla="*/ 0 h 88"/>
                <a:gd name="T2" fmla="*/ 0 w 88"/>
                <a:gd name="T3" fmla="*/ 45 h 88"/>
                <a:gd name="T4" fmla="*/ 88 w 88"/>
                <a:gd name="T5" fmla="*/ 88 h 88"/>
                <a:gd name="T6" fmla="*/ 88 w 88"/>
                <a:gd name="T7" fmla="*/ 0 h 88"/>
                <a:gd name="T8" fmla="*/ 0 60000 65536"/>
                <a:gd name="T9" fmla="*/ 0 60000 65536"/>
                <a:gd name="T10" fmla="*/ 0 60000 65536"/>
                <a:gd name="T11" fmla="*/ 0 60000 65536"/>
                <a:gd name="T12" fmla="*/ 0 w 88"/>
                <a:gd name="T13" fmla="*/ 0 h 88"/>
                <a:gd name="T14" fmla="*/ 88 w 88"/>
                <a:gd name="T15" fmla="*/ 88 h 88"/>
              </a:gdLst>
              <a:ahLst/>
              <a:cxnLst>
                <a:cxn ang="T8">
                  <a:pos x="T0" y="T1"/>
                </a:cxn>
                <a:cxn ang="T9">
                  <a:pos x="T2" y="T3"/>
                </a:cxn>
                <a:cxn ang="T10">
                  <a:pos x="T4" y="T5"/>
                </a:cxn>
                <a:cxn ang="T11">
                  <a:pos x="T6" y="T7"/>
                </a:cxn>
              </a:cxnLst>
              <a:rect l="T12" t="T13" r="T14" b="T15"/>
              <a:pathLst>
                <a:path w="88" h="88">
                  <a:moveTo>
                    <a:pt x="88" y="0"/>
                  </a:moveTo>
                  <a:lnTo>
                    <a:pt x="0" y="45"/>
                  </a:lnTo>
                  <a:lnTo>
                    <a:pt x="88" y="88"/>
                  </a:lnTo>
                  <a:lnTo>
                    <a:pt x="88" y="0"/>
                  </a:lnTo>
                  <a:close/>
                </a:path>
              </a:pathLst>
            </a:custGeom>
            <a:solidFill>
              <a:srgbClr val="000000"/>
            </a:solidFill>
            <a:ln w="19050">
              <a:noFill/>
              <a:round/>
              <a:headEnd/>
              <a:tailEnd/>
            </a:ln>
          </p:spPr>
          <p:txBody>
            <a:bodyPr>
              <a:prstTxWarp prst="textNoShape">
                <a:avLst/>
              </a:prstTxWarp>
            </a:bodyPr>
            <a:lstStyle/>
            <a:p>
              <a:endParaRPr lang="en-US"/>
            </a:p>
          </p:txBody>
        </p:sp>
      </p:grpSp>
      <p:sp>
        <p:nvSpPr>
          <p:cNvPr id="48154" name="Rectangle 50"/>
          <p:cNvSpPr>
            <a:spLocks noChangeArrowheads="1"/>
          </p:cNvSpPr>
          <p:nvPr/>
        </p:nvSpPr>
        <p:spPr bwMode="auto">
          <a:xfrm>
            <a:off x="5935663" y="1687513"/>
            <a:ext cx="425450" cy="385762"/>
          </a:xfrm>
          <a:prstGeom prst="rect">
            <a:avLst/>
          </a:prstGeom>
          <a:noFill/>
          <a:ln w="19050">
            <a:noFill/>
            <a:miter lim="800000"/>
            <a:headEnd/>
            <a:tailEnd/>
          </a:ln>
        </p:spPr>
        <p:txBody>
          <a:bodyPr>
            <a:prstTxWarp prst="textNoShape">
              <a:avLst/>
            </a:prstTxWarp>
          </a:bodyPr>
          <a:lstStyle/>
          <a:p>
            <a:endParaRPr lang="en-US"/>
          </a:p>
        </p:txBody>
      </p:sp>
      <p:sp>
        <p:nvSpPr>
          <p:cNvPr id="48155" name="Rectangle 51"/>
          <p:cNvSpPr>
            <a:spLocks noChangeArrowheads="1"/>
          </p:cNvSpPr>
          <p:nvPr/>
        </p:nvSpPr>
        <p:spPr bwMode="auto">
          <a:xfrm>
            <a:off x="7321550" y="1687513"/>
            <a:ext cx="425450" cy="385762"/>
          </a:xfrm>
          <a:prstGeom prst="rect">
            <a:avLst/>
          </a:prstGeom>
          <a:noFill/>
          <a:ln w="19050">
            <a:noFill/>
            <a:miter lim="800000"/>
            <a:headEnd/>
            <a:tailEnd/>
          </a:ln>
        </p:spPr>
        <p:txBody>
          <a:bodyPr>
            <a:prstTxWarp prst="textNoShape">
              <a:avLst/>
            </a:prstTxWarp>
          </a:bodyPr>
          <a:lstStyle/>
          <a:p>
            <a:endParaRPr lang="en-US"/>
          </a:p>
        </p:txBody>
      </p:sp>
      <p:sp>
        <p:nvSpPr>
          <p:cNvPr id="48156" name="Rectangle 52"/>
          <p:cNvSpPr>
            <a:spLocks noChangeArrowheads="1"/>
          </p:cNvSpPr>
          <p:nvPr/>
        </p:nvSpPr>
        <p:spPr bwMode="auto">
          <a:xfrm>
            <a:off x="8812214" y="1687513"/>
            <a:ext cx="427037" cy="385762"/>
          </a:xfrm>
          <a:prstGeom prst="rect">
            <a:avLst/>
          </a:prstGeom>
          <a:noFill/>
          <a:ln w="19050">
            <a:noFill/>
            <a:miter lim="800000"/>
            <a:headEnd/>
            <a:tailEnd/>
          </a:ln>
        </p:spPr>
        <p:txBody>
          <a:bodyPr>
            <a:prstTxWarp prst="textNoShape">
              <a:avLst/>
            </a:prstTxWarp>
          </a:bodyPr>
          <a:lstStyle/>
          <a:p>
            <a:endParaRPr lang="en-US"/>
          </a:p>
        </p:txBody>
      </p:sp>
      <p:sp>
        <p:nvSpPr>
          <p:cNvPr id="48157" name="Rectangle 53"/>
          <p:cNvSpPr>
            <a:spLocks noChangeArrowheads="1"/>
          </p:cNvSpPr>
          <p:nvPr/>
        </p:nvSpPr>
        <p:spPr bwMode="auto">
          <a:xfrm>
            <a:off x="7531101" y="2220913"/>
            <a:ext cx="536575" cy="385762"/>
          </a:xfrm>
          <a:prstGeom prst="rect">
            <a:avLst/>
          </a:prstGeom>
          <a:noFill/>
          <a:ln w="19050">
            <a:noFill/>
            <a:miter lim="800000"/>
            <a:headEnd/>
            <a:tailEnd/>
          </a:ln>
        </p:spPr>
        <p:txBody>
          <a:bodyPr>
            <a:prstTxWarp prst="textNoShape">
              <a:avLst/>
            </a:prstTxWarp>
          </a:bodyPr>
          <a:lstStyle/>
          <a:p>
            <a:endParaRPr lang="en-US"/>
          </a:p>
        </p:txBody>
      </p:sp>
      <p:sp>
        <p:nvSpPr>
          <p:cNvPr id="48158" name="Rectangle 54"/>
          <p:cNvSpPr>
            <a:spLocks noChangeArrowheads="1"/>
          </p:cNvSpPr>
          <p:nvPr/>
        </p:nvSpPr>
        <p:spPr bwMode="auto">
          <a:xfrm>
            <a:off x="9023350" y="2220913"/>
            <a:ext cx="534988" cy="385762"/>
          </a:xfrm>
          <a:prstGeom prst="rect">
            <a:avLst/>
          </a:prstGeom>
          <a:noFill/>
          <a:ln w="19050">
            <a:noFill/>
            <a:miter lim="800000"/>
            <a:headEnd/>
            <a:tailEnd/>
          </a:ln>
        </p:spPr>
        <p:txBody>
          <a:bodyPr>
            <a:prstTxWarp prst="textNoShape">
              <a:avLst/>
            </a:prstTxWarp>
          </a:bodyPr>
          <a:lstStyle/>
          <a:p>
            <a:endParaRPr lang="en-US"/>
          </a:p>
        </p:txBody>
      </p:sp>
      <p:sp>
        <p:nvSpPr>
          <p:cNvPr id="48159" name="Oval 55"/>
          <p:cNvSpPr>
            <a:spLocks noChangeArrowheads="1"/>
          </p:cNvSpPr>
          <p:nvPr/>
        </p:nvSpPr>
        <p:spPr bwMode="auto">
          <a:xfrm>
            <a:off x="2012950" y="1900238"/>
            <a:ext cx="768350" cy="768350"/>
          </a:xfrm>
          <a:prstGeom prst="ellipse">
            <a:avLst/>
          </a:prstGeom>
          <a:noFill/>
          <a:ln w="19050">
            <a:solidFill>
              <a:srgbClr val="000000"/>
            </a:solidFill>
            <a:round/>
            <a:headEnd/>
            <a:tailEnd/>
          </a:ln>
        </p:spPr>
        <p:txBody>
          <a:bodyPr>
            <a:prstTxWarp prst="textNoShape">
              <a:avLst/>
            </a:prstTxWarp>
          </a:bodyPr>
          <a:lstStyle/>
          <a:p>
            <a:endParaRPr lang="en-US"/>
          </a:p>
        </p:txBody>
      </p:sp>
      <p:sp>
        <p:nvSpPr>
          <p:cNvPr id="48160" name="Rectangle 56"/>
          <p:cNvSpPr>
            <a:spLocks noChangeArrowheads="1"/>
          </p:cNvSpPr>
          <p:nvPr/>
        </p:nvSpPr>
        <p:spPr bwMode="auto">
          <a:xfrm>
            <a:off x="1997076" y="2090738"/>
            <a:ext cx="798513" cy="387350"/>
          </a:xfrm>
          <a:prstGeom prst="rect">
            <a:avLst/>
          </a:prstGeom>
          <a:noFill/>
          <a:ln w="19050">
            <a:noFill/>
            <a:miter lim="800000"/>
            <a:headEnd/>
            <a:tailEnd/>
          </a:ln>
        </p:spPr>
        <p:txBody>
          <a:bodyPr>
            <a:prstTxWarp prst="textNoShape">
              <a:avLst/>
            </a:prstTxWarp>
          </a:bodyPr>
          <a:lstStyle/>
          <a:p>
            <a:endParaRPr lang="en-US"/>
          </a:p>
        </p:txBody>
      </p:sp>
      <p:sp>
        <p:nvSpPr>
          <p:cNvPr id="48161" name="Oval 57"/>
          <p:cNvSpPr>
            <a:spLocks noChangeArrowheads="1"/>
          </p:cNvSpPr>
          <p:nvPr/>
        </p:nvSpPr>
        <p:spPr bwMode="auto">
          <a:xfrm>
            <a:off x="2012950" y="1900238"/>
            <a:ext cx="768350" cy="768350"/>
          </a:xfrm>
          <a:prstGeom prst="ellipse">
            <a:avLst/>
          </a:prstGeom>
          <a:noFill/>
          <a:ln w="19050">
            <a:solidFill>
              <a:srgbClr val="000000"/>
            </a:solidFill>
            <a:round/>
            <a:headEnd/>
            <a:tailEnd/>
          </a:ln>
        </p:spPr>
        <p:txBody>
          <a:bodyPr>
            <a:prstTxWarp prst="textNoShape">
              <a:avLst/>
            </a:prstTxWarp>
          </a:bodyPr>
          <a:lstStyle/>
          <a:p>
            <a:endParaRPr lang="en-US"/>
          </a:p>
        </p:txBody>
      </p:sp>
      <p:sp>
        <p:nvSpPr>
          <p:cNvPr id="48162" name="Rectangle 58"/>
          <p:cNvSpPr>
            <a:spLocks noChangeArrowheads="1"/>
          </p:cNvSpPr>
          <p:nvPr/>
        </p:nvSpPr>
        <p:spPr bwMode="auto">
          <a:xfrm>
            <a:off x="1997076" y="2090738"/>
            <a:ext cx="798513" cy="387350"/>
          </a:xfrm>
          <a:prstGeom prst="rect">
            <a:avLst/>
          </a:prstGeom>
          <a:noFill/>
          <a:ln w="19050">
            <a:noFill/>
            <a:miter lim="800000"/>
            <a:headEnd/>
            <a:tailEnd/>
          </a:ln>
        </p:spPr>
        <p:txBody>
          <a:bodyPr>
            <a:prstTxWarp prst="textNoShape">
              <a:avLst/>
            </a:prstTxWarp>
          </a:bodyPr>
          <a:lstStyle/>
          <a:p>
            <a:endParaRPr lang="en-US"/>
          </a:p>
        </p:txBody>
      </p:sp>
      <p:sp>
        <p:nvSpPr>
          <p:cNvPr id="48163" name="Rectangle 59"/>
          <p:cNvSpPr>
            <a:spLocks noChangeArrowheads="1"/>
          </p:cNvSpPr>
          <p:nvPr/>
        </p:nvSpPr>
        <p:spPr bwMode="auto">
          <a:xfrm>
            <a:off x="2084389" y="2144713"/>
            <a:ext cx="606425" cy="304800"/>
          </a:xfrm>
          <a:prstGeom prst="rect">
            <a:avLst/>
          </a:prstGeom>
          <a:noFill/>
          <a:ln w="19050">
            <a:noFill/>
            <a:miter lim="800000"/>
            <a:headEnd/>
            <a:tailEnd/>
          </a:ln>
        </p:spPr>
        <p:txBody>
          <a:bodyPr wrap="none" lIns="0" tIns="0" rIns="0" bIns="0">
            <a:prstTxWarp prst="textNoShape">
              <a:avLst/>
            </a:prstTxWarp>
            <a:spAutoFit/>
          </a:bodyPr>
          <a:lstStyle/>
          <a:p>
            <a:r>
              <a:rPr lang="en-US" sz="2000" b="1">
                <a:solidFill>
                  <a:srgbClr val="000000"/>
                </a:solidFill>
                <a:latin typeface="Times New Roman" charset="0"/>
              </a:rPr>
              <a:t>Seeds</a:t>
            </a:r>
            <a:endParaRPr lang="en-US" sz="2000" b="1">
              <a:latin typeface="Times New Roman" charset="0"/>
            </a:endParaRPr>
          </a:p>
        </p:txBody>
      </p:sp>
      <p:sp>
        <p:nvSpPr>
          <p:cNvPr id="48164" name="Oval 60"/>
          <p:cNvSpPr>
            <a:spLocks noChangeArrowheads="1"/>
          </p:cNvSpPr>
          <p:nvPr/>
        </p:nvSpPr>
        <p:spPr bwMode="auto">
          <a:xfrm>
            <a:off x="3522663" y="1900238"/>
            <a:ext cx="768350" cy="768350"/>
          </a:xfrm>
          <a:prstGeom prst="ellipse">
            <a:avLst/>
          </a:prstGeom>
          <a:noFill/>
          <a:ln w="19050">
            <a:solidFill>
              <a:srgbClr val="000000"/>
            </a:solidFill>
            <a:round/>
            <a:headEnd/>
            <a:tailEnd/>
          </a:ln>
        </p:spPr>
        <p:txBody>
          <a:bodyPr>
            <a:prstTxWarp prst="textNoShape">
              <a:avLst/>
            </a:prstTxWarp>
          </a:bodyPr>
          <a:lstStyle/>
          <a:p>
            <a:endParaRPr lang="en-US"/>
          </a:p>
        </p:txBody>
      </p:sp>
      <p:sp>
        <p:nvSpPr>
          <p:cNvPr id="48165" name="Rectangle 61"/>
          <p:cNvSpPr>
            <a:spLocks noChangeArrowheads="1"/>
          </p:cNvSpPr>
          <p:nvPr/>
        </p:nvSpPr>
        <p:spPr bwMode="auto">
          <a:xfrm>
            <a:off x="3595688" y="2090738"/>
            <a:ext cx="622300" cy="387350"/>
          </a:xfrm>
          <a:prstGeom prst="rect">
            <a:avLst/>
          </a:prstGeom>
          <a:noFill/>
          <a:ln w="19050">
            <a:noFill/>
            <a:miter lim="800000"/>
            <a:headEnd/>
            <a:tailEnd/>
          </a:ln>
        </p:spPr>
        <p:txBody>
          <a:bodyPr>
            <a:prstTxWarp prst="textNoShape">
              <a:avLst/>
            </a:prstTxWarp>
          </a:bodyPr>
          <a:lstStyle/>
          <a:p>
            <a:endParaRPr lang="en-US"/>
          </a:p>
        </p:txBody>
      </p:sp>
      <p:sp>
        <p:nvSpPr>
          <p:cNvPr id="48166" name="Oval 62"/>
          <p:cNvSpPr>
            <a:spLocks noChangeArrowheads="1"/>
          </p:cNvSpPr>
          <p:nvPr/>
        </p:nvSpPr>
        <p:spPr bwMode="auto">
          <a:xfrm>
            <a:off x="3522663" y="1900238"/>
            <a:ext cx="768350" cy="768350"/>
          </a:xfrm>
          <a:prstGeom prst="ellipse">
            <a:avLst/>
          </a:prstGeom>
          <a:noFill/>
          <a:ln w="19050">
            <a:solidFill>
              <a:srgbClr val="000000"/>
            </a:solidFill>
            <a:round/>
            <a:headEnd/>
            <a:tailEnd/>
          </a:ln>
        </p:spPr>
        <p:txBody>
          <a:bodyPr>
            <a:prstTxWarp prst="textNoShape">
              <a:avLst/>
            </a:prstTxWarp>
          </a:bodyPr>
          <a:lstStyle/>
          <a:p>
            <a:endParaRPr lang="en-US"/>
          </a:p>
        </p:txBody>
      </p:sp>
      <p:sp>
        <p:nvSpPr>
          <p:cNvPr id="48167" name="Rectangle 63"/>
          <p:cNvSpPr>
            <a:spLocks noChangeArrowheads="1"/>
          </p:cNvSpPr>
          <p:nvPr/>
        </p:nvSpPr>
        <p:spPr bwMode="auto">
          <a:xfrm>
            <a:off x="3595688" y="2090738"/>
            <a:ext cx="622300" cy="387350"/>
          </a:xfrm>
          <a:prstGeom prst="rect">
            <a:avLst/>
          </a:prstGeom>
          <a:noFill/>
          <a:ln w="19050">
            <a:noFill/>
            <a:miter lim="800000"/>
            <a:headEnd/>
            <a:tailEnd/>
          </a:ln>
        </p:spPr>
        <p:txBody>
          <a:bodyPr>
            <a:prstTxWarp prst="textNoShape">
              <a:avLst/>
            </a:prstTxWarp>
          </a:bodyPr>
          <a:lstStyle/>
          <a:p>
            <a:endParaRPr lang="en-US"/>
          </a:p>
        </p:txBody>
      </p:sp>
      <p:sp>
        <p:nvSpPr>
          <p:cNvPr id="48168" name="Oval 64"/>
          <p:cNvSpPr>
            <a:spLocks noChangeArrowheads="1"/>
          </p:cNvSpPr>
          <p:nvPr/>
        </p:nvSpPr>
        <p:spPr bwMode="auto">
          <a:xfrm>
            <a:off x="3522663" y="1900238"/>
            <a:ext cx="768350" cy="768350"/>
          </a:xfrm>
          <a:prstGeom prst="ellipse">
            <a:avLst/>
          </a:prstGeom>
          <a:noFill/>
          <a:ln w="19050">
            <a:solidFill>
              <a:srgbClr val="000000"/>
            </a:solidFill>
            <a:round/>
            <a:headEnd/>
            <a:tailEnd/>
          </a:ln>
        </p:spPr>
        <p:txBody>
          <a:bodyPr>
            <a:prstTxWarp prst="textNoShape">
              <a:avLst/>
            </a:prstTxWarp>
          </a:bodyPr>
          <a:lstStyle/>
          <a:p>
            <a:endParaRPr lang="en-US"/>
          </a:p>
        </p:txBody>
      </p:sp>
      <p:sp>
        <p:nvSpPr>
          <p:cNvPr id="48169" name="Rectangle 65"/>
          <p:cNvSpPr>
            <a:spLocks noChangeArrowheads="1"/>
          </p:cNvSpPr>
          <p:nvPr/>
        </p:nvSpPr>
        <p:spPr bwMode="auto">
          <a:xfrm>
            <a:off x="3595688" y="2090738"/>
            <a:ext cx="622300" cy="387350"/>
          </a:xfrm>
          <a:prstGeom prst="rect">
            <a:avLst/>
          </a:prstGeom>
          <a:noFill/>
          <a:ln w="19050">
            <a:noFill/>
            <a:miter lim="800000"/>
            <a:headEnd/>
            <a:tailEnd/>
          </a:ln>
        </p:spPr>
        <p:txBody>
          <a:bodyPr>
            <a:prstTxWarp prst="textNoShape">
              <a:avLst/>
            </a:prstTxWarp>
          </a:bodyPr>
          <a:lstStyle/>
          <a:p>
            <a:endParaRPr lang="en-US"/>
          </a:p>
        </p:txBody>
      </p:sp>
      <p:sp>
        <p:nvSpPr>
          <p:cNvPr id="48170" name="Rectangle 66"/>
          <p:cNvSpPr>
            <a:spLocks noChangeArrowheads="1"/>
          </p:cNvSpPr>
          <p:nvPr/>
        </p:nvSpPr>
        <p:spPr bwMode="auto">
          <a:xfrm>
            <a:off x="3657600" y="1981200"/>
            <a:ext cx="508000" cy="609600"/>
          </a:xfrm>
          <a:prstGeom prst="rect">
            <a:avLst/>
          </a:prstGeom>
          <a:noFill/>
          <a:ln w="19050">
            <a:noFill/>
            <a:miter lim="800000"/>
            <a:headEnd/>
            <a:tailEnd/>
          </a:ln>
        </p:spPr>
        <p:txBody>
          <a:bodyPr wrap="none" lIns="0" tIns="0" rIns="0" bIns="0">
            <a:prstTxWarp prst="textNoShape">
              <a:avLst/>
            </a:prstTxWarp>
            <a:spAutoFit/>
          </a:bodyPr>
          <a:lstStyle/>
          <a:p>
            <a:r>
              <a:rPr lang="en-US" sz="2000" b="1">
                <a:solidFill>
                  <a:srgbClr val="000000"/>
                </a:solidFill>
                <a:latin typeface="Times New Roman" charset="0"/>
              </a:rPr>
              <a:t>Seed</a:t>
            </a:r>
          </a:p>
          <a:p>
            <a:r>
              <a:rPr lang="en-US" sz="2000" b="1">
                <a:solidFill>
                  <a:srgbClr val="000000"/>
                </a:solidFill>
                <a:latin typeface="Times New Roman" charset="0"/>
              </a:rPr>
              <a:t>lings</a:t>
            </a:r>
            <a:endParaRPr lang="en-US" sz="2000" b="1">
              <a:latin typeface="Times New Roman" charset="0"/>
            </a:endParaRPr>
          </a:p>
        </p:txBody>
      </p:sp>
      <p:sp>
        <p:nvSpPr>
          <p:cNvPr id="48171" name="Oval 67"/>
          <p:cNvSpPr>
            <a:spLocks noChangeArrowheads="1"/>
          </p:cNvSpPr>
          <p:nvPr/>
        </p:nvSpPr>
        <p:spPr bwMode="auto">
          <a:xfrm>
            <a:off x="5018088" y="1900238"/>
            <a:ext cx="768350" cy="768350"/>
          </a:xfrm>
          <a:prstGeom prst="ellipse">
            <a:avLst/>
          </a:prstGeom>
          <a:noFill/>
          <a:ln w="19050">
            <a:solidFill>
              <a:srgbClr val="000000"/>
            </a:solidFill>
            <a:round/>
            <a:headEnd/>
            <a:tailEnd/>
          </a:ln>
        </p:spPr>
        <p:txBody>
          <a:bodyPr>
            <a:prstTxWarp prst="textNoShape">
              <a:avLst/>
            </a:prstTxWarp>
          </a:bodyPr>
          <a:lstStyle/>
          <a:p>
            <a:endParaRPr lang="en-US"/>
          </a:p>
        </p:txBody>
      </p:sp>
      <p:sp>
        <p:nvSpPr>
          <p:cNvPr id="48172" name="Rectangle 68"/>
          <p:cNvSpPr>
            <a:spLocks noChangeArrowheads="1"/>
          </p:cNvSpPr>
          <p:nvPr/>
        </p:nvSpPr>
        <p:spPr bwMode="auto">
          <a:xfrm>
            <a:off x="5154614" y="2090738"/>
            <a:ext cx="496887" cy="387350"/>
          </a:xfrm>
          <a:prstGeom prst="rect">
            <a:avLst/>
          </a:prstGeom>
          <a:noFill/>
          <a:ln w="19050">
            <a:noFill/>
            <a:miter lim="800000"/>
            <a:headEnd/>
            <a:tailEnd/>
          </a:ln>
        </p:spPr>
        <p:txBody>
          <a:bodyPr>
            <a:prstTxWarp prst="textNoShape">
              <a:avLst/>
            </a:prstTxWarp>
          </a:bodyPr>
          <a:lstStyle/>
          <a:p>
            <a:endParaRPr lang="en-US"/>
          </a:p>
        </p:txBody>
      </p:sp>
      <p:sp>
        <p:nvSpPr>
          <p:cNvPr id="48173" name="Oval 69"/>
          <p:cNvSpPr>
            <a:spLocks noChangeArrowheads="1"/>
          </p:cNvSpPr>
          <p:nvPr/>
        </p:nvSpPr>
        <p:spPr bwMode="auto">
          <a:xfrm>
            <a:off x="5018088" y="1900238"/>
            <a:ext cx="768350" cy="768350"/>
          </a:xfrm>
          <a:prstGeom prst="ellipse">
            <a:avLst/>
          </a:prstGeom>
          <a:noFill/>
          <a:ln w="19050">
            <a:solidFill>
              <a:srgbClr val="000000"/>
            </a:solidFill>
            <a:round/>
            <a:headEnd/>
            <a:tailEnd/>
          </a:ln>
        </p:spPr>
        <p:txBody>
          <a:bodyPr>
            <a:prstTxWarp prst="textNoShape">
              <a:avLst/>
            </a:prstTxWarp>
          </a:bodyPr>
          <a:lstStyle/>
          <a:p>
            <a:endParaRPr lang="en-US"/>
          </a:p>
        </p:txBody>
      </p:sp>
      <p:sp>
        <p:nvSpPr>
          <p:cNvPr id="48174" name="Rectangle 70"/>
          <p:cNvSpPr>
            <a:spLocks noChangeArrowheads="1"/>
          </p:cNvSpPr>
          <p:nvPr/>
        </p:nvSpPr>
        <p:spPr bwMode="auto">
          <a:xfrm>
            <a:off x="5154614" y="2090738"/>
            <a:ext cx="496887" cy="387350"/>
          </a:xfrm>
          <a:prstGeom prst="rect">
            <a:avLst/>
          </a:prstGeom>
          <a:noFill/>
          <a:ln w="19050">
            <a:noFill/>
            <a:miter lim="800000"/>
            <a:headEnd/>
            <a:tailEnd/>
          </a:ln>
        </p:spPr>
        <p:txBody>
          <a:bodyPr>
            <a:prstTxWarp prst="textNoShape">
              <a:avLst/>
            </a:prstTxWarp>
          </a:bodyPr>
          <a:lstStyle/>
          <a:p>
            <a:endParaRPr lang="en-US"/>
          </a:p>
        </p:txBody>
      </p:sp>
      <p:sp>
        <p:nvSpPr>
          <p:cNvPr id="48175" name="Rectangle 71"/>
          <p:cNvSpPr>
            <a:spLocks noChangeArrowheads="1"/>
          </p:cNvSpPr>
          <p:nvPr/>
        </p:nvSpPr>
        <p:spPr bwMode="auto">
          <a:xfrm>
            <a:off x="5359400" y="2144713"/>
            <a:ext cx="127000" cy="304800"/>
          </a:xfrm>
          <a:prstGeom prst="rect">
            <a:avLst/>
          </a:prstGeom>
          <a:noFill/>
          <a:ln w="19050">
            <a:noFill/>
            <a:miter lim="800000"/>
            <a:headEnd/>
            <a:tailEnd/>
          </a:ln>
        </p:spPr>
        <p:txBody>
          <a:bodyPr wrap="none" lIns="0" tIns="0" rIns="0" bIns="0">
            <a:prstTxWarp prst="textNoShape">
              <a:avLst/>
            </a:prstTxWarp>
            <a:spAutoFit/>
          </a:bodyPr>
          <a:lstStyle/>
          <a:p>
            <a:r>
              <a:rPr lang="en-US" sz="2000" b="1">
                <a:solidFill>
                  <a:srgbClr val="000000"/>
                </a:solidFill>
                <a:latin typeface="Times New Roman" charset="0"/>
              </a:rPr>
              <a:t>1</a:t>
            </a:r>
            <a:endParaRPr lang="en-US" sz="2000" b="1">
              <a:latin typeface="Times New Roman" charset="0"/>
            </a:endParaRPr>
          </a:p>
        </p:txBody>
      </p:sp>
      <p:sp>
        <p:nvSpPr>
          <p:cNvPr id="48176" name="Oval 72"/>
          <p:cNvSpPr>
            <a:spLocks noChangeArrowheads="1"/>
          </p:cNvSpPr>
          <p:nvPr/>
        </p:nvSpPr>
        <p:spPr bwMode="auto">
          <a:xfrm>
            <a:off x="6515100" y="1900238"/>
            <a:ext cx="768350" cy="768350"/>
          </a:xfrm>
          <a:prstGeom prst="ellipse">
            <a:avLst/>
          </a:prstGeom>
          <a:noFill/>
          <a:ln w="19050">
            <a:solidFill>
              <a:srgbClr val="000000"/>
            </a:solidFill>
            <a:round/>
            <a:headEnd/>
            <a:tailEnd/>
          </a:ln>
        </p:spPr>
        <p:txBody>
          <a:bodyPr>
            <a:prstTxWarp prst="textNoShape">
              <a:avLst/>
            </a:prstTxWarp>
          </a:bodyPr>
          <a:lstStyle/>
          <a:p>
            <a:endParaRPr lang="en-US"/>
          </a:p>
        </p:txBody>
      </p:sp>
      <p:sp>
        <p:nvSpPr>
          <p:cNvPr id="48177" name="Rectangle 73"/>
          <p:cNvSpPr>
            <a:spLocks noChangeArrowheads="1"/>
          </p:cNvSpPr>
          <p:nvPr/>
        </p:nvSpPr>
        <p:spPr bwMode="auto">
          <a:xfrm>
            <a:off x="6592888" y="2090738"/>
            <a:ext cx="614362" cy="387350"/>
          </a:xfrm>
          <a:prstGeom prst="rect">
            <a:avLst/>
          </a:prstGeom>
          <a:noFill/>
          <a:ln w="19050">
            <a:noFill/>
            <a:miter lim="800000"/>
            <a:headEnd/>
            <a:tailEnd/>
          </a:ln>
        </p:spPr>
        <p:txBody>
          <a:bodyPr>
            <a:prstTxWarp prst="textNoShape">
              <a:avLst/>
            </a:prstTxWarp>
          </a:bodyPr>
          <a:lstStyle/>
          <a:p>
            <a:endParaRPr lang="en-US"/>
          </a:p>
        </p:txBody>
      </p:sp>
      <p:sp>
        <p:nvSpPr>
          <p:cNvPr id="48178" name="Oval 74"/>
          <p:cNvSpPr>
            <a:spLocks noChangeArrowheads="1"/>
          </p:cNvSpPr>
          <p:nvPr/>
        </p:nvSpPr>
        <p:spPr bwMode="auto">
          <a:xfrm>
            <a:off x="6515100" y="1900238"/>
            <a:ext cx="768350" cy="768350"/>
          </a:xfrm>
          <a:prstGeom prst="ellipse">
            <a:avLst/>
          </a:prstGeom>
          <a:noFill/>
          <a:ln w="19050">
            <a:solidFill>
              <a:srgbClr val="000000"/>
            </a:solidFill>
            <a:round/>
            <a:headEnd/>
            <a:tailEnd/>
          </a:ln>
        </p:spPr>
        <p:txBody>
          <a:bodyPr>
            <a:prstTxWarp prst="textNoShape">
              <a:avLst/>
            </a:prstTxWarp>
          </a:bodyPr>
          <a:lstStyle/>
          <a:p>
            <a:endParaRPr lang="en-US"/>
          </a:p>
        </p:txBody>
      </p:sp>
      <p:sp>
        <p:nvSpPr>
          <p:cNvPr id="48179" name="Rectangle 75"/>
          <p:cNvSpPr>
            <a:spLocks noChangeArrowheads="1"/>
          </p:cNvSpPr>
          <p:nvPr/>
        </p:nvSpPr>
        <p:spPr bwMode="auto">
          <a:xfrm>
            <a:off x="6592888" y="2090738"/>
            <a:ext cx="614362" cy="387350"/>
          </a:xfrm>
          <a:prstGeom prst="rect">
            <a:avLst/>
          </a:prstGeom>
          <a:noFill/>
          <a:ln w="19050">
            <a:noFill/>
            <a:miter lim="800000"/>
            <a:headEnd/>
            <a:tailEnd/>
          </a:ln>
        </p:spPr>
        <p:txBody>
          <a:bodyPr>
            <a:prstTxWarp prst="textNoShape">
              <a:avLst/>
            </a:prstTxWarp>
          </a:bodyPr>
          <a:lstStyle/>
          <a:p>
            <a:endParaRPr lang="en-US"/>
          </a:p>
        </p:txBody>
      </p:sp>
      <p:sp>
        <p:nvSpPr>
          <p:cNvPr id="48180" name="Rectangle 76"/>
          <p:cNvSpPr>
            <a:spLocks noChangeArrowheads="1"/>
          </p:cNvSpPr>
          <p:nvPr/>
        </p:nvSpPr>
        <p:spPr bwMode="auto">
          <a:xfrm>
            <a:off x="6869113" y="2144713"/>
            <a:ext cx="127000" cy="304800"/>
          </a:xfrm>
          <a:prstGeom prst="rect">
            <a:avLst/>
          </a:prstGeom>
          <a:noFill/>
          <a:ln w="19050">
            <a:noFill/>
            <a:miter lim="800000"/>
            <a:headEnd/>
            <a:tailEnd/>
          </a:ln>
        </p:spPr>
        <p:txBody>
          <a:bodyPr wrap="none" lIns="0" tIns="0" rIns="0" bIns="0">
            <a:prstTxWarp prst="textNoShape">
              <a:avLst/>
            </a:prstTxWarp>
            <a:spAutoFit/>
          </a:bodyPr>
          <a:lstStyle/>
          <a:p>
            <a:r>
              <a:rPr lang="en-US" sz="2000" b="1">
                <a:solidFill>
                  <a:srgbClr val="000000"/>
                </a:solidFill>
                <a:latin typeface="Times New Roman" charset="0"/>
              </a:rPr>
              <a:t>2</a:t>
            </a:r>
            <a:endParaRPr lang="en-US" sz="2000" b="1">
              <a:latin typeface="Times New Roman" charset="0"/>
            </a:endParaRPr>
          </a:p>
        </p:txBody>
      </p:sp>
      <p:sp>
        <p:nvSpPr>
          <p:cNvPr id="48181" name="Oval 77"/>
          <p:cNvSpPr>
            <a:spLocks noChangeArrowheads="1"/>
          </p:cNvSpPr>
          <p:nvPr/>
        </p:nvSpPr>
        <p:spPr bwMode="auto">
          <a:xfrm>
            <a:off x="8012113" y="1900238"/>
            <a:ext cx="766762" cy="768350"/>
          </a:xfrm>
          <a:prstGeom prst="ellipse">
            <a:avLst/>
          </a:prstGeom>
          <a:noFill/>
          <a:ln w="19050">
            <a:solidFill>
              <a:srgbClr val="000000"/>
            </a:solidFill>
            <a:round/>
            <a:headEnd/>
            <a:tailEnd/>
          </a:ln>
        </p:spPr>
        <p:txBody>
          <a:bodyPr>
            <a:prstTxWarp prst="textNoShape">
              <a:avLst/>
            </a:prstTxWarp>
          </a:bodyPr>
          <a:lstStyle/>
          <a:p>
            <a:endParaRPr lang="en-US"/>
          </a:p>
        </p:txBody>
      </p:sp>
      <p:sp>
        <p:nvSpPr>
          <p:cNvPr id="48182" name="Rectangle 78"/>
          <p:cNvSpPr>
            <a:spLocks noChangeArrowheads="1"/>
          </p:cNvSpPr>
          <p:nvPr/>
        </p:nvSpPr>
        <p:spPr bwMode="auto">
          <a:xfrm>
            <a:off x="8081963" y="2090738"/>
            <a:ext cx="628650" cy="387350"/>
          </a:xfrm>
          <a:prstGeom prst="rect">
            <a:avLst/>
          </a:prstGeom>
          <a:noFill/>
          <a:ln w="19050">
            <a:noFill/>
            <a:miter lim="800000"/>
            <a:headEnd/>
            <a:tailEnd/>
          </a:ln>
        </p:spPr>
        <p:txBody>
          <a:bodyPr>
            <a:prstTxWarp prst="textNoShape">
              <a:avLst/>
            </a:prstTxWarp>
          </a:bodyPr>
          <a:lstStyle/>
          <a:p>
            <a:endParaRPr lang="en-US"/>
          </a:p>
        </p:txBody>
      </p:sp>
      <p:sp>
        <p:nvSpPr>
          <p:cNvPr id="48183" name="Oval 79"/>
          <p:cNvSpPr>
            <a:spLocks noChangeArrowheads="1"/>
          </p:cNvSpPr>
          <p:nvPr/>
        </p:nvSpPr>
        <p:spPr bwMode="auto">
          <a:xfrm>
            <a:off x="8012113" y="1900238"/>
            <a:ext cx="766762" cy="768350"/>
          </a:xfrm>
          <a:prstGeom prst="ellipse">
            <a:avLst/>
          </a:prstGeom>
          <a:noFill/>
          <a:ln w="19050">
            <a:solidFill>
              <a:srgbClr val="000000"/>
            </a:solidFill>
            <a:round/>
            <a:headEnd/>
            <a:tailEnd/>
          </a:ln>
        </p:spPr>
        <p:txBody>
          <a:bodyPr>
            <a:prstTxWarp prst="textNoShape">
              <a:avLst/>
            </a:prstTxWarp>
          </a:bodyPr>
          <a:lstStyle/>
          <a:p>
            <a:endParaRPr lang="en-US"/>
          </a:p>
        </p:txBody>
      </p:sp>
      <p:sp>
        <p:nvSpPr>
          <p:cNvPr id="48184" name="Rectangle 80"/>
          <p:cNvSpPr>
            <a:spLocks noChangeArrowheads="1"/>
          </p:cNvSpPr>
          <p:nvPr/>
        </p:nvSpPr>
        <p:spPr bwMode="auto">
          <a:xfrm>
            <a:off x="8081963" y="2090738"/>
            <a:ext cx="628650" cy="387350"/>
          </a:xfrm>
          <a:prstGeom prst="rect">
            <a:avLst/>
          </a:prstGeom>
          <a:noFill/>
          <a:ln w="19050">
            <a:noFill/>
            <a:miter lim="800000"/>
            <a:headEnd/>
            <a:tailEnd/>
          </a:ln>
        </p:spPr>
        <p:txBody>
          <a:bodyPr>
            <a:prstTxWarp prst="textNoShape">
              <a:avLst/>
            </a:prstTxWarp>
          </a:bodyPr>
          <a:lstStyle/>
          <a:p>
            <a:endParaRPr lang="en-US"/>
          </a:p>
        </p:txBody>
      </p:sp>
      <p:sp>
        <p:nvSpPr>
          <p:cNvPr id="48185" name="Rectangle 81"/>
          <p:cNvSpPr>
            <a:spLocks noChangeArrowheads="1"/>
          </p:cNvSpPr>
          <p:nvPr/>
        </p:nvSpPr>
        <p:spPr bwMode="auto">
          <a:xfrm>
            <a:off x="8358188" y="2144713"/>
            <a:ext cx="127000" cy="304800"/>
          </a:xfrm>
          <a:prstGeom prst="rect">
            <a:avLst/>
          </a:prstGeom>
          <a:noFill/>
          <a:ln w="19050">
            <a:noFill/>
            <a:miter lim="800000"/>
            <a:headEnd/>
            <a:tailEnd/>
          </a:ln>
        </p:spPr>
        <p:txBody>
          <a:bodyPr wrap="none" lIns="0" tIns="0" rIns="0" bIns="0">
            <a:prstTxWarp prst="textNoShape">
              <a:avLst/>
            </a:prstTxWarp>
            <a:spAutoFit/>
          </a:bodyPr>
          <a:lstStyle/>
          <a:p>
            <a:r>
              <a:rPr lang="en-US" sz="2000" b="1">
                <a:solidFill>
                  <a:srgbClr val="000000"/>
                </a:solidFill>
                <a:latin typeface="Times New Roman" charset="0"/>
              </a:rPr>
              <a:t>3</a:t>
            </a:r>
            <a:endParaRPr lang="en-US" sz="2000" b="1">
              <a:latin typeface="Times New Roman" charset="0"/>
            </a:endParaRPr>
          </a:p>
        </p:txBody>
      </p:sp>
      <p:sp>
        <p:nvSpPr>
          <p:cNvPr id="48186" name="Rectangle 82"/>
          <p:cNvSpPr>
            <a:spLocks noChangeArrowheads="1"/>
          </p:cNvSpPr>
          <p:nvPr/>
        </p:nvSpPr>
        <p:spPr bwMode="auto">
          <a:xfrm>
            <a:off x="9564689" y="2090738"/>
            <a:ext cx="657225" cy="387350"/>
          </a:xfrm>
          <a:prstGeom prst="rect">
            <a:avLst/>
          </a:prstGeom>
          <a:noFill/>
          <a:ln w="19050">
            <a:noFill/>
            <a:miter lim="800000"/>
            <a:headEnd/>
            <a:tailEnd/>
          </a:ln>
        </p:spPr>
        <p:txBody>
          <a:bodyPr>
            <a:prstTxWarp prst="textNoShape">
              <a:avLst/>
            </a:prstTxWarp>
          </a:bodyPr>
          <a:lstStyle/>
          <a:p>
            <a:endParaRPr lang="en-US"/>
          </a:p>
        </p:txBody>
      </p:sp>
      <p:sp>
        <p:nvSpPr>
          <p:cNvPr id="48187" name="Oval 83"/>
          <p:cNvSpPr>
            <a:spLocks noChangeArrowheads="1"/>
          </p:cNvSpPr>
          <p:nvPr/>
        </p:nvSpPr>
        <p:spPr bwMode="auto">
          <a:xfrm>
            <a:off x="9507538" y="1900238"/>
            <a:ext cx="768350" cy="768350"/>
          </a:xfrm>
          <a:prstGeom prst="ellipse">
            <a:avLst/>
          </a:prstGeom>
          <a:noFill/>
          <a:ln w="19050">
            <a:solidFill>
              <a:srgbClr val="000000"/>
            </a:solidFill>
            <a:round/>
            <a:headEnd/>
            <a:tailEnd/>
          </a:ln>
        </p:spPr>
        <p:txBody>
          <a:bodyPr>
            <a:prstTxWarp prst="textNoShape">
              <a:avLst/>
            </a:prstTxWarp>
          </a:bodyPr>
          <a:lstStyle/>
          <a:p>
            <a:endParaRPr lang="en-US"/>
          </a:p>
        </p:txBody>
      </p:sp>
      <p:sp>
        <p:nvSpPr>
          <p:cNvPr id="48188" name="Rectangle 84"/>
          <p:cNvSpPr>
            <a:spLocks noChangeArrowheads="1"/>
          </p:cNvSpPr>
          <p:nvPr/>
        </p:nvSpPr>
        <p:spPr bwMode="auto">
          <a:xfrm>
            <a:off x="9564689" y="2090738"/>
            <a:ext cx="657225" cy="387350"/>
          </a:xfrm>
          <a:prstGeom prst="rect">
            <a:avLst/>
          </a:prstGeom>
          <a:noFill/>
          <a:ln w="19050">
            <a:noFill/>
            <a:miter lim="800000"/>
            <a:headEnd/>
            <a:tailEnd/>
          </a:ln>
        </p:spPr>
        <p:txBody>
          <a:bodyPr>
            <a:prstTxWarp prst="textNoShape">
              <a:avLst/>
            </a:prstTxWarp>
          </a:bodyPr>
          <a:lstStyle/>
          <a:p>
            <a:endParaRPr lang="en-US"/>
          </a:p>
        </p:txBody>
      </p:sp>
      <p:sp>
        <p:nvSpPr>
          <p:cNvPr id="48189" name="Rectangle 85"/>
          <p:cNvSpPr>
            <a:spLocks noChangeArrowheads="1"/>
          </p:cNvSpPr>
          <p:nvPr/>
        </p:nvSpPr>
        <p:spPr bwMode="auto">
          <a:xfrm>
            <a:off x="9842500" y="2144713"/>
            <a:ext cx="127000" cy="304800"/>
          </a:xfrm>
          <a:prstGeom prst="rect">
            <a:avLst/>
          </a:prstGeom>
          <a:noFill/>
          <a:ln w="19050">
            <a:noFill/>
            <a:miter lim="800000"/>
            <a:headEnd/>
            <a:tailEnd/>
          </a:ln>
        </p:spPr>
        <p:txBody>
          <a:bodyPr wrap="none" lIns="0" tIns="0" rIns="0" bIns="0">
            <a:prstTxWarp prst="textNoShape">
              <a:avLst/>
            </a:prstTxWarp>
            <a:spAutoFit/>
          </a:bodyPr>
          <a:lstStyle/>
          <a:p>
            <a:r>
              <a:rPr lang="en-US" sz="2000" b="1">
                <a:solidFill>
                  <a:srgbClr val="000000"/>
                </a:solidFill>
                <a:latin typeface="Times New Roman" charset="0"/>
              </a:rPr>
              <a:t>4</a:t>
            </a:r>
            <a:endParaRPr lang="en-US" sz="2000" b="1">
              <a:latin typeface="Times New Roman" charset="0"/>
            </a:endParaRPr>
          </a:p>
        </p:txBody>
      </p:sp>
      <p:sp>
        <p:nvSpPr>
          <p:cNvPr id="48190" name="Oval 86"/>
          <p:cNvSpPr>
            <a:spLocks noChangeArrowheads="1"/>
          </p:cNvSpPr>
          <p:nvPr/>
        </p:nvSpPr>
        <p:spPr bwMode="auto">
          <a:xfrm>
            <a:off x="9507538" y="1900238"/>
            <a:ext cx="768350" cy="768350"/>
          </a:xfrm>
          <a:prstGeom prst="ellipse">
            <a:avLst/>
          </a:prstGeom>
          <a:noFill/>
          <a:ln w="19050">
            <a:solidFill>
              <a:srgbClr val="000000"/>
            </a:solidFill>
            <a:round/>
            <a:headEnd/>
            <a:tailEnd/>
          </a:ln>
        </p:spPr>
        <p:txBody>
          <a:bodyPr>
            <a:prstTxWarp prst="textNoShape">
              <a:avLst/>
            </a:prstTxWarp>
          </a:bodyPr>
          <a:lstStyle/>
          <a:p>
            <a:endParaRPr lang="en-US"/>
          </a:p>
        </p:txBody>
      </p:sp>
      <p:grpSp>
        <p:nvGrpSpPr>
          <p:cNvPr id="14" name="Group 87"/>
          <p:cNvGrpSpPr>
            <a:grpSpLocks/>
          </p:cNvGrpSpPr>
          <p:nvPr/>
        </p:nvGrpSpPr>
        <p:grpSpPr bwMode="auto">
          <a:xfrm>
            <a:off x="2133600" y="1581151"/>
            <a:ext cx="592138" cy="436563"/>
            <a:chOff x="2170" y="893"/>
            <a:chExt cx="373" cy="275"/>
          </a:xfrm>
        </p:grpSpPr>
        <p:sp>
          <p:nvSpPr>
            <p:cNvPr id="48210" name="Freeform 88"/>
            <p:cNvSpPr>
              <a:spLocks/>
            </p:cNvSpPr>
            <p:nvPr/>
          </p:nvSpPr>
          <p:spPr bwMode="auto">
            <a:xfrm>
              <a:off x="2170" y="893"/>
              <a:ext cx="328" cy="272"/>
            </a:xfrm>
            <a:custGeom>
              <a:avLst/>
              <a:gdLst>
                <a:gd name="T0" fmla="*/ 0 w 328"/>
                <a:gd name="T1" fmla="*/ 272 h 272"/>
                <a:gd name="T2" fmla="*/ 1 w 328"/>
                <a:gd name="T3" fmla="*/ 247 h 272"/>
                <a:gd name="T4" fmla="*/ 4 w 328"/>
                <a:gd name="T5" fmla="*/ 222 h 272"/>
                <a:gd name="T6" fmla="*/ 8 w 328"/>
                <a:gd name="T7" fmla="*/ 197 h 272"/>
                <a:gd name="T8" fmla="*/ 15 w 328"/>
                <a:gd name="T9" fmla="*/ 172 h 272"/>
                <a:gd name="T10" fmla="*/ 22 w 328"/>
                <a:gd name="T11" fmla="*/ 148 h 272"/>
                <a:gd name="T12" fmla="*/ 30 w 328"/>
                <a:gd name="T13" fmla="*/ 126 h 272"/>
                <a:gd name="T14" fmla="*/ 42 w 328"/>
                <a:gd name="T15" fmla="*/ 105 h 272"/>
                <a:gd name="T16" fmla="*/ 53 w 328"/>
                <a:gd name="T17" fmla="*/ 85 h 272"/>
                <a:gd name="T18" fmla="*/ 65 w 328"/>
                <a:gd name="T19" fmla="*/ 67 h 272"/>
                <a:gd name="T20" fmla="*/ 78 w 328"/>
                <a:gd name="T21" fmla="*/ 50 h 272"/>
                <a:gd name="T22" fmla="*/ 92 w 328"/>
                <a:gd name="T23" fmla="*/ 36 h 272"/>
                <a:gd name="T24" fmla="*/ 107 w 328"/>
                <a:gd name="T25" fmla="*/ 23 h 272"/>
                <a:gd name="T26" fmla="*/ 123 w 328"/>
                <a:gd name="T27" fmla="*/ 14 h 272"/>
                <a:gd name="T28" fmla="*/ 138 w 328"/>
                <a:gd name="T29" fmla="*/ 5 h 272"/>
                <a:gd name="T30" fmla="*/ 154 w 328"/>
                <a:gd name="T31" fmla="*/ 1 h 272"/>
                <a:gd name="T32" fmla="*/ 169 w 328"/>
                <a:gd name="T33" fmla="*/ 0 h 272"/>
                <a:gd name="T34" fmla="*/ 181 w 328"/>
                <a:gd name="T35" fmla="*/ 1 h 272"/>
                <a:gd name="T36" fmla="*/ 194 w 328"/>
                <a:gd name="T37" fmla="*/ 4 h 272"/>
                <a:gd name="T38" fmla="*/ 207 w 328"/>
                <a:gd name="T39" fmla="*/ 8 h 272"/>
                <a:gd name="T40" fmla="*/ 219 w 328"/>
                <a:gd name="T41" fmla="*/ 15 h 272"/>
                <a:gd name="T42" fmla="*/ 230 w 328"/>
                <a:gd name="T43" fmla="*/ 22 h 272"/>
                <a:gd name="T44" fmla="*/ 242 w 328"/>
                <a:gd name="T45" fmla="*/ 32 h 272"/>
                <a:gd name="T46" fmla="*/ 264 w 328"/>
                <a:gd name="T47" fmla="*/ 56 h 272"/>
                <a:gd name="T48" fmla="*/ 285 w 328"/>
                <a:gd name="T49" fmla="*/ 84 h 272"/>
                <a:gd name="T50" fmla="*/ 302 w 328"/>
                <a:gd name="T51" fmla="*/ 114 h 272"/>
                <a:gd name="T52" fmla="*/ 317 w 328"/>
                <a:gd name="T53" fmla="*/ 149 h 272"/>
                <a:gd name="T54" fmla="*/ 328 w 328"/>
                <a:gd name="T55" fmla="*/ 187 h 27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28"/>
                <a:gd name="T85" fmla="*/ 0 h 272"/>
                <a:gd name="T86" fmla="*/ 328 w 328"/>
                <a:gd name="T87" fmla="*/ 272 h 27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28" h="272">
                  <a:moveTo>
                    <a:pt x="0" y="272"/>
                  </a:moveTo>
                  <a:lnTo>
                    <a:pt x="1" y="247"/>
                  </a:lnTo>
                  <a:lnTo>
                    <a:pt x="4" y="222"/>
                  </a:lnTo>
                  <a:lnTo>
                    <a:pt x="8" y="197"/>
                  </a:lnTo>
                  <a:lnTo>
                    <a:pt x="15" y="172"/>
                  </a:lnTo>
                  <a:lnTo>
                    <a:pt x="22" y="148"/>
                  </a:lnTo>
                  <a:lnTo>
                    <a:pt x="30" y="126"/>
                  </a:lnTo>
                  <a:lnTo>
                    <a:pt x="42" y="105"/>
                  </a:lnTo>
                  <a:lnTo>
                    <a:pt x="53" y="85"/>
                  </a:lnTo>
                  <a:lnTo>
                    <a:pt x="65" y="67"/>
                  </a:lnTo>
                  <a:lnTo>
                    <a:pt x="78" y="50"/>
                  </a:lnTo>
                  <a:lnTo>
                    <a:pt x="92" y="36"/>
                  </a:lnTo>
                  <a:lnTo>
                    <a:pt x="107" y="23"/>
                  </a:lnTo>
                  <a:lnTo>
                    <a:pt x="123" y="14"/>
                  </a:lnTo>
                  <a:lnTo>
                    <a:pt x="138" y="5"/>
                  </a:lnTo>
                  <a:lnTo>
                    <a:pt x="154" y="1"/>
                  </a:lnTo>
                  <a:lnTo>
                    <a:pt x="169" y="0"/>
                  </a:lnTo>
                  <a:lnTo>
                    <a:pt x="181" y="1"/>
                  </a:lnTo>
                  <a:lnTo>
                    <a:pt x="194" y="4"/>
                  </a:lnTo>
                  <a:lnTo>
                    <a:pt x="207" y="8"/>
                  </a:lnTo>
                  <a:lnTo>
                    <a:pt x="219" y="15"/>
                  </a:lnTo>
                  <a:lnTo>
                    <a:pt x="230" y="22"/>
                  </a:lnTo>
                  <a:lnTo>
                    <a:pt x="242" y="32"/>
                  </a:lnTo>
                  <a:lnTo>
                    <a:pt x="264" y="56"/>
                  </a:lnTo>
                  <a:lnTo>
                    <a:pt x="285" y="84"/>
                  </a:lnTo>
                  <a:lnTo>
                    <a:pt x="302" y="114"/>
                  </a:lnTo>
                  <a:lnTo>
                    <a:pt x="317" y="149"/>
                  </a:lnTo>
                  <a:lnTo>
                    <a:pt x="328" y="187"/>
                  </a:lnTo>
                </a:path>
              </a:pathLst>
            </a:custGeom>
            <a:noFill/>
            <a:ln w="19050">
              <a:solidFill>
                <a:srgbClr val="000000"/>
              </a:solidFill>
              <a:round/>
              <a:headEnd/>
              <a:tailEnd type="none" w="lg" len="med"/>
            </a:ln>
          </p:spPr>
          <p:txBody>
            <a:bodyPr>
              <a:prstTxWarp prst="textNoShape">
                <a:avLst/>
              </a:prstTxWarp>
            </a:bodyPr>
            <a:lstStyle/>
            <a:p>
              <a:endParaRPr lang="en-US"/>
            </a:p>
          </p:txBody>
        </p:sp>
        <p:sp>
          <p:nvSpPr>
            <p:cNvPr id="48211" name="Freeform 89"/>
            <p:cNvSpPr>
              <a:spLocks/>
            </p:cNvSpPr>
            <p:nvPr/>
          </p:nvSpPr>
          <p:spPr bwMode="auto">
            <a:xfrm>
              <a:off x="2455" y="1075"/>
              <a:ext cx="88" cy="93"/>
            </a:xfrm>
            <a:custGeom>
              <a:avLst/>
              <a:gdLst>
                <a:gd name="T0" fmla="*/ 0 w 88"/>
                <a:gd name="T1" fmla="*/ 11 h 93"/>
                <a:gd name="T2" fmla="*/ 55 w 88"/>
                <a:gd name="T3" fmla="*/ 93 h 93"/>
                <a:gd name="T4" fmla="*/ 88 w 88"/>
                <a:gd name="T5" fmla="*/ 0 h 93"/>
                <a:gd name="T6" fmla="*/ 0 w 88"/>
                <a:gd name="T7" fmla="*/ 11 h 93"/>
                <a:gd name="T8" fmla="*/ 0 60000 65536"/>
                <a:gd name="T9" fmla="*/ 0 60000 65536"/>
                <a:gd name="T10" fmla="*/ 0 60000 65536"/>
                <a:gd name="T11" fmla="*/ 0 60000 65536"/>
                <a:gd name="T12" fmla="*/ 0 w 88"/>
                <a:gd name="T13" fmla="*/ 0 h 93"/>
                <a:gd name="T14" fmla="*/ 88 w 88"/>
                <a:gd name="T15" fmla="*/ 93 h 93"/>
              </a:gdLst>
              <a:ahLst/>
              <a:cxnLst>
                <a:cxn ang="T8">
                  <a:pos x="T0" y="T1"/>
                </a:cxn>
                <a:cxn ang="T9">
                  <a:pos x="T2" y="T3"/>
                </a:cxn>
                <a:cxn ang="T10">
                  <a:pos x="T4" y="T5"/>
                </a:cxn>
                <a:cxn ang="T11">
                  <a:pos x="T6" y="T7"/>
                </a:cxn>
              </a:cxnLst>
              <a:rect l="T12" t="T13" r="T14" b="T15"/>
              <a:pathLst>
                <a:path w="88" h="93">
                  <a:moveTo>
                    <a:pt x="0" y="11"/>
                  </a:moveTo>
                  <a:lnTo>
                    <a:pt x="55" y="93"/>
                  </a:lnTo>
                  <a:lnTo>
                    <a:pt x="88" y="0"/>
                  </a:lnTo>
                  <a:lnTo>
                    <a:pt x="0" y="11"/>
                  </a:lnTo>
                  <a:close/>
                </a:path>
              </a:pathLst>
            </a:custGeom>
            <a:solidFill>
              <a:srgbClr val="000000"/>
            </a:solidFill>
            <a:ln w="19050">
              <a:noFill/>
              <a:round/>
              <a:headEnd/>
              <a:tailEnd/>
            </a:ln>
          </p:spPr>
          <p:txBody>
            <a:bodyPr>
              <a:prstTxWarp prst="textNoShape">
                <a:avLst/>
              </a:prstTxWarp>
            </a:bodyPr>
            <a:lstStyle/>
            <a:p>
              <a:endParaRPr lang="en-US"/>
            </a:p>
          </p:txBody>
        </p:sp>
      </p:grpSp>
      <p:sp>
        <p:nvSpPr>
          <p:cNvPr id="48192" name="Rectangle 90"/>
          <p:cNvSpPr>
            <a:spLocks noChangeArrowheads="1"/>
          </p:cNvSpPr>
          <p:nvPr/>
        </p:nvSpPr>
        <p:spPr bwMode="auto">
          <a:xfrm>
            <a:off x="5935663" y="1687513"/>
            <a:ext cx="425450" cy="385762"/>
          </a:xfrm>
          <a:prstGeom prst="rect">
            <a:avLst/>
          </a:prstGeom>
          <a:noFill/>
          <a:ln w="19050">
            <a:noFill/>
            <a:miter lim="800000"/>
            <a:headEnd/>
            <a:tailEnd/>
          </a:ln>
        </p:spPr>
        <p:txBody>
          <a:bodyPr>
            <a:prstTxWarp prst="textNoShape">
              <a:avLst/>
            </a:prstTxWarp>
          </a:bodyPr>
          <a:lstStyle/>
          <a:p>
            <a:endParaRPr lang="en-US"/>
          </a:p>
        </p:txBody>
      </p:sp>
      <p:sp>
        <p:nvSpPr>
          <p:cNvPr id="48193" name="Rectangle 91"/>
          <p:cNvSpPr>
            <a:spLocks noChangeArrowheads="1"/>
          </p:cNvSpPr>
          <p:nvPr/>
        </p:nvSpPr>
        <p:spPr bwMode="auto">
          <a:xfrm>
            <a:off x="7321550" y="1687513"/>
            <a:ext cx="425450" cy="385762"/>
          </a:xfrm>
          <a:prstGeom prst="rect">
            <a:avLst/>
          </a:prstGeom>
          <a:noFill/>
          <a:ln w="19050">
            <a:noFill/>
            <a:miter lim="800000"/>
            <a:headEnd/>
            <a:tailEnd/>
          </a:ln>
        </p:spPr>
        <p:txBody>
          <a:bodyPr>
            <a:prstTxWarp prst="textNoShape">
              <a:avLst/>
            </a:prstTxWarp>
          </a:bodyPr>
          <a:lstStyle/>
          <a:p>
            <a:endParaRPr lang="en-US"/>
          </a:p>
        </p:txBody>
      </p:sp>
      <p:sp>
        <p:nvSpPr>
          <p:cNvPr id="48194" name="Rectangle 92"/>
          <p:cNvSpPr>
            <a:spLocks noChangeArrowheads="1"/>
          </p:cNvSpPr>
          <p:nvPr/>
        </p:nvSpPr>
        <p:spPr bwMode="auto">
          <a:xfrm>
            <a:off x="8812214" y="1687513"/>
            <a:ext cx="427037" cy="385762"/>
          </a:xfrm>
          <a:prstGeom prst="rect">
            <a:avLst/>
          </a:prstGeom>
          <a:noFill/>
          <a:ln w="19050">
            <a:noFill/>
            <a:miter lim="800000"/>
            <a:headEnd/>
            <a:tailEnd/>
          </a:ln>
        </p:spPr>
        <p:txBody>
          <a:bodyPr>
            <a:prstTxWarp prst="textNoShape">
              <a:avLst/>
            </a:prstTxWarp>
          </a:bodyPr>
          <a:lstStyle/>
          <a:p>
            <a:endParaRPr lang="en-US"/>
          </a:p>
        </p:txBody>
      </p:sp>
      <p:sp>
        <p:nvSpPr>
          <p:cNvPr id="48195" name="Rectangle 93"/>
          <p:cNvSpPr>
            <a:spLocks noChangeArrowheads="1"/>
          </p:cNvSpPr>
          <p:nvPr/>
        </p:nvSpPr>
        <p:spPr bwMode="auto">
          <a:xfrm>
            <a:off x="7531101" y="2220913"/>
            <a:ext cx="536575" cy="385762"/>
          </a:xfrm>
          <a:prstGeom prst="rect">
            <a:avLst/>
          </a:prstGeom>
          <a:noFill/>
          <a:ln w="19050">
            <a:noFill/>
            <a:miter lim="800000"/>
            <a:headEnd/>
            <a:tailEnd/>
          </a:ln>
        </p:spPr>
        <p:txBody>
          <a:bodyPr>
            <a:prstTxWarp prst="textNoShape">
              <a:avLst/>
            </a:prstTxWarp>
          </a:bodyPr>
          <a:lstStyle/>
          <a:p>
            <a:endParaRPr lang="en-US"/>
          </a:p>
        </p:txBody>
      </p:sp>
      <p:sp>
        <p:nvSpPr>
          <p:cNvPr id="48196" name="Rectangle 94"/>
          <p:cNvSpPr>
            <a:spLocks noChangeArrowheads="1"/>
          </p:cNvSpPr>
          <p:nvPr/>
        </p:nvSpPr>
        <p:spPr bwMode="auto">
          <a:xfrm>
            <a:off x="5819775" y="2352676"/>
            <a:ext cx="552450" cy="354013"/>
          </a:xfrm>
          <a:prstGeom prst="rect">
            <a:avLst/>
          </a:prstGeom>
          <a:noFill/>
          <a:ln w="19050">
            <a:noFill/>
            <a:miter lim="800000"/>
            <a:headEnd/>
            <a:tailEnd/>
          </a:ln>
        </p:spPr>
        <p:txBody>
          <a:bodyPr>
            <a:prstTxWarp prst="textNoShape">
              <a:avLst/>
            </a:prstTxWarp>
          </a:bodyPr>
          <a:lstStyle/>
          <a:p>
            <a:endParaRPr lang="en-US"/>
          </a:p>
        </p:txBody>
      </p:sp>
      <p:sp>
        <p:nvSpPr>
          <p:cNvPr id="48197" name="Rectangle 95"/>
          <p:cNvSpPr>
            <a:spLocks noChangeArrowheads="1"/>
          </p:cNvSpPr>
          <p:nvPr/>
        </p:nvSpPr>
        <p:spPr bwMode="auto">
          <a:xfrm>
            <a:off x="7361238" y="2352676"/>
            <a:ext cx="552450" cy="354013"/>
          </a:xfrm>
          <a:prstGeom prst="rect">
            <a:avLst/>
          </a:prstGeom>
          <a:noFill/>
          <a:ln w="19050">
            <a:noFill/>
            <a:miter lim="800000"/>
            <a:headEnd/>
            <a:tailEnd/>
          </a:ln>
        </p:spPr>
        <p:txBody>
          <a:bodyPr>
            <a:prstTxWarp prst="textNoShape">
              <a:avLst/>
            </a:prstTxWarp>
          </a:bodyPr>
          <a:lstStyle/>
          <a:p>
            <a:endParaRPr lang="en-US"/>
          </a:p>
        </p:txBody>
      </p:sp>
      <p:sp>
        <p:nvSpPr>
          <p:cNvPr id="48198" name="Rectangle 96"/>
          <p:cNvSpPr>
            <a:spLocks noChangeArrowheads="1"/>
          </p:cNvSpPr>
          <p:nvPr/>
        </p:nvSpPr>
        <p:spPr bwMode="auto">
          <a:xfrm>
            <a:off x="8901113" y="2352676"/>
            <a:ext cx="552450" cy="354013"/>
          </a:xfrm>
          <a:prstGeom prst="rect">
            <a:avLst/>
          </a:prstGeom>
          <a:noFill/>
          <a:ln w="19050">
            <a:noFill/>
            <a:miter lim="800000"/>
            <a:headEnd/>
            <a:tailEnd/>
          </a:ln>
        </p:spPr>
        <p:txBody>
          <a:bodyPr>
            <a:prstTxWarp prst="textNoShape">
              <a:avLst/>
            </a:prstTxWarp>
          </a:bodyPr>
          <a:lstStyle/>
          <a:p>
            <a:endParaRPr lang="en-US"/>
          </a:p>
        </p:txBody>
      </p:sp>
      <p:cxnSp>
        <p:nvCxnSpPr>
          <p:cNvPr id="48199" name="AutoShape 97"/>
          <p:cNvCxnSpPr>
            <a:cxnSpLocks noChangeShapeType="1"/>
            <a:stCxn id="48173" idx="4"/>
            <a:endCxn id="48161" idx="4"/>
          </p:cNvCxnSpPr>
          <p:nvPr/>
        </p:nvCxnSpPr>
        <p:spPr bwMode="auto">
          <a:xfrm rot="5400000">
            <a:off x="3898901" y="1176338"/>
            <a:ext cx="1587" cy="3005138"/>
          </a:xfrm>
          <a:prstGeom prst="curvedConnector3">
            <a:avLst>
              <a:gd name="adj1" fmla="val 34599995"/>
            </a:avLst>
          </a:prstGeom>
          <a:noFill/>
          <a:ln w="19050">
            <a:solidFill>
              <a:schemeClr val="tx1"/>
            </a:solidFill>
            <a:round/>
            <a:headEnd/>
            <a:tailEnd type="triangle" w="lg" len="med"/>
          </a:ln>
        </p:spPr>
      </p:cxnSp>
      <p:cxnSp>
        <p:nvCxnSpPr>
          <p:cNvPr id="48200" name="AutoShape 98"/>
          <p:cNvCxnSpPr>
            <a:cxnSpLocks noChangeShapeType="1"/>
            <a:stCxn id="48178" idx="4"/>
            <a:endCxn id="48161" idx="4"/>
          </p:cNvCxnSpPr>
          <p:nvPr/>
        </p:nvCxnSpPr>
        <p:spPr bwMode="auto">
          <a:xfrm rot="5400000">
            <a:off x="4647407" y="427832"/>
            <a:ext cx="1587" cy="4502150"/>
          </a:xfrm>
          <a:prstGeom prst="curvedConnector3">
            <a:avLst>
              <a:gd name="adj1" fmla="val 66699995"/>
            </a:avLst>
          </a:prstGeom>
          <a:noFill/>
          <a:ln w="19050">
            <a:solidFill>
              <a:schemeClr val="tx1"/>
            </a:solidFill>
            <a:round/>
            <a:headEnd/>
            <a:tailEnd type="triangle" w="lg" len="med"/>
          </a:ln>
        </p:spPr>
      </p:cxnSp>
      <p:cxnSp>
        <p:nvCxnSpPr>
          <p:cNvPr id="48201" name="AutoShape 99"/>
          <p:cNvCxnSpPr>
            <a:cxnSpLocks noChangeShapeType="1"/>
            <a:stCxn id="48178" idx="4"/>
            <a:endCxn id="48168" idx="4"/>
          </p:cNvCxnSpPr>
          <p:nvPr/>
        </p:nvCxnSpPr>
        <p:spPr bwMode="auto">
          <a:xfrm rot="5400000">
            <a:off x="5402264" y="1182689"/>
            <a:ext cx="1587" cy="2992437"/>
          </a:xfrm>
          <a:prstGeom prst="curvedConnector3">
            <a:avLst>
              <a:gd name="adj1" fmla="val 37899995"/>
            </a:avLst>
          </a:prstGeom>
          <a:noFill/>
          <a:ln w="19050">
            <a:solidFill>
              <a:schemeClr val="tx1"/>
            </a:solidFill>
            <a:round/>
            <a:headEnd/>
            <a:tailEnd type="triangle" w="lg" len="med"/>
          </a:ln>
        </p:spPr>
      </p:cxnSp>
      <p:cxnSp>
        <p:nvCxnSpPr>
          <p:cNvPr id="48202" name="AutoShape 100"/>
          <p:cNvCxnSpPr>
            <a:cxnSpLocks noChangeShapeType="1"/>
            <a:stCxn id="48173" idx="4"/>
            <a:endCxn id="48168" idx="4"/>
          </p:cNvCxnSpPr>
          <p:nvPr/>
        </p:nvCxnSpPr>
        <p:spPr bwMode="auto">
          <a:xfrm rot="5400000">
            <a:off x="4653758" y="1931195"/>
            <a:ext cx="1587" cy="1495425"/>
          </a:xfrm>
          <a:prstGeom prst="curvedConnector3">
            <a:avLst>
              <a:gd name="adj1" fmla="val 13800000"/>
            </a:avLst>
          </a:prstGeom>
          <a:noFill/>
          <a:ln w="19050">
            <a:solidFill>
              <a:schemeClr val="tx1"/>
            </a:solidFill>
            <a:round/>
            <a:headEnd/>
            <a:tailEnd type="triangle" w="lg" len="med"/>
          </a:ln>
        </p:spPr>
      </p:cxnSp>
      <p:cxnSp>
        <p:nvCxnSpPr>
          <p:cNvPr id="48203" name="AutoShape 101"/>
          <p:cNvCxnSpPr>
            <a:cxnSpLocks noChangeShapeType="1"/>
            <a:endCxn id="48190" idx="1"/>
          </p:cNvCxnSpPr>
          <p:nvPr/>
        </p:nvCxnSpPr>
        <p:spPr bwMode="auto">
          <a:xfrm rot="-5400000">
            <a:off x="8394701" y="877889"/>
            <a:ext cx="100013" cy="2351087"/>
          </a:xfrm>
          <a:prstGeom prst="curvedConnector3">
            <a:avLst>
              <a:gd name="adj1" fmla="val 960315"/>
            </a:avLst>
          </a:prstGeom>
          <a:noFill/>
          <a:ln w="19050">
            <a:solidFill>
              <a:schemeClr val="tx1"/>
            </a:solidFill>
            <a:round/>
            <a:headEnd/>
            <a:tailEnd type="triangle" w="lg" len="med"/>
          </a:ln>
        </p:spPr>
      </p:cxnSp>
      <p:cxnSp>
        <p:nvCxnSpPr>
          <p:cNvPr id="48204" name="AutoShape 102"/>
          <p:cNvCxnSpPr>
            <a:cxnSpLocks noChangeShapeType="1"/>
            <a:stCxn id="48183" idx="4"/>
            <a:endCxn id="48161" idx="4"/>
          </p:cNvCxnSpPr>
          <p:nvPr/>
        </p:nvCxnSpPr>
        <p:spPr bwMode="auto">
          <a:xfrm rot="5400000">
            <a:off x="5395914" y="-320675"/>
            <a:ext cx="1587" cy="5999163"/>
          </a:xfrm>
          <a:prstGeom prst="curvedConnector3">
            <a:avLst>
              <a:gd name="adj1" fmla="val 130399995"/>
            </a:avLst>
          </a:prstGeom>
          <a:noFill/>
          <a:ln w="19050">
            <a:solidFill>
              <a:schemeClr val="tx1"/>
            </a:solidFill>
            <a:round/>
            <a:headEnd/>
            <a:tailEnd type="triangle" w="lg" len="med"/>
          </a:ln>
        </p:spPr>
      </p:cxnSp>
      <p:cxnSp>
        <p:nvCxnSpPr>
          <p:cNvPr id="48205" name="AutoShape 103"/>
          <p:cNvCxnSpPr>
            <a:cxnSpLocks noChangeShapeType="1"/>
            <a:stCxn id="48183" idx="4"/>
            <a:endCxn id="48168" idx="4"/>
          </p:cNvCxnSpPr>
          <p:nvPr/>
        </p:nvCxnSpPr>
        <p:spPr bwMode="auto">
          <a:xfrm rot="5400000">
            <a:off x="6150770" y="434182"/>
            <a:ext cx="1587" cy="4489450"/>
          </a:xfrm>
          <a:prstGeom prst="curvedConnector3">
            <a:avLst>
              <a:gd name="adj1" fmla="val 98699995"/>
            </a:avLst>
          </a:prstGeom>
          <a:noFill/>
          <a:ln w="19050">
            <a:solidFill>
              <a:schemeClr val="tx1"/>
            </a:solidFill>
            <a:round/>
            <a:headEnd/>
            <a:tailEnd type="triangle" w="lg" len="med"/>
          </a:ln>
        </p:spPr>
      </p:cxnSp>
      <p:cxnSp>
        <p:nvCxnSpPr>
          <p:cNvPr id="48206" name="AutoShape 104"/>
          <p:cNvCxnSpPr>
            <a:cxnSpLocks noChangeShapeType="1"/>
            <a:stCxn id="48183" idx="1"/>
            <a:endCxn id="48173" idx="7"/>
          </p:cNvCxnSpPr>
          <p:nvPr/>
        </p:nvCxnSpPr>
        <p:spPr bwMode="auto">
          <a:xfrm rot="-5400000" flipH="1" flipV="1">
            <a:off x="6898481" y="778669"/>
            <a:ext cx="1588" cy="2451100"/>
          </a:xfrm>
          <a:prstGeom prst="curvedConnector3">
            <a:avLst>
              <a:gd name="adj1" fmla="val -47700005"/>
            </a:avLst>
          </a:prstGeom>
          <a:noFill/>
          <a:ln w="19050">
            <a:solidFill>
              <a:schemeClr val="tx1"/>
            </a:solidFill>
            <a:round/>
            <a:headEnd/>
            <a:tailEnd type="triangle" w="lg" len="med"/>
          </a:ln>
        </p:spPr>
      </p:cxnSp>
      <p:cxnSp>
        <p:nvCxnSpPr>
          <p:cNvPr id="48207" name="AutoShape 105"/>
          <p:cNvCxnSpPr>
            <a:cxnSpLocks noChangeShapeType="1"/>
            <a:stCxn id="48190" idx="4"/>
            <a:endCxn id="48161" idx="4"/>
          </p:cNvCxnSpPr>
          <p:nvPr/>
        </p:nvCxnSpPr>
        <p:spPr bwMode="auto">
          <a:xfrm rot="5400000">
            <a:off x="6143626" y="-1068387"/>
            <a:ext cx="1587" cy="7494588"/>
          </a:xfrm>
          <a:prstGeom prst="curvedConnector3">
            <a:avLst>
              <a:gd name="adj1" fmla="val 200699995"/>
            </a:avLst>
          </a:prstGeom>
          <a:noFill/>
          <a:ln w="19050">
            <a:solidFill>
              <a:schemeClr val="tx1"/>
            </a:solidFill>
            <a:round/>
            <a:headEnd/>
            <a:tailEnd type="triangle" w="lg" len="med"/>
          </a:ln>
        </p:spPr>
      </p:cxnSp>
      <p:cxnSp>
        <p:nvCxnSpPr>
          <p:cNvPr id="48208" name="AutoShape 106"/>
          <p:cNvCxnSpPr>
            <a:cxnSpLocks noChangeShapeType="1"/>
            <a:stCxn id="48190" idx="4"/>
            <a:endCxn id="48168" idx="4"/>
          </p:cNvCxnSpPr>
          <p:nvPr/>
        </p:nvCxnSpPr>
        <p:spPr bwMode="auto">
          <a:xfrm rot="5400000">
            <a:off x="6898483" y="-313531"/>
            <a:ext cx="1587" cy="5984875"/>
          </a:xfrm>
          <a:prstGeom prst="curvedConnector3">
            <a:avLst>
              <a:gd name="adj1" fmla="val 160999995"/>
            </a:avLst>
          </a:prstGeom>
          <a:noFill/>
          <a:ln w="19050">
            <a:solidFill>
              <a:schemeClr val="tx1"/>
            </a:solidFill>
            <a:round/>
            <a:headEnd/>
            <a:tailEnd type="triangle" w="lg" len="med"/>
          </a:ln>
        </p:spPr>
      </p:cxnSp>
      <p:cxnSp>
        <p:nvCxnSpPr>
          <p:cNvPr id="48209" name="AutoShape 107"/>
          <p:cNvCxnSpPr>
            <a:cxnSpLocks noChangeShapeType="1"/>
            <a:stCxn id="48190" idx="1"/>
            <a:endCxn id="48178" idx="7"/>
          </p:cNvCxnSpPr>
          <p:nvPr/>
        </p:nvCxnSpPr>
        <p:spPr bwMode="auto">
          <a:xfrm rot="-5400000" flipH="1" flipV="1">
            <a:off x="8394700" y="779463"/>
            <a:ext cx="1588" cy="2449512"/>
          </a:xfrm>
          <a:prstGeom prst="curvedConnector3">
            <a:avLst>
              <a:gd name="adj1" fmla="val -39500005"/>
            </a:avLst>
          </a:prstGeom>
          <a:noFill/>
          <a:ln w="19050">
            <a:solidFill>
              <a:schemeClr val="tx1"/>
            </a:solidFill>
            <a:round/>
            <a:headEnd/>
            <a:tailEnd type="triangle" w="lg" len="med"/>
          </a:ln>
        </p:spPr>
      </p:cxnSp>
    </p:spTree>
    <p:extLst>
      <p:ext uri="{BB962C8B-B14F-4D97-AF65-F5344CB8AC3E}">
        <p14:creationId xmlns:p14="http://schemas.microsoft.com/office/powerpoint/2010/main" val="994244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7"/>
          <p:cNvPicPr>
            <a:picLocks noGrp="1" noChangeAspect="1" noChangeArrowheads="1"/>
          </p:cNvPicPr>
          <p:nvPr>
            <p:ph/>
          </p:nvPr>
        </p:nvPicPr>
        <p:blipFill>
          <a:blip r:embed="rId3"/>
          <a:srcRect/>
          <a:stretch>
            <a:fillRect/>
          </a:stretch>
        </p:blipFill>
        <p:spPr>
          <a:xfrm>
            <a:off x="1550988" y="0"/>
            <a:ext cx="5662612" cy="6858000"/>
          </a:xfrm>
          <a:noFill/>
        </p:spPr>
      </p:pic>
      <p:sp>
        <p:nvSpPr>
          <p:cNvPr id="50179" name="Rectangle 9"/>
          <p:cNvSpPr>
            <a:spLocks noChangeArrowheads="1"/>
          </p:cNvSpPr>
          <p:nvPr/>
        </p:nvSpPr>
        <p:spPr bwMode="auto">
          <a:xfrm>
            <a:off x="5715000" y="304800"/>
            <a:ext cx="4419600" cy="1143000"/>
          </a:xfrm>
          <a:prstGeom prst="rect">
            <a:avLst/>
          </a:prstGeom>
          <a:noFill/>
          <a:ln w="19050">
            <a:noFill/>
            <a:miter lim="800000"/>
            <a:headEnd/>
            <a:tailEnd/>
          </a:ln>
        </p:spPr>
        <p:txBody>
          <a:bodyPr anchor="ctr">
            <a:prstTxWarp prst="textNoShape">
              <a:avLst/>
            </a:prstTxWarp>
          </a:bodyPr>
          <a:lstStyle/>
          <a:p>
            <a:r>
              <a:rPr lang="en-US" sz="3600" b="1">
                <a:solidFill>
                  <a:schemeClr val="accent2"/>
                </a:solidFill>
                <a:latin typeface="Times New Roman" charset="0"/>
              </a:rPr>
              <a:t>Cecil Frost data from 1985-1989</a:t>
            </a:r>
          </a:p>
        </p:txBody>
      </p:sp>
      <p:sp>
        <p:nvSpPr>
          <p:cNvPr id="50180" name="Text Box 10"/>
          <p:cNvSpPr txBox="1">
            <a:spLocks noChangeArrowheads="1"/>
          </p:cNvSpPr>
          <p:nvPr/>
        </p:nvSpPr>
        <p:spPr bwMode="auto">
          <a:xfrm>
            <a:off x="7067551" y="2089151"/>
            <a:ext cx="893763" cy="701675"/>
          </a:xfrm>
          <a:prstGeom prst="rect">
            <a:avLst/>
          </a:prstGeom>
          <a:noFill/>
          <a:ln w="9525">
            <a:noFill/>
            <a:miter lim="800000"/>
            <a:headEnd/>
            <a:tailEnd/>
          </a:ln>
        </p:spPr>
        <p:txBody>
          <a:bodyPr wrap="none">
            <a:prstTxWarp prst="textNoShape">
              <a:avLst/>
            </a:prstTxWarp>
            <a:spAutoFit/>
          </a:bodyPr>
          <a:lstStyle/>
          <a:p>
            <a:r>
              <a:rPr lang="en-US" sz="4000" b="1">
                <a:latin typeface="Times New Roman" charset="0"/>
              </a:rPr>
              <a:t>A</a:t>
            </a:r>
            <a:r>
              <a:rPr lang="en-US" sz="4000" b="1" baseline="-25000">
                <a:latin typeface="Times New Roman" charset="0"/>
              </a:rPr>
              <a:t>85</a:t>
            </a:r>
          </a:p>
        </p:txBody>
      </p:sp>
      <p:sp>
        <p:nvSpPr>
          <p:cNvPr id="50181" name="Text Box 11"/>
          <p:cNvSpPr txBox="1">
            <a:spLocks noChangeArrowheads="1"/>
          </p:cNvSpPr>
          <p:nvPr/>
        </p:nvSpPr>
        <p:spPr bwMode="auto">
          <a:xfrm>
            <a:off x="7067551" y="2916239"/>
            <a:ext cx="893763" cy="701675"/>
          </a:xfrm>
          <a:prstGeom prst="rect">
            <a:avLst/>
          </a:prstGeom>
          <a:noFill/>
          <a:ln w="9525">
            <a:noFill/>
            <a:miter lim="800000"/>
            <a:headEnd/>
            <a:tailEnd/>
          </a:ln>
        </p:spPr>
        <p:txBody>
          <a:bodyPr wrap="none">
            <a:prstTxWarp prst="textNoShape">
              <a:avLst/>
            </a:prstTxWarp>
            <a:spAutoFit/>
          </a:bodyPr>
          <a:lstStyle/>
          <a:p>
            <a:r>
              <a:rPr lang="en-US" sz="4000" b="1">
                <a:latin typeface="Times New Roman" charset="0"/>
              </a:rPr>
              <a:t>A</a:t>
            </a:r>
            <a:r>
              <a:rPr lang="en-US" sz="4000" b="1" baseline="-25000">
                <a:latin typeface="Times New Roman" charset="0"/>
              </a:rPr>
              <a:t>86</a:t>
            </a:r>
          </a:p>
        </p:txBody>
      </p:sp>
      <p:sp>
        <p:nvSpPr>
          <p:cNvPr id="50182" name="Text Box 12"/>
          <p:cNvSpPr txBox="1">
            <a:spLocks noChangeArrowheads="1"/>
          </p:cNvSpPr>
          <p:nvPr/>
        </p:nvSpPr>
        <p:spPr bwMode="auto">
          <a:xfrm>
            <a:off x="7067551" y="3743326"/>
            <a:ext cx="893763" cy="701675"/>
          </a:xfrm>
          <a:prstGeom prst="rect">
            <a:avLst/>
          </a:prstGeom>
          <a:noFill/>
          <a:ln w="9525">
            <a:noFill/>
            <a:miter lim="800000"/>
            <a:headEnd/>
            <a:tailEnd/>
          </a:ln>
        </p:spPr>
        <p:txBody>
          <a:bodyPr wrap="none">
            <a:prstTxWarp prst="textNoShape">
              <a:avLst/>
            </a:prstTxWarp>
            <a:spAutoFit/>
          </a:bodyPr>
          <a:lstStyle/>
          <a:p>
            <a:r>
              <a:rPr lang="en-US" sz="4000" b="1">
                <a:latin typeface="Times New Roman" charset="0"/>
              </a:rPr>
              <a:t>A</a:t>
            </a:r>
            <a:r>
              <a:rPr lang="en-US" sz="4000" b="1" baseline="-25000">
                <a:latin typeface="Times New Roman" charset="0"/>
              </a:rPr>
              <a:t>87</a:t>
            </a:r>
          </a:p>
        </p:txBody>
      </p:sp>
      <p:sp>
        <p:nvSpPr>
          <p:cNvPr id="50183" name="Text Box 13"/>
          <p:cNvSpPr txBox="1">
            <a:spLocks noChangeArrowheads="1"/>
          </p:cNvSpPr>
          <p:nvPr/>
        </p:nvSpPr>
        <p:spPr bwMode="auto">
          <a:xfrm>
            <a:off x="7067551" y="4572001"/>
            <a:ext cx="893763" cy="701675"/>
          </a:xfrm>
          <a:prstGeom prst="rect">
            <a:avLst/>
          </a:prstGeom>
          <a:noFill/>
          <a:ln w="9525">
            <a:noFill/>
            <a:miter lim="800000"/>
            <a:headEnd/>
            <a:tailEnd/>
          </a:ln>
        </p:spPr>
        <p:txBody>
          <a:bodyPr wrap="none">
            <a:prstTxWarp prst="textNoShape">
              <a:avLst/>
            </a:prstTxWarp>
            <a:spAutoFit/>
          </a:bodyPr>
          <a:lstStyle/>
          <a:p>
            <a:r>
              <a:rPr lang="en-US" sz="4000" b="1">
                <a:latin typeface="Times New Roman" charset="0"/>
              </a:rPr>
              <a:t>A</a:t>
            </a:r>
            <a:r>
              <a:rPr lang="en-US" sz="4000" b="1" baseline="-25000">
                <a:latin typeface="Times New Roman" charset="0"/>
              </a:rPr>
              <a:t>88</a:t>
            </a:r>
          </a:p>
        </p:txBody>
      </p:sp>
      <p:sp>
        <p:nvSpPr>
          <p:cNvPr id="50184" name="Text Box 14"/>
          <p:cNvSpPr txBox="1">
            <a:spLocks noChangeArrowheads="1"/>
          </p:cNvSpPr>
          <p:nvPr/>
        </p:nvSpPr>
        <p:spPr bwMode="auto">
          <a:xfrm>
            <a:off x="8439150" y="1600201"/>
            <a:ext cx="433388" cy="701675"/>
          </a:xfrm>
          <a:prstGeom prst="rect">
            <a:avLst/>
          </a:prstGeom>
          <a:noFill/>
          <a:ln w="9525">
            <a:noFill/>
            <a:miter lim="800000"/>
            <a:headEnd/>
            <a:tailEnd/>
          </a:ln>
        </p:spPr>
        <p:txBody>
          <a:bodyPr wrap="none">
            <a:prstTxWarp prst="textNoShape">
              <a:avLst/>
            </a:prstTxWarp>
            <a:spAutoFit/>
          </a:bodyPr>
          <a:lstStyle/>
          <a:p>
            <a:r>
              <a:rPr lang="en-US" sz="4000" b="1" dirty="0" err="1">
                <a:latin typeface="Times New Roman" charset="0"/>
                <a:ea typeface="Times New Roman" charset="0"/>
                <a:cs typeface="Times New Roman" charset="0"/>
              </a:rPr>
              <a:t>λ</a:t>
            </a:r>
            <a:endParaRPr lang="en-US" sz="4000" b="1" baseline="-25000" dirty="0">
              <a:latin typeface="Times New Roman" charset="0"/>
            </a:endParaRPr>
          </a:p>
        </p:txBody>
      </p:sp>
      <p:sp>
        <p:nvSpPr>
          <p:cNvPr id="50185" name="Text Box 15"/>
          <p:cNvSpPr txBox="1">
            <a:spLocks noChangeArrowheads="1"/>
          </p:cNvSpPr>
          <p:nvPr/>
        </p:nvSpPr>
        <p:spPr bwMode="auto">
          <a:xfrm>
            <a:off x="8362950" y="2286001"/>
            <a:ext cx="628650" cy="396875"/>
          </a:xfrm>
          <a:prstGeom prst="rect">
            <a:avLst/>
          </a:prstGeom>
          <a:noFill/>
          <a:ln w="9525">
            <a:noFill/>
            <a:miter lim="800000"/>
            <a:headEnd/>
            <a:tailEnd/>
          </a:ln>
        </p:spPr>
        <p:txBody>
          <a:bodyPr wrap="none">
            <a:prstTxWarp prst="textNoShape">
              <a:avLst/>
            </a:prstTxWarp>
            <a:spAutoFit/>
          </a:bodyPr>
          <a:lstStyle/>
          <a:p>
            <a:r>
              <a:rPr lang="en-US" sz="2000">
                <a:latin typeface="Times New Roman" charset="0"/>
              </a:rPr>
              <a:t>0.96</a:t>
            </a:r>
            <a:endParaRPr lang="en-US" sz="2000" baseline="-25000">
              <a:latin typeface="Times New Roman" charset="0"/>
            </a:endParaRPr>
          </a:p>
        </p:txBody>
      </p:sp>
      <p:sp>
        <p:nvSpPr>
          <p:cNvPr id="50186" name="Text Box 16"/>
          <p:cNvSpPr txBox="1">
            <a:spLocks noChangeArrowheads="1"/>
          </p:cNvSpPr>
          <p:nvPr/>
        </p:nvSpPr>
        <p:spPr bwMode="auto">
          <a:xfrm>
            <a:off x="8362950" y="3124201"/>
            <a:ext cx="628650" cy="396875"/>
          </a:xfrm>
          <a:prstGeom prst="rect">
            <a:avLst/>
          </a:prstGeom>
          <a:noFill/>
          <a:ln w="9525">
            <a:noFill/>
            <a:miter lim="800000"/>
            <a:headEnd/>
            <a:tailEnd/>
          </a:ln>
        </p:spPr>
        <p:txBody>
          <a:bodyPr wrap="none">
            <a:prstTxWarp prst="textNoShape">
              <a:avLst/>
            </a:prstTxWarp>
            <a:spAutoFit/>
          </a:bodyPr>
          <a:lstStyle/>
          <a:p>
            <a:r>
              <a:rPr lang="en-US" sz="2000">
                <a:latin typeface="Times New Roman" charset="0"/>
              </a:rPr>
              <a:t>1.01</a:t>
            </a:r>
            <a:endParaRPr lang="en-US" sz="2000" baseline="-25000">
              <a:latin typeface="Times New Roman" charset="0"/>
            </a:endParaRPr>
          </a:p>
        </p:txBody>
      </p:sp>
      <p:sp>
        <p:nvSpPr>
          <p:cNvPr id="50187" name="Text Box 17"/>
          <p:cNvSpPr txBox="1">
            <a:spLocks noChangeArrowheads="1"/>
          </p:cNvSpPr>
          <p:nvPr/>
        </p:nvSpPr>
        <p:spPr bwMode="auto">
          <a:xfrm>
            <a:off x="8362950" y="3946526"/>
            <a:ext cx="628650" cy="396875"/>
          </a:xfrm>
          <a:prstGeom prst="rect">
            <a:avLst/>
          </a:prstGeom>
          <a:noFill/>
          <a:ln w="9525">
            <a:noFill/>
            <a:miter lim="800000"/>
            <a:headEnd/>
            <a:tailEnd/>
          </a:ln>
        </p:spPr>
        <p:txBody>
          <a:bodyPr wrap="none">
            <a:prstTxWarp prst="textNoShape">
              <a:avLst/>
            </a:prstTxWarp>
            <a:spAutoFit/>
          </a:bodyPr>
          <a:lstStyle/>
          <a:p>
            <a:r>
              <a:rPr lang="en-US" sz="2000">
                <a:latin typeface="Times New Roman" charset="0"/>
              </a:rPr>
              <a:t>0.84</a:t>
            </a:r>
            <a:endParaRPr lang="en-US" sz="2000" baseline="-25000">
              <a:latin typeface="Times New Roman" charset="0"/>
            </a:endParaRPr>
          </a:p>
        </p:txBody>
      </p:sp>
      <p:sp>
        <p:nvSpPr>
          <p:cNvPr id="50188" name="Text Box 18"/>
          <p:cNvSpPr txBox="1">
            <a:spLocks noChangeArrowheads="1"/>
          </p:cNvSpPr>
          <p:nvPr/>
        </p:nvSpPr>
        <p:spPr bwMode="auto">
          <a:xfrm>
            <a:off x="8362950" y="4800601"/>
            <a:ext cx="628650" cy="396875"/>
          </a:xfrm>
          <a:prstGeom prst="rect">
            <a:avLst/>
          </a:prstGeom>
          <a:noFill/>
          <a:ln w="9525">
            <a:noFill/>
            <a:miter lim="800000"/>
            <a:headEnd/>
            <a:tailEnd/>
          </a:ln>
        </p:spPr>
        <p:txBody>
          <a:bodyPr wrap="none">
            <a:prstTxWarp prst="textNoShape">
              <a:avLst/>
            </a:prstTxWarp>
            <a:spAutoFit/>
          </a:bodyPr>
          <a:lstStyle/>
          <a:p>
            <a:r>
              <a:rPr lang="en-US" sz="2000">
                <a:latin typeface="Times New Roman" charset="0"/>
              </a:rPr>
              <a:t>1.02</a:t>
            </a:r>
            <a:endParaRPr lang="en-US" sz="2000" baseline="-25000">
              <a:latin typeface="Times New Roman" charset="0"/>
            </a:endParaRPr>
          </a:p>
        </p:txBody>
      </p:sp>
    </p:spTree>
    <p:extLst>
      <p:ext uri="{BB962C8B-B14F-4D97-AF65-F5344CB8AC3E}">
        <p14:creationId xmlns:p14="http://schemas.microsoft.com/office/powerpoint/2010/main" val="1125447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ChangeArrowheads="1"/>
          </p:cNvSpPr>
          <p:nvPr/>
        </p:nvSpPr>
        <p:spPr bwMode="auto">
          <a:xfrm>
            <a:off x="2057400" y="0"/>
            <a:ext cx="8229600" cy="1143000"/>
          </a:xfrm>
          <a:prstGeom prst="rect">
            <a:avLst/>
          </a:prstGeom>
          <a:noFill/>
          <a:ln w="19050">
            <a:noFill/>
            <a:miter lim="800000"/>
            <a:headEnd/>
            <a:tailEnd/>
          </a:ln>
        </p:spPr>
        <p:txBody>
          <a:bodyPr anchor="ctr">
            <a:prstTxWarp prst="textNoShape">
              <a:avLst/>
            </a:prstTxWarp>
          </a:bodyPr>
          <a:lstStyle/>
          <a:p>
            <a:pPr algn="ctr"/>
            <a:endParaRPr lang="en-US" sz="4400" b="1">
              <a:solidFill>
                <a:schemeClr val="tx2"/>
              </a:solidFill>
              <a:latin typeface="Times New Roman" charset="0"/>
            </a:endParaRPr>
          </a:p>
        </p:txBody>
      </p:sp>
      <p:sp>
        <p:nvSpPr>
          <p:cNvPr id="52227" name="Text Box 7"/>
          <p:cNvSpPr txBox="1">
            <a:spLocks noChangeArrowheads="1"/>
          </p:cNvSpPr>
          <p:nvPr/>
        </p:nvSpPr>
        <p:spPr bwMode="auto">
          <a:xfrm>
            <a:off x="1981200" y="1143001"/>
            <a:ext cx="8153400" cy="830997"/>
          </a:xfrm>
          <a:prstGeom prst="rect">
            <a:avLst/>
          </a:prstGeom>
          <a:noFill/>
          <a:ln w="9525">
            <a:noFill/>
            <a:miter lim="800000"/>
            <a:headEnd/>
            <a:tailEnd/>
          </a:ln>
        </p:spPr>
        <p:txBody>
          <a:bodyPr>
            <a:prstTxWarp prst="textNoShape">
              <a:avLst/>
            </a:prstTxWarp>
            <a:spAutoFit/>
          </a:bodyPr>
          <a:lstStyle/>
          <a:p>
            <a:r>
              <a:rPr lang="en-US" sz="2400" b="1">
                <a:solidFill>
                  <a:schemeClr val="accent2"/>
                </a:solidFill>
                <a:latin typeface="Times New Roman" charset="0"/>
              </a:rPr>
              <a:t>If we assume each matrix is equally likely, each has a 0.25 probability of occurrence</a:t>
            </a:r>
          </a:p>
        </p:txBody>
      </p:sp>
      <p:sp>
        <p:nvSpPr>
          <p:cNvPr id="52228" name="Text Box 8"/>
          <p:cNvSpPr txBox="1">
            <a:spLocks noChangeArrowheads="1"/>
          </p:cNvSpPr>
          <p:nvPr/>
        </p:nvSpPr>
        <p:spPr bwMode="auto">
          <a:xfrm>
            <a:off x="1981201" y="2249488"/>
            <a:ext cx="5349875" cy="457200"/>
          </a:xfrm>
          <a:prstGeom prst="rect">
            <a:avLst/>
          </a:prstGeom>
          <a:noFill/>
          <a:ln w="9525">
            <a:noFill/>
            <a:miter lim="800000"/>
            <a:headEnd/>
            <a:tailEnd/>
          </a:ln>
        </p:spPr>
        <p:txBody>
          <a:bodyPr>
            <a:prstTxWarp prst="textNoShape">
              <a:avLst/>
            </a:prstTxWarp>
            <a:spAutoFit/>
          </a:bodyPr>
          <a:lstStyle/>
          <a:p>
            <a:r>
              <a:rPr lang="en-US" sz="2400" b="1">
                <a:solidFill>
                  <a:schemeClr val="accent2"/>
                </a:solidFill>
                <a:latin typeface="Times New Roman" charset="0"/>
              </a:rPr>
              <a:t>Initial population size of 4343</a:t>
            </a:r>
          </a:p>
        </p:txBody>
      </p:sp>
      <p:sp>
        <p:nvSpPr>
          <p:cNvPr id="52229" name="Text Box 9"/>
          <p:cNvSpPr txBox="1">
            <a:spLocks noChangeArrowheads="1"/>
          </p:cNvSpPr>
          <p:nvPr/>
        </p:nvSpPr>
        <p:spPr bwMode="auto">
          <a:xfrm>
            <a:off x="1981201" y="2990850"/>
            <a:ext cx="8169275" cy="457200"/>
          </a:xfrm>
          <a:prstGeom prst="rect">
            <a:avLst/>
          </a:prstGeom>
          <a:noFill/>
          <a:ln w="9525">
            <a:noFill/>
            <a:miter lim="800000"/>
            <a:headEnd/>
            <a:tailEnd/>
          </a:ln>
        </p:spPr>
        <p:txBody>
          <a:bodyPr>
            <a:prstTxWarp prst="textNoShape">
              <a:avLst/>
            </a:prstTxWarp>
            <a:spAutoFit/>
          </a:bodyPr>
          <a:lstStyle/>
          <a:p>
            <a:r>
              <a:rPr lang="en-US" sz="2400" b="1">
                <a:solidFill>
                  <a:schemeClr val="accent2"/>
                </a:solidFill>
                <a:latin typeface="Times New Roman" charset="0"/>
              </a:rPr>
              <a:t>Project 50 years into the future</a:t>
            </a:r>
          </a:p>
        </p:txBody>
      </p:sp>
      <p:sp>
        <p:nvSpPr>
          <p:cNvPr id="52230" name="Text Box 16"/>
          <p:cNvSpPr txBox="1">
            <a:spLocks noChangeArrowheads="1"/>
          </p:cNvSpPr>
          <p:nvPr/>
        </p:nvSpPr>
        <p:spPr bwMode="auto">
          <a:xfrm>
            <a:off x="2184400" y="136525"/>
            <a:ext cx="7212808" cy="707886"/>
          </a:xfrm>
          <a:prstGeom prst="rect">
            <a:avLst/>
          </a:prstGeom>
          <a:noFill/>
          <a:ln w="9525">
            <a:noFill/>
            <a:miter lim="800000"/>
            <a:headEnd/>
            <a:tailEnd/>
          </a:ln>
        </p:spPr>
        <p:txBody>
          <a:bodyPr wrap="none">
            <a:prstTxWarp prst="textNoShape">
              <a:avLst/>
            </a:prstTxWarp>
            <a:spAutoFit/>
          </a:bodyPr>
          <a:lstStyle/>
          <a:p>
            <a:r>
              <a:rPr lang="en-US" sz="4000" b="1"/>
              <a:t>Input:  Golden mountain heather</a:t>
            </a:r>
          </a:p>
        </p:txBody>
      </p:sp>
      <p:sp>
        <p:nvSpPr>
          <p:cNvPr id="52231" name="Text Box 17"/>
          <p:cNvSpPr txBox="1">
            <a:spLocks noChangeArrowheads="1"/>
          </p:cNvSpPr>
          <p:nvPr/>
        </p:nvSpPr>
        <p:spPr bwMode="auto">
          <a:xfrm>
            <a:off x="1981201" y="3733800"/>
            <a:ext cx="8169275" cy="457200"/>
          </a:xfrm>
          <a:prstGeom prst="rect">
            <a:avLst/>
          </a:prstGeom>
          <a:noFill/>
          <a:ln w="9525">
            <a:noFill/>
            <a:miter lim="800000"/>
            <a:headEnd/>
            <a:tailEnd/>
          </a:ln>
        </p:spPr>
        <p:txBody>
          <a:bodyPr>
            <a:prstTxWarp prst="textNoShape">
              <a:avLst/>
            </a:prstTxWarp>
            <a:spAutoFit/>
          </a:bodyPr>
          <a:lstStyle/>
          <a:p>
            <a:r>
              <a:rPr lang="en-US" sz="2400" b="1">
                <a:solidFill>
                  <a:schemeClr val="accent2"/>
                </a:solidFill>
                <a:latin typeface="Times New Roman" charset="0"/>
              </a:rPr>
              <a:t>5000 replicate simulations</a:t>
            </a:r>
          </a:p>
        </p:txBody>
      </p:sp>
    </p:spTree>
    <p:extLst>
      <p:ext uri="{BB962C8B-B14F-4D97-AF65-F5344CB8AC3E}">
        <p14:creationId xmlns:p14="http://schemas.microsoft.com/office/powerpoint/2010/main" val="9834596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2"/>
          <p:cNvPicPr>
            <a:picLocks noChangeAspect="1" noChangeArrowheads="1"/>
          </p:cNvPicPr>
          <p:nvPr/>
        </p:nvPicPr>
        <p:blipFill>
          <a:blip r:embed="rId3"/>
          <a:srcRect/>
          <a:stretch>
            <a:fillRect/>
          </a:stretch>
        </p:blipFill>
        <p:spPr bwMode="auto">
          <a:xfrm>
            <a:off x="2514600" y="963613"/>
            <a:ext cx="7086600" cy="4983162"/>
          </a:xfrm>
          <a:prstGeom prst="rect">
            <a:avLst/>
          </a:prstGeom>
          <a:noFill/>
          <a:ln w="9525">
            <a:noFill/>
            <a:miter lim="800000"/>
            <a:headEnd/>
            <a:tailEnd/>
          </a:ln>
        </p:spPr>
      </p:pic>
      <p:sp>
        <p:nvSpPr>
          <p:cNvPr id="54275" name="Text Box 3"/>
          <p:cNvSpPr txBox="1">
            <a:spLocks noChangeArrowheads="1"/>
          </p:cNvSpPr>
          <p:nvPr/>
        </p:nvSpPr>
        <p:spPr bwMode="auto">
          <a:xfrm>
            <a:off x="4114800" y="5715000"/>
            <a:ext cx="3786188" cy="457200"/>
          </a:xfrm>
          <a:prstGeom prst="rect">
            <a:avLst/>
          </a:prstGeom>
          <a:noFill/>
          <a:ln w="9525">
            <a:noFill/>
            <a:miter lim="800000"/>
            <a:headEnd/>
            <a:tailEnd/>
          </a:ln>
        </p:spPr>
        <p:txBody>
          <a:bodyPr wrap="none">
            <a:prstTxWarp prst="textNoShape">
              <a:avLst/>
            </a:prstTxWarp>
            <a:spAutoFit/>
          </a:bodyPr>
          <a:lstStyle/>
          <a:p>
            <a:r>
              <a:rPr lang="en-US" sz="2400">
                <a:latin typeface="Times New Roman" charset="0"/>
              </a:rPr>
              <a:t>Population size after 50 years</a:t>
            </a:r>
          </a:p>
        </p:txBody>
      </p:sp>
      <p:sp>
        <p:nvSpPr>
          <p:cNvPr id="54276" name="Text Box 4"/>
          <p:cNvSpPr txBox="1">
            <a:spLocks noChangeArrowheads="1"/>
          </p:cNvSpPr>
          <p:nvPr/>
        </p:nvSpPr>
        <p:spPr bwMode="auto">
          <a:xfrm rot="-5400000">
            <a:off x="2008188" y="2944813"/>
            <a:ext cx="1470025" cy="457200"/>
          </a:xfrm>
          <a:prstGeom prst="rect">
            <a:avLst/>
          </a:prstGeom>
          <a:noFill/>
          <a:ln w="9525">
            <a:noFill/>
            <a:miter lim="800000"/>
            <a:headEnd/>
            <a:tailEnd/>
          </a:ln>
        </p:spPr>
        <p:txBody>
          <a:bodyPr wrap="none">
            <a:prstTxWarp prst="textNoShape">
              <a:avLst/>
            </a:prstTxWarp>
            <a:spAutoFit/>
          </a:bodyPr>
          <a:lstStyle/>
          <a:p>
            <a:r>
              <a:rPr lang="en-US" sz="2400">
                <a:latin typeface="Times New Roman" charset="0"/>
              </a:rPr>
              <a:t>Frequency</a:t>
            </a:r>
          </a:p>
        </p:txBody>
      </p:sp>
      <p:sp>
        <p:nvSpPr>
          <p:cNvPr id="54277" name="Text Box 5"/>
          <p:cNvSpPr txBox="1">
            <a:spLocks noChangeArrowheads="1"/>
          </p:cNvSpPr>
          <p:nvPr/>
        </p:nvSpPr>
        <p:spPr bwMode="auto">
          <a:xfrm>
            <a:off x="6248400" y="1828800"/>
            <a:ext cx="1506538" cy="457200"/>
          </a:xfrm>
          <a:prstGeom prst="rect">
            <a:avLst/>
          </a:prstGeom>
          <a:noFill/>
          <a:ln w="9525">
            <a:noFill/>
            <a:miter lim="800000"/>
            <a:headEnd/>
            <a:tailEnd/>
          </a:ln>
        </p:spPr>
        <p:txBody>
          <a:bodyPr wrap="none">
            <a:prstTxWarp prst="textNoShape">
              <a:avLst/>
            </a:prstTxWarp>
            <a:spAutoFit/>
          </a:bodyPr>
          <a:lstStyle/>
          <a:p>
            <a:r>
              <a:rPr lang="en-US" sz="2400">
                <a:latin typeface="Times New Roman" charset="0"/>
              </a:rPr>
              <a:t>Mean=663</a:t>
            </a:r>
          </a:p>
        </p:txBody>
      </p:sp>
      <p:sp>
        <p:nvSpPr>
          <p:cNvPr id="54278" name="Text Box 6"/>
          <p:cNvSpPr txBox="1">
            <a:spLocks noChangeArrowheads="1"/>
          </p:cNvSpPr>
          <p:nvPr/>
        </p:nvSpPr>
        <p:spPr bwMode="auto">
          <a:xfrm>
            <a:off x="1912939" y="60325"/>
            <a:ext cx="7600735" cy="707886"/>
          </a:xfrm>
          <a:prstGeom prst="rect">
            <a:avLst/>
          </a:prstGeom>
          <a:noFill/>
          <a:ln w="9525">
            <a:noFill/>
            <a:miter lim="800000"/>
            <a:headEnd/>
            <a:tailEnd/>
          </a:ln>
        </p:spPr>
        <p:txBody>
          <a:bodyPr wrap="none">
            <a:prstTxWarp prst="textNoShape">
              <a:avLst/>
            </a:prstTxWarp>
            <a:spAutoFit/>
          </a:bodyPr>
          <a:lstStyle/>
          <a:p>
            <a:r>
              <a:rPr lang="en-US" sz="4000" b="1"/>
              <a:t>Output:  Golden mountain heather</a:t>
            </a:r>
          </a:p>
        </p:txBody>
      </p:sp>
    </p:spTree>
    <p:extLst>
      <p:ext uri="{BB962C8B-B14F-4D97-AF65-F5344CB8AC3E}">
        <p14:creationId xmlns:p14="http://schemas.microsoft.com/office/powerpoint/2010/main" val="15943837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2"/>
          <p:cNvPicPr>
            <a:picLocks noChangeAspect="1" noChangeArrowheads="1"/>
          </p:cNvPicPr>
          <p:nvPr/>
        </p:nvPicPr>
        <p:blipFill>
          <a:blip r:embed="rId3"/>
          <a:srcRect/>
          <a:stretch>
            <a:fillRect/>
          </a:stretch>
        </p:blipFill>
        <p:spPr bwMode="auto">
          <a:xfrm>
            <a:off x="2286000" y="750888"/>
            <a:ext cx="8382000" cy="5892800"/>
          </a:xfrm>
          <a:prstGeom prst="rect">
            <a:avLst/>
          </a:prstGeom>
          <a:noFill/>
          <a:ln w="9525">
            <a:noFill/>
            <a:miter lim="800000"/>
            <a:headEnd/>
            <a:tailEnd/>
          </a:ln>
        </p:spPr>
      </p:pic>
      <p:sp>
        <p:nvSpPr>
          <p:cNvPr id="56323" name="Text Box 3"/>
          <p:cNvSpPr txBox="1">
            <a:spLocks noChangeArrowheads="1"/>
          </p:cNvSpPr>
          <p:nvPr/>
        </p:nvSpPr>
        <p:spPr bwMode="auto">
          <a:xfrm>
            <a:off x="1912939" y="60325"/>
            <a:ext cx="7600735" cy="707886"/>
          </a:xfrm>
          <a:prstGeom prst="rect">
            <a:avLst/>
          </a:prstGeom>
          <a:noFill/>
          <a:ln w="9525">
            <a:noFill/>
            <a:miter lim="800000"/>
            <a:headEnd/>
            <a:tailEnd/>
          </a:ln>
        </p:spPr>
        <p:txBody>
          <a:bodyPr wrap="none">
            <a:prstTxWarp prst="textNoShape">
              <a:avLst/>
            </a:prstTxWarp>
            <a:spAutoFit/>
          </a:bodyPr>
          <a:lstStyle/>
          <a:p>
            <a:r>
              <a:rPr lang="en-US" sz="4000" b="1"/>
              <a:t>Output:  Golden mountain heather</a:t>
            </a:r>
          </a:p>
        </p:txBody>
      </p:sp>
      <p:sp>
        <p:nvSpPr>
          <p:cNvPr id="56324" name="Text Box 4"/>
          <p:cNvSpPr txBox="1">
            <a:spLocks noChangeArrowheads="1"/>
          </p:cNvSpPr>
          <p:nvPr/>
        </p:nvSpPr>
        <p:spPr bwMode="auto">
          <a:xfrm>
            <a:off x="4038600" y="1828800"/>
            <a:ext cx="1996700" cy="369332"/>
          </a:xfrm>
          <a:prstGeom prst="rect">
            <a:avLst/>
          </a:prstGeom>
          <a:noFill/>
          <a:ln w="9525">
            <a:noFill/>
            <a:miter lim="800000"/>
            <a:headEnd/>
            <a:tailEnd/>
          </a:ln>
        </p:spPr>
        <p:txBody>
          <a:bodyPr wrap="none">
            <a:prstTxWarp prst="textNoShape">
              <a:avLst/>
            </a:prstTxWarp>
            <a:spAutoFit/>
          </a:bodyPr>
          <a:lstStyle/>
          <a:p>
            <a:r>
              <a:rPr lang="en-US" b="1">
                <a:solidFill>
                  <a:srgbClr val="990000"/>
                </a:solidFill>
              </a:rPr>
              <a:t>QE threshold = 500</a:t>
            </a:r>
          </a:p>
        </p:txBody>
      </p:sp>
    </p:spTree>
    <p:extLst>
      <p:ext uri="{BB962C8B-B14F-4D97-AF65-F5344CB8AC3E}">
        <p14:creationId xmlns:p14="http://schemas.microsoft.com/office/powerpoint/2010/main" val="150670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1676400" y="-152400"/>
            <a:ext cx="8763000" cy="1143000"/>
          </a:xfrm>
          <a:noFill/>
        </p:spPr>
        <p:txBody>
          <a:bodyPr vert="horz" lIns="92075" tIns="46038" rIns="92075" bIns="46038" rtlCol="0" anchor="b">
            <a:normAutofit/>
          </a:bodyPr>
          <a:lstStyle/>
          <a:p>
            <a:pPr eaLnBrk="1" hangingPunct="1"/>
            <a:r>
              <a:rPr lang="en-US" sz="4000" b="1"/>
              <a:t>Temporal mosaic of environments</a:t>
            </a:r>
          </a:p>
        </p:txBody>
      </p:sp>
      <p:grpSp>
        <p:nvGrpSpPr>
          <p:cNvPr id="2" name="Group 3"/>
          <p:cNvGrpSpPr>
            <a:grpSpLocks/>
          </p:cNvGrpSpPr>
          <p:nvPr/>
        </p:nvGrpSpPr>
        <p:grpSpPr bwMode="auto">
          <a:xfrm>
            <a:off x="1963738" y="3795713"/>
            <a:ext cx="1897062" cy="1981200"/>
            <a:chOff x="312" y="2688"/>
            <a:chExt cx="1344" cy="1248"/>
          </a:xfrm>
        </p:grpSpPr>
        <p:sp>
          <p:nvSpPr>
            <p:cNvPr id="58405" name="Line 4"/>
            <p:cNvSpPr>
              <a:spLocks noChangeShapeType="1"/>
            </p:cNvSpPr>
            <p:nvPr/>
          </p:nvSpPr>
          <p:spPr bwMode="auto">
            <a:xfrm>
              <a:off x="312" y="2688"/>
              <a:ext cx="1344" cy="1248"/>
            </a:xfrm>
            <a:prstGeom prst="line">
              <a:avLst/>
            </a:prstGeom>
            <a:noFill/>
            <a:ln w="76200">
              <a:solidFill>
                <a:schemeClr val="tx1"/>
              </a:solidFill>
              <a:round/>
              <a:headEnd type="oval" w="med" len="med"/>
              <a:tailEnd type="stealth" w="med" len="lg"/>
            </a:ln>
          </p:spPr>
          <p:txBody>
            <a:bodyPr wrap="none" anchor="ctr">
              <a:prstTxWarp prst="textNoShape">
                <a:avLst/>
              </a:prstTxWarp>
            </a:bodyPr>
            <a:lstStyle/>
            <a:p>
              <a:endParaRPr lang="en-US"/>
            </a:p>
          </p:txBody>
        </p:sp>
        <p:sp>
          <p:nvSpPr>
            <p:cNvPr id="58406" name="Rectangle 5"/>
            <p:cNvSpPr>
              <a:spLocks noChangeArrowheads="1"/>
            </p:cNvSpPr>
            <p:nvPr/>
          </p:nvSpPr>
          <p:spPr bwMode="auto">
            <a:xfrm>
              <a:off x="350" y="3561"/>
              <a:ext cx="608" cy="327"/>
            </a:xfrm>
            <a:prstGeom prst="rect">
              <a:avLst/>
            </a:prstGeom>
            <a:noFill/>
            <a:ln w="9525">
              <a:noFill/>
              <a:miter lim="800000"/>
              <a:headEnd/>
              <a:tailEnd/>
            </a:ln>
          </p:spPr>
          <p:txBody>
            <a:bodyPr wrap="none" lIns="92075" tIns="46038" rIns="92075" bIns="46038">
              <a:prstTxWarp prst="textNoShape">
                <a:avLst/>
              </a:prstTxWarp>
              <a:spAutoFit/>
            </a:bodyPr>
            <a:lstStyle/>
            <a:p>
              <a:pPr eaLnBrk="0" hangingPunct="0"/>
              <a:r>
                <a:rPr lang="en-US" sz="2800"/>
                <a:t>time</a:t>
              </a:r>
            </a:p>
          </p:txBody>
        </p:sp>
      </p:grpSp>
      <p:grpSp>
        <p:nvGrpSpPr>
          <p:cNvPr id="3" name="Group 6"/>
          <p:cNvGrpSpPr>
            <a:grpSpLocks/>
          </p:cNvGrpSpPr>
          <p:nvPr/>
        </p:nvGrpSpPr>
        <p:grpSpPr bwMode="auto">
          <a:xfrm>
            <a:off x="7247842" y="1972677"/>
            <a:ext cx="3441700" cy="3873500"/>
            <a:chOff x="796" y="1636"/>
            <a:chExt cx="2440" cy="2440"/>
          </a:xfrm>
        </p:grpSpPr>
        <p:sp>
          <p:nvSpPr>
            <p:cNvPr id="58390" name="Rectangle 7"/>
            <p:cNvSpPr>
              <a:spLocks noChangeArrowheads="1"/>
            </p:cNvSpPr>
            <p:nvPr/>
          </p:nvSpPr>
          <p:spPr bwMode="auto">
            <a:xfrm>
              <a:off x="796" y="1636"/>
              <a:ext cx="1096" cy="1096"/>
            </a:xfrm>
            <a:prstGeom prst="rect">
              <a:avLst/>
            </a:prstGeom>
            <a:solidFill>
              <a:schemeClr val="accent1"/>
            </a:solidFill>
            <a:ln w="12700">
              <a:solidFill>
                <a:schemeClr val="tx1"/>
              </a:solidFill>
              <a:miter lim="800000"/>
              <a:headEnd/>
              <a:tailEnd/>
            </a:ln>
          </p:spPr>
          <p:txBody>
            <a:bodyPr wrap="none" anchor="ctr">
              <a:prstTxWarp prst="textNoShape">
                <a:avLst/>
              </a:prstTxWarp>
            </a:bodyPr>
            <a:lstStyle/>
            <a:p>
              <a:endParaRPr lang="en-US"/>
            </a:p>
          </p:txBody>
        </p:sp>
        <p:sp>
          <p:nvSpPr>
            <p:cNvPr id="58391" name="Rectangle 8"/>
            <p:cNvSpPr>
              <a:spLocks noChangeArrowheads="1"/>
            </p:cNvSpPr>
            <p:nvPr/>
          </p:nvSpPr>
          <p:spPr bwMode="auto">
            <a:xfrm>
              <a:off x="892" y="1732"/>
              <a:ext cx="1096" cy="1096"/>
            </a:xfrm>
            <a:prstGeom prst="rect">
              <a:avLst/>
            </a:prstGeom>
            <a:solidFill>
              <a:srgbClr val="FF0033"/>
            </a:solidFill>
            <a:ln w="12700">
              <a:solidFill>
                <a:schemeClr val="tx1"/>
              </a:solidFill>
              <a:miter lim="800000"/>
              <a:headEnd/>
              <a:tailEnd/>
            </a:ln>
          </p:spPr>
          <p:txBody>
            <a:bodyPr wrap="none" anchor="ctr">
              <a:prstTxWarp prst="textNoShape">
                <a:avLst/>
              </a:prstTxWarp>
            </a:bodyPr>
            <a:lstStyle/>
            <a:p>
              <a:endParaRPr lang="en-US"/>
            </a:p>
          </p:txBody>
        </p:sp>
        <p:sp>
          <p:nvSpPr>
            <p:cNvPr id="58392" name="Rectangle 9"/>
            <p:cNvSpPr>
              <a:spLocks noChangeArrowheads="1"/>
            </p:cNvSpPr>
            <p:nvPr/>
          </p:nvSpPr>
          <p:spPr bwMode="auto">
            <a:xfrm>
              <a:off x="988" y="1828"/>
              <a:ext cx="1096" cy="1096"/>
            </a:xfrm>
            <a:prstGeom prst="rect">
              <a:avLst/>
            </a:prstGeom>
            <a:solidFill>
              <a:srgbClr val="FF0033"/>
            </a:solidFill>
            <a:ln w="12700">
              <a:solidFill>
                <a:schemeClr val="tx1"/>
              </a:solidFill>
              <a:miter lim="800000"/>
              <a:headEnd/>
              <a:tailEnd/>
            </a:ln>
          </p:spPr>
          <p:txBody>
            <a:bodyPr wrap="none" anchor="ctr">
              <a:prstTxWarp prst="textNoShape">
                <a:avLst/>
              </a:prstTxWarp>
            </a:bodyPr>
            <a:lstStyle/>
            <a:p>
              <a:endParaRPr lang="en-US"/>
            </a:p>
          </p:txBody>
        </p:sp>
        <p:sp>
          <p:nvSpPr>
            <p:cNvPr id="58393" name="Rectangle 10"/>
            <p:cNvSpPr>
              <a:spLocks noChangeArrowheads="1"/>
            </p:cNvSpPr>
            <p:nvPr/>
          </p:nvSpPr>
          <p:spPr bwMode="auto">
            <a:xfrm>
              <a:off x="1084" y="1924"/>
              <a:ext cx="1096" cy="1096"/>
            </a:xfrm>
            <a:prstGeom prst="rect">
              <a:avLst/>
            </a:prstGeom>
            <a:solidFill>
              <a:schemeClr val="accent1"/>
            </a:solidFill>
            <a:ln w="12700">
              <a:solidFill>
                <a:schemeClr val="tx1"/>
              </a:solidFill>
              <a:miter lim="800000"/>
              <a:headEnd/>
              <a:tailEnd/>
            </a:ln>
          </p:spPr>
          <p:txBody>
            <a:bodyPr wrap="none" anchor="ctr">
              <a:prstTxWarp prst="textNoShape">
                <a:avLst/>
              </a:prstTxWarp>
            </a:bodyPr>
            <a:lstStyle/>
            <a:p>
              <a:endParaRPr lang="en-US"/>
            </a:p>
          </p:txBody>
        </p:sp>
        <p:sp>
          <p:nvSpPr>
            <p:cNvPr id="58394" name="Rectangle 11"/>
            <p:cNvSpPr>
              <a:spLocks noChangeArrowheads="1"/>
            </p:cNvSpPr>
            <p:nvPr/>
          </p:nvSpPr>
          <p:spPr bwMode="auto">
            <a:xfrm>
              <a:off x="1180" y="2020"/>
              <a:ext cx="1096" cy="1096"/>
            </a:xfrm>
            <a:prstGeom prst="rect">
              <a:avLst/>
            </a:prstGeom>
            <a:solidFill>
              <a:schemeClr val="hlink"/>
            </a:solidFill>
            <a:ln w="12700">
              <a:solidFill>
                <a:schemeClr val="tx1"/>
              </a:solidFill>
              <a:miter lim="800000"/>
              <a:headEnd/>
              <a:tailEnd/>
            </a:ln>
          </p:spPr>
          <p:txBody>
            <a:bodyPr wrap="none" anchor="ctr">
              <a:prstTxWarp prst="textNoShape">
                <a:avLst/>
              </a:prstTxWarp>
            </a:bodyPr>
            <a:lstStyle/>
            <a:p>
              <a:endParaRPr lang="en-US"/>
            </a:p>
          </p:txBody>
        </p:sp>
        <p:sp>
          <p:nvSpPr>
            <p:cNvPr id="58395" name="Rectangle 12"/>
            <p:cNvSpPr>
              <a:spLocks noChangeArrowheads="1"/>
            </p:cNvSpPr>
            <p:nvPr/>
          </p:nvSpPr>
          <p:spPr bwMode="auto">
            <a:xfrm>
              <a:off x="1276" y="2116"/>
              <a:ext cx="1096" cy="1096"/>
            </a:xfrm>
            <a:prstGeom prst="rect">
              <a:avLst/>
            </a:prstGeom>
            <a:solidFill>
              <a:schemeClr val="accent1"/>
            </a:solidFill>
            <a:ln w="12700">
              <a:solidFill>
                <a:schemeClr val="tx1"/>
              </a:solidFill>
              <a:miter lim="800000"/>
              <a:headEnd/>
              <a:tailEnd/>
            </a:ln>
          </p:spPr>
          <p:txBody>
            <a:bodyPr wrap="none" anchor="ctr">
              <a:prstTxWarp prst="textNoShape">
                <a:avLst/>
              </a:prstTxWarp>
            </a:bodyPr>
            <a:lstStyle/>
            <a:p>
              <a:endParaRPr lang="en-US"/>
            </a:p>
          </p:txBody>
        </p:sp>
        <p:sp>
          <p:nvSpPr>
            <p:cNvPr id="58396" name="Rectangle 13"/>
            <p:cNvSpPr>
              <a:spLocks noChangeArrowheads="1"/>
            </p:cNvSpPr>
            <p:nvPr/>
          </p:nvSpPr>
          <p:spPr bwMode="auto">
            <a:xfrm>
              <a:off x="1372" y="2212"/>
              <a:ext cx="1096" cy="1096"/>
            </a:xfrm>
            <a:prstGeom prst="rect">
              <a:avLst/>
            </a:prstGeom>
            <a:solidFill>
              <a:srgbClr val="FF0033"/>
            </a:solidFill>
            <a:ln w="12700">
              <a:solidFill>
                <a:schemeClr val="tx1"/>
              </a:solidFill>
              <a:miter lim="800000"/>
              <a:headEnd/>
              <a:tailEnd/>
            </a:ln>
          </p:spPr>
          <p:txBody>
            <a:bodyPr wrap="none" anchor="ctr">
              <a:prstTxWarp prst="textNoShape">
                <a:avLst/>
              </a:prstTxWarp>
            </a:bodyPr>
            <a:lstStyle/>
            <a:p>
              <a:endParaRPr lang="en-US"/>
            </a:p>
          </p:txBody>
        </p:sp>
        <p:sp>
          <p:nvSpPr>
            <p:cNvPr id="58397" name="Rectangle 14"/>
            <p:cNvSpPr>
              <a:spLocks noChangeArrowheads="1"/>
            </p:cNvSpPr>
            <p:nvPr/>
          </p:nvSpPr>
          <p:spPr bwMode="auto">
            <a:xfrm>
              <a:off x="1468" y="2308"/>
              <a:ext cx="1096" cy="1096"/>
            </a:xfrm>
            <a:prstGeom prst="rect">
              <a:avLst/>
            </a:prstGeom>
            <a:solidFill>
              <a:srgbClr val="FF0033"/>
            </a:solidFill>
            <a:ln w="12700">
              <a:solidFill>
                <a:schemeClr val="tx1"/>
              </a:solidFill>
              <a:miter lim="800000"/>
              <a:headEnd/>
              <a:tailEnd/>
            </a:ln>
          </p:spPr>
          <p:txBody>
            <a:bodyPr wrap="none" anchor="ctr">
              <a:prstTxWarp prst="textNoShape">
                <a:avLst/>
              </a:prstTxWarp>
            </a:bodyPr>
            <a:lstStyle/>
            <a:p>
              <a:endParaRPr lang="en-US"/>
            </a:p>
          </p:txBody>
        </p:sp>
        <p:sp>
          <p:nvSpPr>
            <p:cNvPr id="58398" name="Rectangle 15"/>
            <p:cNvSpPr>
              <a:spLocks noChangeArrowheads="1"/>
            </p:cNvSpPr>
            <p:nvPr/>
          </p:nvSpPr>
          <p:spPr bwMode="auto">
            <a:xfrm>
              <a:off x="1564" y="2404"/>
              <a:ext cx="1096" cy="1096"/>
            </a:xfrm>
            <a:prstGeom prst="rect">
              <a:avLst/>
            </a:prstGeom>
            <a:solidFill>
              <a:schemeClr val="accent1"/>
            </a:solidFill>
            <a:ln w="12700">
              <a:solidFill>
                <a:schemeClr val="tx1"/>
              </a:solidFill>
              <a:miter lim="800000"/>
              <a:headEnd/>
              <a:tailEnd/>
            </a:ln>
          </p:spPr>
          <p:txBody>
            <a:bodyPr wrap="none" anchor="ctr">
              <a:prstTxWarp prst="textNoShape">
                <a:avLst/>
              </a:prstTxWarp>
            </a:bodyPr>
            <a:lstStyle/>
            <a:p>
              <a:endParaRPr lang="en-US"/>
            </a:p>
          </p:txBody>
        </p:sp>
        <p:sp>
          <p:nvSpPr>
            <p:cNvPr id="58399" name="Rectangle 16"/>
            <p:cNvSpPr>
              <a:spLocks noChangeArrowheads="1"/>
            </p:cNvSpPr>
            <p:nvPr/>
          </p:nvSpPr>
          <p:spPr bwMode="auto">
            <a:xfrm>
              <a:off x="1660" y="2500"/>
              <a:ext cx="1096" cy="1096"/>
            </a:xfrm>
            <a:prstGeom prst="rect">
              <a:avLst/>
            </a:prstGeom>
            <a:solidFill>
              <a:schemeClr val="hlink"/>
            </a:solidFill>
            <a:ln w="12700">
              <a:solidFill>
                <a:schemeClr val="tx1"/>
              </a:solidFill>
              <a:miter lim="800000"/>
              <a:headEnd/>
              <a:tailEnd/>
            </a:ln>
          </p:spPr>
          <p:txBody>
            <a:bodyPr wrap="none" anchor="ctr">
              <a:prstTxWarp prst="textNoShape">
                <a:avLst/>
              </a:prstTxWarp>
            </a:bodyPr>
            <a:lstStyle/>
            <a:p>
              <a:endParaRPr lang="en-US"/>
            </a:p>
          </p:txBody>
        </p:sp>
        <p:sp>
          <p:nvSpPr>
            <p:cNvPr id="58400" name="Rectangle 17"/>
            <p:cNvSpPr>
              <a:spLocks noChangeArrowheads="1"/>
            </p:cNvSpPr>
            <p:nvPr/>
          </p:nvSpPr>
          <p:spPr bwMode="auto">
            <a:xfrm>
              <a:off x="1756" y="2596"/>
              <a:ext cx="1096" cy="1096"/>
            </a:xfrm>
            <a:prstGeom prst="rect">
              <a:avLst/>
            </a:prstGeom>
            <a:solidFill>
              <a:schemeClr val="accent1"/>
            </a:solidFill>
            <a:ln w="12700">
              <a:solidFill>
                <a:schemeClr val="tx1"/>
              </a:solidFill>
              <a:miter lim="800000"/>
              <a:headEnd/>
              <a:tailEnd/>
            </a:ln>
          </p:spPr>
          <p:txBody>
            <a:bodyPr wrap="none" anchor="ctr">
              <a:prstTxWarp prst="textNoShape">
                <a:avLst/>
              </a:prstTxWarp>
            </a:bodyPr>
            <a:lstStyle/>
            <a:p>
              <a:endParaRPr lang="en-US"/>
            </a:p>
          </p:txBody>
        </p:sp>
        <p:sp>
          <p:nvSpPr>
            <p:cNvPr id="58401" name="Rectangle 18"/>
            <p:cNvSpPr>
              <a:spLocks noChangeArrowheads="1"/>
            </p:cNvSpPr>
            <p:nvPr/>
          </p:nvSpPr>
          <p:spPr bwMode="auto">
            <a:xfrm>
              <a:off x="1852" y="2692"/>
              <a:ext cx="1096" cy="1096"/>
            </a:xfrm>
            <a:prstGeom prst="rect">
              <a:avLst/>
            </a:prstGeom>
            <a:solidFill>
              <a:srgbClr val="FF0033"/>
            </a:solidFill>
            <a:ln w="12700">
              <a:solidFill>
                <a:schemeClr val="tx1"/>
              </a:solidFill>
              <a:miter lim="800000"/>
              <a:headEnd/>
              <a:tailEnd/>
            </a:ln>
          </p:spPr>
          <p:txBody>
            <a:bodyPr wrap="none" anchor="ctr">
              <a:prstTxWarp prst="textNoShape">
                <a:avLst/>
              </a:prstTxWarp>
            </a:bodyPr>
            <a:lstStyle/>
            <a:p>
              <a:endParaRPr lang="en-US"/>
            </a:p>
          </p:txBody>
        </p:sp>
        <p:sp>
          <p:nvSpPr>
            <p:cNvPr id="58402" name="Rectangle 19"/>
            <p:cNvSpPr>
              <a:spLocks noChangeArrowheads="1"/>
            </p:cNvSpPr>
            <p:nvPr/>
          </p:nvSpPr>
          <p:spPr bwMode="auto">
            <a:xfrm>
              <a:off x="1948" y="2788"/>
              <a:ext cx="1096" cy="1096"/>
            </a:xfrm>
            <a:prstGeom prst="rect">
              <a:avLst/>
            </a:prstGeom>
            <a:solidFill>
              <a:srgbClr val="FF0033"/>
            </a:solidFill>
            <a:ln w="12700">
              <a:solidFill>
                <a:schemeClr val="tx1"/>
              </a:solidFill>
              <a:miter lim="800000"/>
              <a:headEnd/>
              <a:tailEnd/>
            </a:ln>
          </p:spPr>
          <p:txBody>
            <a:bodyPr wrap="none" anchor="ctr">
              <a:prstTxWarp prst="textNoShape">
                <a:avLst/>
              </a:prstTxWarp>
            </a:bodyPr>
            <a:lstStyle/>
            <a:p>
              <a:endParaRPr lang="en-US"/>
            </a:p>
          </p:txBody>
        </p:sp>
        <p:sp>
          <p:nvSpPr>
            <p:cNvPr id="58403" name="Rectangle 20"/>
            <p:cNvSpPr>
              <a:spLocks noChangeArrowheads="1"/>
            </p:cNvSpPr>
            <p:nvPr/>
          </p:nvSpPr>
          <p:spPr bwMode="auto">
            <a:xfrm>
              <a:off x="2044" y="2884"/>
              <a:ext cx="1096" cy="1096"/>
            </a:xfrm>
            <a:prstGeom prst="rect">
              <a:avLst/>
            </a:prstGeom>
            <a:solidFill>
              <a:schemeClr val="accent1"/>
            </a:solidFill>
            <a:ln w="12700">
              <a:solidFill>
                <a:schemeClr val="tx1"/>
              </a:solidFill>
              <a:miter lim="800000"/>
              <a:headEnd/>
              <a:tailEnd/>
            </a:ln>
          </p:spPr>
          <p:txBody>
            <a:bodyPr wrap="none" anchor="ctr">
              <a:prstTxWarp prst="textNoShape">
                <a:avLst/>
              </a:prstTxWarp>
            </a:bodyPr>
            <a:lstStyle/>
            <a:p>
              <a:endParaRPr lang="en-US"/>
            </a:p>
          </p:txBody>
        </p:sp>
        <p:sp>
          <p:nvSpPr>
            <p:cNvPr id="58404" name="Rectangle 21"/>
            <p:cNvSpPr>
              <a:spLocks noChangeArrowheads="1"/>
            </p:cNvSpPr>
            <p:nvPr/>
          </p:nvSpPr>
          <p:spPr bwMode="auto">
            <a:xfrm>
              <a:off x="2140" y="2980"/>
              <a:ext cx="1096" cy="1096"/>
            </a:xfrm>
            <a:prstGeom prst="rect">
              <a:avLst/>
            </a:prstGeom>
            <a:solidFill>
              <a:schemeClr val="hlink"/>
            </a:solidFill>
            <a:ln w="12700">
              <a:solidFill>
                <a:schemeClr val="tx1"/>
              </a:solidFill>
              <a:miter lim="800000"/>
              <a:headEnd/>
              <a:tailEnd/>
            </a:ln>
          </p:spPr>
          <p:txBody>
            <a:bodyPr wrap="none" anchor="ctr">
              <a:prstTxWarp prst="textNoShape">
                <a:avLst/>
              </a:prstTxWarp>
            </a:bodyPr>
            <a:lstStyle/>
            <a:p>
              <a:endParaRPr lang="en-US"/>
            </a:p>
          </p:txBody>
        </p:sp>
      </p:grpSp>
      <p:sp>
        <p:nvSpPr>
          <p:cNvPr id="58373" name="Rectangle 22"/>
          <p:cNvSpPr>
            <a:spLocks noChangeArrowheads="1"/>
          </p:cNvSpPr>
          <p:nvPr/>
        </p:nvSpPr>
        <p:spPr bwMode="auto">
          <a:xfrm>
            <a:off x="2653252" y="1981891"/>
            <a:ext cx="1546225" cy="1739900"/>
          </a:xfrm>
          <a:prstGeom prst="rect">
            <a:avLst/>
          </a:prstGeom>
          <a:solidFill>
            <a:schemeClr val="accent1"/>
          </a:solidFill>
          <a:ln w="12700">
            <a:solidFill>
              <a:schemeClr val="tx1"/>
            </a:solidFill>
            <a:miter lim="800000"/>
            <a:headEnd/>
            <a:tailEnd/>
          </a:ln>
        </p:spPr>
        <p:txBody>
          <a:bodyPr wrap="none" anchor="ctr">
            <a:prstTxWarp prst="textNoShape">
              <a:avLst/>
            </a:prstTxWarp>
          </a:bodyPr>
          <a:lstStyle/>
          <a:p>
            <a:endParaRPr lang="en-US"/>
          </a:p>
        </p:txBody>
      </p:sp>
      <p:sp>
        <p:nvSpPr>
          <p:cNvPr id="58374" name="Rectangle 23"/>
          <p:cNvSpPr>
            <a:spLocks noChangeArrowheads="1"/>
          </p:cNvSpPr>
          <p:nvPr/>
        </p:nvSpPr>
        <p:spPr bwMode="auto">
          <a:xfrm>
            <a:off x="2789777" y="2134291"/>
            <a:ext cx="1546225" cy="1739900"/>
          </a:xfrm>
          <a:prstGeom prst="rect">
            <a:avLst/>
          </a:prstGeom>
          <a:solidFill>
            <a:schemeClr val="hlink"/>
          </a:solidFill>
          <a:ln w="12700">
            <a:solidFill>
              <a:schemeClr val="tx1"/>
            </a:solidFill>
            <a:miter lim="800000"/>
            <a:headEnd/>
            <a:tailEnd/>
          </a:ln>
        </p:spPr>
        <p:txBody>
          <a:bodyPr wrap="none" anchor="ctr">
            <a:prstTxWarp prst="textNoShape">
              <a:avLst/>
            </a:prstTxWarp>
          </a:bodyPr>
          <a:lstStyle/>
          <a:p>
            <a:endParaRPr lang="en-US"/>
          </a:p>
        </p:txBody>
      </p:sp>
      <p:sp>
        <p:nvSpPr>
          <p:cNvPr id="58375" name="Rectangle 24"/>
          <p:cNvSpPr>
            <a:spLocks noChangeArrowheads="1"/>
          </p:cNvSpPr>
          <p:nvPr/>
        </p:nvSpPr>
        <p:spPr bwMode="auto">
          <a:xfrm>
            <a:off x="2924715" y="2286691"/>
            <a:ext cx="1546225" cy="1739900"/>
          </a:xfrm>
          <a:prstGeom prst="rect">
            <a:avLst/>
          </a:prstGeom>
          <a:solidFill>
            <a:schemeClr val="accent1"/>
          </a:solidFill>
          <a:ln w="12700">
            <a:solidFill>
              <a:schemeClr val="tx1"/>
            </a:solidFill>
            <a:miter lim="800000"/>
            <a:headEnd/>
            <a:tailEnd/>
          </a:ln>
        </p:spPr>
        <p:txBody>
          <a:bodyPr wrap="none" anchor="ctr">
            <a:prstTxWarp prst="textNoShape">
              <a:avLst/>
            </a:prstTxWarp>
          </a:bodyPr>
          <a:lstStyle/>
          <a:p>
            <a:endParaRPr lang="en-US"/>
          </a:p>
        </p:txBody>
      </p:sp>
      <p:sp>
        <p:nvSpPr>
          <p:cNvPr id="58376" name="Rectangle 25"/>
          <p:cNvSpPr>
            <a:spLocks noChangeArrowheads="1"/>
          </p:cNvSpPr>
          <p:nvPr/>
        </p:nvSpPr>
        <p:spPr bwMode="auto">
          <a:xfrm>
            <a:off x="3059652" y="2439091"/>
            <a:ext cx="1546225" cy="1739900"/>
          </a:xfrm>
          <a:prstGeom prst="rect">
            <a:avLst/>
          </a:prstGeom>
          <a:solidFill>
            <a:schemeClr val="hlink"/>
          </a:solidFill>
          <a:ln w="12700">
            <a:solidFill>
              <a:schemeClr val="tx1"/>
            </a:solidFill>
            <a:miter lim="800000"/>
            <a:headEnd/>
            <a:tailEnd/>
          </a:ln>
        </p:spPr>
        <p:txBody>
          <a:bodyPr wrap="none" anchor="ctr">
            <a:prstTxWarp prst="textNoShape">
              <a:avLst/>
            </a:prstTxWarp>
          </a:bodyPr>
          <a:lstStyle/>
          <a:p>
            <a:endParaRPr lang="en-US"/>
          </a:p>
        </p:txBody>
      </p:sp>
      <p:sp>
        <p:nvSpPr>
          <p:cNvPr id="58377" name="Rectangle 26"/>
          <p:cNvSpPr>
            <a:spLocks noChangeArrowheads="1"/>
          </p:cNvSpPr>
          <p:nvPr/>
        </p:nvSpPr>
        <p:spPr bwMode="auto">
          <a:xfrm>
            <a:off x="3196177" y="2591491"/>
            <a:ext cx="1546225" cy="1739900"/>
          </a:xfrm>
          <a:prstGeom prst="rect">
            <a:avLst/>
          </a:prstGeom>
          <a:solidFill>
            <a:schemeClr val="hlink"/>
          </a:solidFill>
          <a:ln w="12700">
            <a:solidFill>
              <a:schemeClr val="tx1"/>
            </a:solidFill>
            <a:miter lim="800000"/>
            <a:headEnd/>
            <a:tailEnd/>
          </a:ln>
        </p:spPr>
        <p:txBody>
          <a:bodyPr wrap="none" anchor="ctr">
            <a:prstTxWarp prst="textNoShape">
              <a:avLst/>
            </a:prstTxWarp>
          </a:bodyPr>
          <a:lstStyle/>
          <a:p>
            <a:endParaRPr lang="en-US"/>
          </a:p>
        </p:txBody>
      </p:sp>
      <p:sp>
        <p:nvSpPr>
          <p:cNvPr id="58378" name="Rectangle 27"/>
          <p:cNvSpPr>
            <a:spLocks noChangeArrowheads="1"/>
          </p:cNvSpPr>
          <p:nvPr/>
        </p:nvSpPr>
        <p:spPr bwMode="auto">
          <a:xfrm>
            <a:off x="3331115" y="2743891"/>
            <a:ext cx="1546225" cy="1739900"/>
          </a:xfrm>
          <a:prstGeom prst="rect">
            <a:avLst/>
          </a:prstGeom>
          <a:solidFill>
            <a:schemeClr val="accent1"/>
          </a:solidFill>
          <a:ln w="12700">
            <a:solidFill>
              <a:schemeClr val="tx1"/>
            </a:solidFill>
            <a:miter lim="800000"/>
            <a:headEnd/>
            <a:tailEnd/>
          </a:ln>
        </p:spPr>
        <p:txBody>
          <a:bodyPr wrap="none" anchor="ctr">
            <a:prstTxWarp prst="textNoShape">
              <a:avLst/>
            </a:prstTxWarp>
          </a:bodyPr>
          <a:lstStyle/>
          <a:p>
            <a:endParaRPr lang="en-US"/>
          </a:p>
        </p:txBody>
      </p:sp>
      <p:sp>
        <p:nvSpPr>
          <p:cNvPr id="58379" name="Rectangle 28"/>
          <p:cNvSpPr>
            <a:spLocks noChangeArrowheads="1"/>
          </p:cNvSpPr>
          <p:nvPr/>
        </p:nvSpPr>
        <p:spPr bwMode="auto">
          <a:xfrm>
            <a:off x="3466052" y="2896291"/>
            <a:ext cx="1546225" cy="1739900"/>
          </a:xfrm>
          <a:prstGeom prst="rect">
            <a:avLst/>
          </a:prstGeom>
          <a:solidFill>
            <a:schemeClr val="hlink"/>
          </a:solidFill>
          <a:ln w="12700">
            <a:solidFill>
              <a:schemeClr val="tx1"/>
            </a:solidFill>
            <a:miter lim="800000"/>
            <a:headEnd/>
            <a:tailEnd/>
          </a:ln>
        </p:spPr>
        <p:txBody>
          <a:bodyPr wrap="none" anchor="ctr">
            <a:prstTxWarp prst="textNoShape">
              <a:avLst/>
            </a:prstTxWarp>
          </a:bodyPr>
          <a:lstStyle/>
          <a:p>
            <a:endParaRPr lang="en-US"/>
          </a:p>
        </p:txBody>
      </p:sp>
      <p:sp>
        <p:nvSpPr>
          <p:cNvPr id="58380" name="Rectangle 29"/>
          <p:cNvSpPr>
            <a:spLocks noChangeArrowheads="1"/>
          </p:cNvSpPr>
          <p:nvPr/>
        </p:nvSpPr>
        <p:spPr bwMode="auto">
          <a:xfrm>
            <a:off x="3602577" y="3048691"/>
            <a:ext cx="1546225" cy="1739900"/>
          </a:xfrm>
          <a:prstGeom prst="rect">
            <a:avLst/>
          </a:prstGeom>
          <a:solidFill>
            <a:schemeClr val="accent1"/>
          </a:solidFill>
          <a:ln w="12700">
            <a:solidFill>
              <a:schemeClr val="tx1"/>
            </a:solidFill>
            <a:miter lim="800000"/>
            <a:headEnd/>
            <a:tailEnd/>
          </a:ln>
        </p:spPr>
        <p:txBody>
          <a:bodyPr wrap="none" anchor="ctr">
            <a:prstTxWarp prst="textNoShape">
              <a:avLst/>
            </a:prstTxWarp>
          </a:bodyPr>
          <a:lstStyle/>
          <a:p>
            <a:endParaRPr lang="en-US"/>
          </a:p>
        </p:txBody>
      </p:sp>
      <p:sp>
        <p:nvSpPr>
          <p:cNvPr id="58381" name="Rectangle 30"/>
          <p:cNvSpPr>
            <a:spLocks noChangeArrowheads="1"/>
          </p:cNvSpPr>
          <p:nvPr/>
        </p:nvSpPr>
        <p:spPr bwMode="auto">
          <a:xfrm>
            <a:off x="3737515" y="3201091"/>
            <a:ext cx="1546225" cy="1739900"/>
          </a:xfrm>
          <a:prstGeom prst="rect">
            <a:avLst/>
          </a:prstGeom>
          <a:solidFill>
            <a:srgbClr val="FF0033"/>
          </a:solidFill>
          <a:ln w="12700">
            <a:solidFill>
              <a:schemeClr val="tx1"/>
            </a:solidFill>
            <a:miter lim="800000"/>
            <a:headEnd/>
            <a:tailEnd/>
          </a:ln>
        </p:spPr>
        <p:txBody>
          <a:bodyPr wrap="none" anchor="ctr">
            <a:prstTxWarp prst="textNoShape">
              <a:avLst/>
            </a:prstTxWarp>
          </a:bodyPr>
          <a:lstStyle/>
          <a:p>
            <a:endParaRPr lang="en-US"/>
          </a:p>
        </p:txBody>
      </p:sp>
      <p:sp>
        <p:nvSpPr>
          <p:cNvPr id="58382" name="Rectangle 31"/>
          <p:cNvSpPr>
            <a:spLocks noChangeArrowheads="1"/>
          </p:cNvSpPr>
          <p:nvPr/>
        </p:nvSpPr>
        <p:spPr bwMode="auto">
          <a:xfrm>
            <a:off x="3872452" y="3353491"/>
            <a:ext cx="1546225" cy="1739900"/>
          </a:xfrm>
          <a:prstGeom prst="rect">
            <a:avLst/>
          </a:prstGeom>
          <a:solidFill>
            <a:schemeClr val="accent1"/>
          </a:solidFill>
          <a:ln w="12700">
            <a:solidFill>
              <a:schemeClr val="tx1"/>
            </a:solidFill>
            <a:miter lim="800000"/>
            <a:headEnd/>
            <a:tailEnd/>
          </a:ln>
        </p:spPr>
        <p:txBody>
          <a:bodyPr wrap="none" anchor="ctr">
            <a:prstTxWarp prst="textNoShape">
              <a:avLst/>
            </a:prstTxWarp>
          </a:bodyPr>
          <a:lstStyle/>
          <a:p>
            <a:endParaRPr lang="en-US"/>
          </a:p>
        </p:txBody>
      </p:sp>
      <p:sp>
        <p:nvSpPr>
          <p:cNvPr id="58383" name="Rectangle 32"/>
          <p:cNvSpPr>
            <a:spLocks noChangeArrowheads="1"/>
          </p:cNvSpPr>
          <p:nvPr/>
        </p:nvSpPr>
        <p:spPr bwMode="auto">
          <a:xfrm>
            <a:off x="4008977" y="3505891"/>
            <a:ext cx="1546225" cy="1739900"/>
          </a:xfrm>
          <a:prstGeom prst="rect">
            <a:avLst/>
          </a:prstGeom>
          <a:solidFill>
            <a:schemeClr val="hlink"/>
          </a:solidFill>
          <a:ln w="12700">
            <a:solidFill>
              <a:schemeClr val="tx1"/>
            </a:solidFill>
            <a:miter lim="800000"/>
            <a:headEnd/>
            <a:tailEnd/>
          </a:ln>
        </p:spPr>
        <p:txBody>
          <a:bodyPr wrap="none" anchor="ctr">
            <a:prstTxWarp prst="textNoShape">
              <a:avLst/>
            </a:prstTxWarp>
          </a:bodyPr>
          <a:lstStyle/>
          <a:p>
            <a:endParaRPr lang="en-US"/>
          </a:p>
        </p:txBody>
      </p:sp>
      <p:sp>
        <p:nvSpPr>
          <p:cNvPr id="58384" name="Rectangle 33"/>
          <p:cNvSpPr>
            <a:spLocks noChangeArrowheads="1"/>
          </p:cNvSpPr>
          <p:nvPr/>
        </p:nvSpPr>
        <p:spPr bwMode="auto">
          <a:xfrm>
            <a:off x="4143915" y="3658291"/>
            <a:ext cx="1546225" cy="1739900"/>
          </a:xfrm>
          <a:prstGeom prst="rect">
            <a:avLst/>
          </a:prstGeom>
          <a:solidFill>
            <a:schemeClr val="accent1"/>
          </a:solidFill>
          <a:ln w="12700">
            <a:solidFill>
              <a:schemeClr val="tx1"/>
            </a:solidFill>
            <a:miter lim="800000"/>
            <a:headEnd/>
            <a:tailEnd/>
          </a:ln>
        </p:spPr>
        <p:txBody>
          <a:bodyPr wrap="none" anchor="ctr">
            <a:prstTxWarp prst="textNoShape">
              <a:avLst/>
            </a:prstTxWarp>
          </a:bodyPr>
          <a:lstStyle/>
          <a:p>
            <a:endParaRPr lang="en-US"/>
          </a:p>
        </p:txBody>
      </p:sp>
      <p:sp>
        <p:nvSpPr>
          <p:cNvPr id="58385" name="Rectangle 34"/>
          <p:cNvSpPr>
            <a:spLocks noChangeArrowheads="1"/>
          </p:cNvSpPr>
          <p:nvPr/>
        </p:nvSpPr>
        <p:spPr bwMode="auto">
          <a:xfrm>
            <a:off x="4278852" y="3810691"/>
            <a:ext cx="1546225" cy="1739900"/>
          </a:xfrm>
          <a:prstGeom prst="rect">
            <a:avLst/>
          </a:prstGeom>
          <a:solidFill>
            <a:schemeClr val="hlink"/>
          </a:solidFill>
          <a:ln w="12700">
            <a:solidFill>
              <a:schemeClr val="tx1"/>
            </a:solidFill>
            <a:miter lim="800000"/>
            <a:headEnd/>
            <a:tailEnd/>
          </a:ln>
        </p:spPr>
        <p:txBody>
          <a:bodyPr wrap="none" anchor="ctr">
            <a:prstTxWarp prst="textNoShape">
              <a:avLst/>
            </a:prstTxWarp>
          </a:bodyPr>
          <a:lstStyle/>
          <a:p>
            <a:endParaRPr lang="en-US"/>
          </a:p>
        </p:txBody>
      </p:sp>
      <p:sp>
        <p:nvSpPr>
          <p:cNvPr id="58386" name="Rectangle 35"/>
          <p:cNvSpPr>
            <a:spLocks noChangeArrowheads="1"/>
          </p:cNvSpPr>
          <p:nvPr/>
        </p:nvSpPr>
        <p:spPr bwMode="auto">
          <a:xfrm>
            <a:off x="4415377" y="3963091"/>
            <a:ext cx="1546225" cy="1739900"/>
          </a:xfrm>
          <a:prstGeom prst="rect">
            <a:avLst/>
          </a:prstGeom>
          <a:solidFill>
            <a:srgbClr val="FF0033"/>
          </a:solidFill>
          <a:ln w="12700">
            <a:solidFill>
              <a:schemeClr val="tx1"/>
            </a:solidFill>
            <a:miter lim="800000"/>
            <a:headEnd/>
            <a:tailEnd/>
          </a:ln>
        </p:spPr>
        <p:txBody>
          <a:bodyPr wrap="none" anchor="ctr">
            <a:prstTxWarp prst="textNoShape">
              <a:avLst/>
            </a:prstTxWarp>
          </a:bodyPr>
          <a:lstStyle/>
          <a:p>
            <a:endParaRPr lang="en-US"/>
          </a:p>
        </p:txBody>
      </p:sp>
      <p:sp>
        <p:nvSpPr>
          <p:cNvPr id="58387" name="Rectangle 36"/>
          <p:cNvSpPr>
            <a:spLocks noChangeArrowheads="1"/>
          </p:cNvSpPr>
          <p:nvPr/>
        </p:nvSpPr>
        <p:spPr bwMode="auto">
          <a:xfrm>
            <a:off x="4550315" y="4115491"/>
            <a:ext cx="1546225" cy="1739900"/>
          </a:xfrm>
          <a:prstGeom prst="rect">
            <a:avLst/>
          </a:prstGeom>
          <a:solidFill>
            <a:srgbClr val="FF0033"/>
          </a:solidFill>
          <a:ln w="12700">
            <a:solidFill>
              <a:schemeClr val="tx1"/>
            </a:solidFill>
            <a:miter lim="800000"/>
            <a:headEnd/>
            <a:tailEnd/>
          </a:ln>
        </p:spPr>
        <p:txBody>
          <a:bodyPr wrap="none" anchor="ctr">
            <a:prstTxWarp prst="textNoShape">
              <a:avLst/>
            </a:prstTxWarp>
          </a:bodyPr>
          <a:lstStyle/>
          <a:p>
            <a:endParaRPr lang="en-US"/>
          </a:p>
        </p:txBody>
      </p:sp>
      <p:sp>
        <p:nvSpPr>
          <p:cNvPr id="58388" name="Rectangle 37"/>
          <p:cNvSpPr>
            <a:spLocks noChangeArrowheads="1"/>
          </p:cNvSpPr>
          <p:nvPr/>
        </p:nvSpPr>
        <p:spPr bwMode="auto">
          <a:xfrm>
            <a:off x="6346142" y="1294814"/>
            <a:ext cx="2422394" cy="523862"/>
          </a:xfrm>
          <a:prstGeom prst="rect">
            <a:avLst/>
          </a:prstGeom>
          <a:noFill/>
          <a:ln w="9525">
            <a:noFill/>
            <a:miter lim="800000"/>
            <a:headEnd/>
            <a:tailEnd/>
          </a:ln>
        </p:spPr>
        <p:txBody>
          <a:bodyPr wrap="none" lIns="92075" tIns="46038" rIns="92075" bIns="46038">
            <a:prstTxWarp prst="textNoShape">
              <a:avLst/>
            </a:prstTxWarp>
            <a:spAutoFit/>
          </a:bodyPr>
          <a:lstStyle/>
          <a:p>
            <a:pPr eaLnBrk="0" hangingPunct="0"/>
            <a:r>
              <a:rPr lang="en-US" sz="2800" dirty="0">
                <a:solidFill>
                  <a:schemeClr val="accent2"/>
                </a:solidFill>
              </a:rPr>
              <a:t>Fixed sequence</a:t>
            </a:r>
          </a:p>
        </p:txBody>
      </p:sp>
      <p:sp>
        <p:nvSpPr>
          <p:cNvPr id="58389" name="Rectangle 38"/>
          <p:cNvSpPr>
            <a:spLocks noChangeArrowheads="1"/>
          </p:cNvSpPr>
          <p:nvPr/>
        </p:nvSpPr>
        <p:spPr bwMode="auto">
          <a:xfrm>
            <a:off x="1573751" y="1304028"/>
            <a:ext cx="3137910" cy="523862"/>
          </a:xfrm>
          <a:prstGeom prst="rect">
            <a:avLst/>
          </a:prstGeom>
          <a:noFill/>
          <a:ln w="9525">
            <a:noFill/>
            <a:miter lim="800000"/>
            <a:headEnd/>
            <a:tailEnd/>
          </a:ln>
        </p:spPr>
        <p:txBody>
          <a:bodyPr wrap="none" lIns="92075" tIns="46038" rIns="92075" bIns="46038">
            <a:prstTxWarp prst="textNoShape">
              <a:avLst/>
            </a:prstTxWarp>
            <a:spAutoFit/>
          </a:bodyPr>
          <a:lstStyle/>
          <a:p>
            <a:pPr eaLnBrk="0" hangingPunct="0"/>
            <a:r>
              <a:rPr lang="en-US" sz="2800" dirty="0">
                <a:solidFill>
                  <a:schemeClr val="accent2"/>
                </a:solidFill>
              </a:rPr>
              <a:t>Stochastic sequence</a:t>
            </a:r>
          </a:p>
        </p:txBody>
      </p:sp>
    </p:spTree>
    <p:extLst>
      <p:ext uri="{BB962C8B-B14F-4D97-AF65-F5344CB8AC3E}">
        <p14:creationId xmlns:p14="http://schemas.microsoft.com/office/powerpoint/2010/main" val="2853533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ChangeArrowheads="1"/>
          </p:cNvSpPr>
          <p:nvPr/>
        </p:nvSpPr>
        <p:spPr bwMode="auto">
          <a:xfrm>
            <a:off x="2209800" y="304800"/>
            <a:ext cx="7772400" cy="1143000"/>
          </a:xfrm>
          <a:prstGeom prst="rect">
            <a:avLst/>
          </a:prstGeom>
          <a:noFill/>
          <a:ln w="25400">
            <a:noFill/>
            <a:miter lim="800000"/>
            <a:headEnd/>
            <a:tailEnd/>
          </a:ln>
        </p:spPr>
        <p:txBody>
          <a:bodyPr lIns="92075" tIns="46038" rIns="92075" bIns="46038" anchor="b">
            <a:prstTxWarp prst="textNoShape">
              <a:avLst/>
            </a:prstTxWarp>
          </a:bodyPr>
          <a:lstStyle/>
          <a:p>
            <a:pPr algn="ctr"/>
            <a:r>
              <a:rPr lang="en-US" sz="4400" b="1">
                <a:solidFill>
                  <a:schemeClr val="tx2"/>
                </a:solidFill>
                <a:latin typeface="Times New Roman" charset="0"/>
              </a:rPr>
              <a:t>Periodic Matrix Models </a:t>
            </a:r>
          </a:p>
          <a:p>
            <a:pPr algn="ctr"/>
            <a:r>
              <a:rPr lang="en-US" sz="3200" b="1">
                <a:solidFill>
                  <a:srgbClr val="990000"/>
                </a:solidFill>
                <a:latin typeface="Times New Roman" charset="0"/>
              </a:rPr>
              <a:t>(for fixed sequences)</a:t>
            </a:r>
          </a:p>
        </p:txBody>
      </p:sp>
      <p:sp>
        <p:nvSpPr>
          <p:cNvPr id="60419" name="Rectangle 3"/>
          <p:cNvSpPr>
            <a:spLocks noChangeArrowheads="1"/>
          </p:cNvSpPr>
          <p:nvPr/>
        </p:nvSpPr>
        <p:spPr bwMode="auto">
          <a:xfrm>
            <a:off x="4638675" y="1752600"/>
            <a:ext cx="2667000" cy="685800"/>
          </a:xfrm>
          <a:prstGeom prst="rect">
            <a:avLst/>
          </a:prstGeom>
          <a:noFill/>
          <a:ln w="25400">
            <a:solidFill>
              <a:schemeClr val="tx1"/>
            </a:solidFill>
            <a:miter lim="800000"/>
            <a:headEnd/>
            <a:tailEnd/>
          </a:ln>
        </p:spPr>
        <p:txBody>
          <a:bodyPr wrap="none" anchor="ctr">
            <a:prstTxWarp prst="textNoShape">
              <a:avLst/>
            </a:prstTxWarp>
          </a:bodyPr>
          <a:lstStyle/>
          <a:p>
            <a:endParaRPr lang="en-US"/>
          </a:p>
        </p:txBody>
      </p:sp>
      <p:sp>
        <p:nvSpPr>
          <p:cNvPr id="60420" name="Text Box 4"/>
          <p:cNvSpPr txBox="1">
            <a:spLocks noChangeArrowheads="1"/>
          </p:cNvSpPr>
          <p:nvPr/>
        </p:nvSpPr>
        <p:spPr bwMode="auto">
          <a:xfrm>
            <a:off x="4714876" y="1905000"/>
            <a:ext cx="2595563" cy="457200"/>
          </a:xfrm>
          <a:prstGeom prst="rect">
            <a:avLst/>
          </a:prstGeom>
          <a:noFill/>
          <a:ln w="25400">
            <a:noFill/>
            <a:miter lim="800000"/>
            <a:headEnd/>
            <a:tailEnd/>
          </a:ln>
        </p:spPr>
        <p:txBody>
          <a:bodyPr wrap="none">
            <a:prstTxWarp prst="textNoShape">
              <a:avLst/>
            </a:prstTxWarp>
            <a:spAutoFit/>
          </a:bodyPr>
          <a:lstStyle/>
          <a:p>
            <a:r>
              <a:rPr lang="en-US" sz="2400">
                <a:latin typeface="Times New Roman" charset="0"/>
              </a:rPr>
              <a:t>Phase 1 (matrix A</a:t>
            </a:r>
            <a:r>
              <a:rPr lang="en-US" sz="2400" baseline="-25000">
                <a:latin typeface="Times New Roman" charset="0"/>
              </a:rPr>
              <a:t>1</a:t>
            </a:r>
            <a:r>
              <a:rPr lang="en-US" sz="2400">
                <a:latin typeface="Times New Roman" charset="0"/>
              </a:rPr>
              <a:t>)</a:t>
            </a:r>
          </a:p>
        </p:txBody>
      </p:sp>
      <p:sp>
        <p:nvSpPr>
          <p:cNvPr id="60421" name="Rectangle 5"/>
          <p:cNvSpPr>
            <a:spLocks noChangeArrowheads="1"/>
          </p:cNvSpPr>
          <p:nvPr/>
        </p:nvSpPr>
        <p:spPr bwMode="auto">
          <a:xfrm>
            <a:off x="7462838" y="3429000"/>
            <a:ext cx="2667000" cy="685800"/>
          </a:xfrm>
          <a:prstGeom prst="rect">
            <a:avLst/>
          </a:prstGeom>
          <a:noFill/>
          <a:ln w="25400">
            <a:solidFill>
              <a:schemeClr val="tx1"/>
            </a:solidFill>
            <a:miter lim="800000"/>
            <a:headEnd/>
            <a:tailEnd/>
          </a:ln>
        </p:spPr>
        <p:txBody>
          <a:bodyPr wrap="none" anchor="ctr">
            <a:prstTxWarp prst="textNoShape">
              <a:avLst/>
            </a:prstTxWarp>
          </a:bodyPr>
          <a:lstStyle/>
          <a:p>
            <a:endParaRPr lang="en-US"/>
          </a:p>
        </p:txBody>
      </p:sp>
      <p:sp>
        <p:nvSpPr>
          <p:cNvPr id="60422" name="Text Box 6"/>
          <p:cNvSpPr txBox="1">
            <a:spLocks noChangeArrowheads="1"/>
          </p:cNvSpPr>
          <p:nvPr/>
        </p:nvSpPr>
        <p:spPr bwMode="auto">
          <a:xfrm>
            <a:off x="7539038" y="3581400"/>
            <a:ext cx="2595562" cy="457200"/>
          </a:xfrm>
          <a:prstGeom prst="rect">
            <a:avLst/>
          </a:prstGeom>
          <a:noFill/>
          <a:ln w="25400">
            <a:noFill/>
            <a:miter lim="800000"/>
            <a:headEnd/>
            <a:tailEnd/>
          </a:ln>
        </p:spPr>
        <p:txBody>
          <a:bodyPr wrap="none">
            <a:prstTxWarp prst="textNoShape">
              <a:avLst/>
            </a:prstTxWarp>
            <a:spAutoFit/>
          </a:bodyPr>
          <a:lstStyle/>
          <a:p>
            <a:r>
              <a:rPr lang="en-US" sz="2400">
                <a:latin typeface="Times New Roman" charset="0"/>
              </a:rPr>
              <a:t>Phase 2 (matrix A</a:t>
            </a:r>
            <a:r>
              <a:rPr lang="en-US" sz="2400" baseline="-25000">
                <a:latin typeface="Times New Roman" charset="0"/>
              </a:rPr>
              <a:t>2</a:t>
            </a:r>
            <a:r>
              <a:rPr lang="en-US" sz="2400">
                <a:latin typeface="Times New Roman" charset="0"/>
              </a:rPr>
              <a:t>)</a:t>
            </a:r>
          </a:p>
        </p:txBody>
      </p:sp>
      <p:sp>
        <p:nvSpPr>
          <p:cNvPr id="60423" name="Rectangle 7"/>
          <p:cNvSpPr>
            <a:spLocks noChangeArrowheads="1"/>
          </p:cNvSpPr>
          <p:nvPr/>
        </p:nvSpPr>
        <p:spPr bwMode="auto">
          <a:xfrm>
            <a:off x="4714875" y="4953000"/>
            <a:ext cx="2667000" cy="685800"/>
          </a:xfrm>
          <a:prstGeom prst="rect">
            <a:avLst/>
          </a:prstGeom>
          <a:noFill/>
          <a:ln w="25400">
            <a:solidFill>
              <a:schemeClr val="tx1"/>
            </a:solidFill>
            <a:miter lim="800000"/>
            <a:headEnd/>
            <a:tailEnd/>
          </a:ln>
        </p:spPr>
        <p:txBody>
          <a:bodyPr wrap="none" anchor="ctr">
            <a:prstTxWarp prst="textNoShape">
              <a:avLst/>
            </a:prstTxWarp>
          </a:bodyPr>
          <a:lstStyle/>
          <a:p>
            <a:endParaRPr lang="en-US"/>
          </a:p>
        </p:txBody>
      </p:sp>
      <p:sp>
        <p:nvSpPr>
          <p:cNvPr id="60424" name="Text Box 8"/>
          <p:cNvSpPr txBox="1">
            <a:spLocks noChangeArrowheads="1"/>
          </p:cNvSpPr>
          <p:nvPr/>
        </p:nvSpPr>
        <p:spPr bwMode="auto">
          <a:xfrm>
            <a:off x="4791076" y="5105400"/>
            <a:ext cx="2595563" cy="457200"/>
          </a:xfrm>
          <a:prstGeom prst="rect">
            <a:avLst/>
          </a:prstGeom>
          <a:noFill/>
          <a:ln w="25400">
            <a:noFill/>
            <a:miter lim="800000"/>
            <a:headEnd/>
            <a:tailEnd/>
          </a:ln>
        </p:spPr>
        <p:txBody>
          <a:bodyPr wrap="none">
            <a:prstTxWarp prst="textNoShape">
              <a:avLst/>
            </a:prstTxWarp>
            <a:spAutoFit/>
          </a:bodyPr>
          <a:lstStyle/>
          <a:p>
            <a:r>
              <a:rPr lang="en-US" sz="2400">
                <a:latin typeface="Times New Roman" charset="0"/>
              </a:rPr>
              <a:t>Phase 3 (matrix A</a:t>
            </a:r>
            <a:r>
              <a:rPr lang="en-US" sz="2400" baseline="-25000">
                <a:latin typeface="Times New Roman" charset="0"/>
              </a:rPr>
              <a:t>3</a:t>
            </a:r>
            <a:r>
              <a:rPr lang="en-US" sz="2400">
                <a:latin typeface="Times New Roman" charset="0"/>
              </a:rPr>
              <a:t>)</a:t>
            </a:r>
          </a:p>
        </p:txBody>
      </p:sp>
      <p:sp>
        <p:nvSpPr>
          <p:cNvPr id="60425" name="Rectangle 9"/>
          <p:cNvSpPr>
            <a:spLocks noChangeArrowheads="1"/>
          </p:cNvSpPr>
          <p:nvPr/>
        </p:nvSpPr>
        <p:spPr bwMode="auto">
          <a:xfrm>
            <a:off x="1900238" y="3505200"/>
            <a:ext cx="2667000" cy="685800"/>
          </a:xfrm>
          <a:prstGeom prst="rect">
            <a:avLst/>
          </a:prstGeom>
          <a:noFill/>
          <a:ln w="25400">
            <a:solidFill>
              <a:schemeClr val="tx1"/>
            </a:solidFill>
            <a:miter lim="800000"/>
            <a:headEnd/>
            <a:tailEnd/>
          </a:ln>
        </p:spPr>
        <p:txBody>
          <a:bodyPr wrap="none" anchor="ctr">
            <a:prstTxWarp prst="textNoShape">
              <a:avLst/>
            </a:prstTxWarp>
          </a:bodyPr>
          <a:lstStyle/>
          <a:p>
            <a:endParaRPr lang="en-US"/>
          </a:p>
        </p:txBody>
      </p:sp>
      <p:sp>
        <p:nvSpPr>
          <p:cNvPr id="60426" name="Text Box 10"/>
          <p:cNvSpPr txBox="1">
            <a:spLocks noChangeArrowheads="1"/>
          </p:cNvSpPr>
          <p:nvPr/>
        </p:nvSpPr>
        <p:spPr bwMode="auto">
          <a:xfrm>
            <a:off x="1976438" y="3657600"/>
            <a:ext cx="2595562" cy="457200"/>
          </a:xfrm>
          <a:prstGeom prst="rect">
            <a:avLst/>
          </a:prstGeom>
          <a:noFill/>
          <a:ln w="25400">
            <a:noFill/>
            <a:miter lim="800000"/>
            <a:headEnd/>
            <a:tailEnd/>
          </a:ln>
        </p:spPr>
        <p:txBody>
          <a:bodyPr wrap="none">
            <a:prstTxWarp prst="textNoShape">
              <a:avLst/>
            </a:prstTxWarp>
            <a:spAutoFit/>
          </a:bodyPr>
          <a:lstStyle/>
          <a:p>
            <a:r>
              <a:rPr lang="en-US" sz="2400">
                <a:latin typeface="Times New Roman" charset="0"/>
              </a:rPr>
              <a:t>Phase 4 (matrix A</a:t>
            </a:r>
            <a:r>
              <a:rPr lang="en-US" sz="2400" baseline="-25000">
                <a:latin typeface="Times New Roman" charset="0"/>
              </a:rPr>
              <a:t>4</a:t>
            </a:r>
            <a:r>
              <a:rPr lang="en-US" sz="2400">
                <a:latin typeface="Times New Roman" charset="0"/>
              </a:rPr>
              <a:t>)</a:t>
            </a:r>
          </a:p>
        </p:txBody>
      </p:sp>
      <p:cxnSp>
        <p:nvCxnSpPr>
          <p:cNvPr id="60427" name="AutoShape 11"/>
          <p:cNvCxnSpPr>
            <a:cxnSpLocks noChangeShapeType="1"/>
            <a:stCxn id="60420" idx="3"/>
            <a:endCxn id="60421" idx="0"/>
          </p:cNvCxnSpPr>
          <p:nvPr/>
        </p:nvCxnSpPr>
        <p:spPr bwMode="auto">
          <a:xfrm>
            <a:off x="7310438" y="2133600"/>
            <a:ext cx="1485900" cy="1282700"/>
          </a:xfrm>
          <a:prstGeom prst="curvedConnector2">
            <a:avLst/>
          </a:prstGeom>
          <a:noFill/>
          <a:ln w="25400">
            <a:solidFill>
              <a:schemeClr val="tx1"/>
            </a:solidFill>
            <a:round/>
            <a:headEnd/>
            <a:tailEnd type="triangle" w="med" len="med"/>
          </a:ln>
        </p:spPr>
      </p:cxnSp>
      <p:cxnSp>
        <p:nvCxnSpPr>
          <p:cNvPr id="60428" name="AutoShape 12"/>
          <p:cNvCxnSpPr>
            <a:cxnSpLocks noChangeShapeType="1"/>
            <a:stCxn id="60421" idx="2"/>
            <a:endCxn id="60424" idx="3"/>
          </p:cNvCxnSpPr>
          <p:nvPr/>
        </p:nvCxnSpPr>
        <p:spPr bwMode="auto">
          <a:xfrm rot="5400000">
            <a:off x="7488238" y="4025900"/>
            <a:ext cx="1206500" cy="1409700"/>
          </a:xfrm>
          <a:prstGeom prst="curvedConnector2">
            <a:avLst/>
          </a:prstGeom>
          <a:noFill/>
          <a:ln w="25400">
            <a:solidFill>
              <a:schemeClr val="tx1"/>
            </a:solidFill>
            <a:round/>
            <a:headEnd/>
            <a:tailEnd type="triangle" w="med" len="med"/>
          </a:ln>
        </p:spPr>
      </p:cxnSp>
      <p:cxnSp>
        <p:nvCxnSpPr>
          <p:cNvPr id="60429" name="AutoShape 13"/>
          <p:cNvCxnSpPr>
            <a:cxnSpLocks noChangeShapeType="1"/>
            <a:stCxn id="60423" idx="1"/>
            <a:endCxn id="60425" idx="2"/>
          </p:cNvCxnSpPr>
          <p:nvPr/>
        </p:nvCxnSpPr>
        <p:spPr bwMode="auto">
          <a:xfrm rot="10800000">
            <a:off x="3233739" y="4203700"/>
            <a:ext cx="1468437" cy="1092200"/>
          </a:xfrm>
          <a:prstGeom prst="curvedConnector2">
            <a:avLst/>
          </a:prstGeom>
          <a:noFill/>
          <a:ln w="25400">
            <a:solidFill>
              <a:schemeClr val="tx1"/>
            </a:solidFill>
            <a:round/>
            <a:headEnd/>
            <a:tailEnd type="triangle" w="med" len="med"/>
          </a:ln>
        </p:spPr>
      </p:cxnSp>
      <p:cxnSp>
        <p:nvCxnSpPr>
          <p:cNvPr id="60430" name="AutoShape 14"/>
          <p:cNvCxnSpPr>
            <a:cxnSpLocks noChangeShapeType="1"/>
            <a:stCxn id="60425" idx="0"/>
            <a:endCxn id="60419" idx="1"/>
          </p:cNvCxnSpPr>
          <p:nvPr/>
        </p:nvCxnSpPr>
        <p:spPr bwMode="auto">
          <a:xfrm rot="-5400000">
            <a:off x="3231357" y="2097882"/>
            <a:ext cx="1397000" cy="1392237"/>
          </a:xfrm>
          <a:prstGeom prst="curvedConnector2">
            <a:avLst/>
          </a:prstGeom>
          <a:noFill/>
          <a:ln w="25400">
            <a:solidFill>
              <a:schemeClr val="tx1"/>
            </a:solidFill>
            <a:round/>
            <a:headEnd/>
            <a:tailEnd type="triangle" w="med" len="med"/>
          </a:ln>
        </p:spPr>
      </p:cxnSp>
    </p:spTree>
    <p:extLst>
      <p:ext uri="{BB962C8B-B14F-4D97-AF65-F5344CB8AC3E}">
        <p14:creationId xmlns:p14="http://schemas.microsoft.com/office/powerpoint/2010/main" val="18378694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1676400" y="0"/>
            <a:ext cx="8915400" cy="1143000"/>
          </a:xfrm>
        </p:spPr>
        <p:txBody>
          <a:bodyPr/>
          <a:lstStyle/>
          <a:p>
            <a:pPr eaLnBrk="1" hangingPunct="1"/>
            <a:r>
              <a:rPr lang="en-US" b="1">
                <a:latin typeface="Times New Roman" charset="0"/>
              </a:rPr>
              <a:t>Examples of periodic environments</a:t>
            </a:r>
          </a:p>
        </p:txBody>
      </p:sp>
    </p:spTree>
    <p:extLst>
      <p:ext uri="{BB962C8B-B14F-4D97-AF65-F5344CB8AC3E}">
        <p14:creationId xmlns:p14="http://schemas.microsoft.com/office/powerpoint/2010/main" val="2273691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2133600" y="123240"/>
            <a:ext cx="7772400" cy="1143000"/>
          </a:xfrm>
        </p:spPr>
        <p:txBody>
          <a:bodyPr>
            <a:normAutofit/>
          </a:bodyPr>
          <a:lstStyle/>
          <a:p>
            <a:pPr eaLnBrk="1" hangingPunct="1"/>
            <a:r>
              <a:rPr lang="fr-FR" sz="3600" b="1" dirty="0" err="1">
                <a:latin typeface="Times New Roman" charset="0"/>
              </a:rPr>
              <a:t>Disturbance</a:t>
            </a:r>
            <a:r>
              <a:rPr lang="fr-FR" sz="3600" b="1" dirty="0">
                <a:latin typeface="Times New Roman" charset="0"/>
              </a:rPr>
              <a:t> </a:t>
            </a:r>
            <a:r>
              <a:rPr lang="fr-FR" sz="3600" b="1" dirty="0" err="1">
                <a:latin typeface="Times New Roman" charset="0"/>
              </a:rPr>
              <a:t>mosaics</a:t>
            </a:r>
            <a:r>
              <a:rPr lang="fr-FR" sz="3600" b="1" dirty="0">
                <a:latin typeface="Times New Roman" charset="0"/>
              </a:rPr>
              <a:t>  </a:t>
            </a:r>
            <a:br>
              <a:rPr lang="fr-FR" sz="3600" b="1" dirty="0">
                <a:latin typeface="Times New Roman" charset="0"/>
              </a:rPr>
            </a:br>
            <a:r>
              <a:rPr lang="fr-FR" sz="3600" b="1" dirty="0">
                <a:latin typeface="Times New Roman" charset="0"/>
              </a:rPr>
              <a:t>(</a:t>
            </a:r>
            <a:r>
              <a:rPr lang="fr-FR" sz="3600" b="1" dirty="0" err="1">
                <a:latin typeface="Times New Roman" charset="0"/>
              </a:rPr>
              <a:t>treefall</a:t>
            </a:r>
            <a:r>
              <a:rPr lang="fr-FR" sz="3600" b="1" dirty="0">
                <a:latin typeface="Times New Roman" charset="0"/>
              </a:rPr>
              <a:t> gaps, hurricanes, </a:t>
            </a:r>
            <a:r>
              <a:rPr lang="fr-FR" sz="3600" b="1" dirty="0" err="1">
                <a:latin typeface="Times New Roman" charset="0"/>
              </a:rPr>
              <a:t>fires</a:t>
            </a:r>
            <a:r>
              <a:rPr lang="fr-FR" sz="3600" b="1" dirty="0">
                <a:latin typeface="Times New Roman" charset="0"/>
              </a:rPr>
              <a:t>)</a:t>
            </a:r>
            <a:endParaRPr lang="en-US" sz="3200" b="1" dirty="0">
              <a:latin typeface="Times New Roman" charset="0"/>
            </a:endParaRPr>
          </a:p>
        </p:txBody>
      </p:sp>
      <p:sp>
        <p:nvSpPr>
          <p:cNvPr id="66563" name="Rectangle 5"/>
          <p:cNvSpPr>
            <a:spLocks noGrp="1" noChangeArrowheads="1"/>
          </p:cNvSpPr>
          <p:nvPr>
            <p:ph type="body" idx="1"/>
          </p:nvPr>
        </p:nvSpPr>
        <p:spPr>
          <a:noFill/>
        </p:spPr>
        <p:txBody>
          <a:bodyPr/>
          <a:lstStyle/>
          <a:p>
            <a:pPr eaLnBrk="1" hangingPunct="1"/>
            <a:r>
              <a:rPr lang="en-US" u="sng">
                <a:latin typeface="Times New Roman" charset="0"/>
              </a:rPr>
              <a:t>Each</a:t>
            </a:r>
            <a:r>
              <a:rPr lang="en-US">
                <a:latin typeface="Times New Roman" charset="0"/>
              </a:rPr>
              <a:t> environmental state= one projection matrix</a:t>
            </a:r>
          </a:p>
          <a:p>
            <a:pPr eaLnBrk="1" hangingPunct="1"/>
            <a:r>
              <a:rPr lang="en-US">
                <a:latin typeface="Times New Roman" charset="0"/>
              </a:rPr>
              <a:t>Environment transition matrix</a:t>
            </a:r>
          </a:p>
        </p:txBody>
      </p:sp>
    </p:spTree>
    <p:extLst>
      <p:ext uri="{BB962C8B-B14F-4D97-AF65-F5344CB8AC3E}">
        <p14:creationId xmlns:p14="http://schemas.microsoft.com/office/powerpoint/2010/main" val="14616227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ChangeArrowheads="1"/>
          </p:cNvSpPr>
          <p:nvPr/>
        </p:nvSpPr>
        <p:spPr bwMode="auto">
          <a:xfrm>
            <a:off x="1524000" y="109539"/>
            <a:ext cx="9144000" cy="830997"/>
          </a:xfrm>
          <a:prstGeom prst="rect">
            <a:avLst/>
          </a:prstGeom>
          <a:noFill/>
          <a:ln w="9525">
            <a:noFill/>
            <a:miter lim="800000"/>
            <a:headEnd/>
            <a:tailEnd/>
          </a:ln>
        </p:spPr>
        <p:txBody>
          <a:bodyPr>
            <a:prstTxWarp prst="textNoShape">
              <a:avLst/>
            </a:prstTxWarp>
            <a:spAutoFit/>
          </a:bodyPr>
          <a:lstStyle/>
          <a:p>
            <a:br>
              <a:rPr lang="en-US" sz="2400">
                <a:latin typeface="Times New Roman" charset="0"/>
              </a:rPr>
            </a:br>
            <a:endParaRPr lang="en-US" sz="2400">
              <a:latin typeface="Times New Roman" charset="0"/>
            </a:endParaRPr>
          </a:p>
        </p:txBody>
      </p:sp>
      <p:pic>
        <p:nvPicPr>
          <p:cNvPr id="68611" name="Picture 3" descr="Ardisia_escallonioides6"/>
          <p:cNvPicPr>
            <a:picLocks noChangeAspect="1" noChangeArrowheads="1"/>
          </p:cNvPicPr>
          <p:nvPr/>
        </p:nvPicPr>
        <p:blipFill>
          <a:blip r:embed="rId3"/>
          <a:srcRect/>
          <a:stretch>
            <a:fillRect/>
          </a:stretch>
        </p:blipFill>
        <p:spPr bwMode="auto">
          <a:xfrm>
            <a:off x="2133600" y="762000"/>
            <a:ext cx="4852988" cy="5638800"/>
          </a:xfrm>
          <a:prstGeom prst="rect">
            <a:avLst/>
          </a:prstGeom>
          <a:noFill/>
          <a:ln w="9525">
            <a:noFill/>
            <a:miter lim="800000"/>
            <a:headEnd/>
            <a:tailEnd/>
          </a:ln>
        </p:spPr>
      </p:pic>
      <p:sp>
        <p:nvSpPr>
          <p:cNvPr id="68612" name="Text Box 4"/>
          <p:cNvSpPr txBox="1">
            <a:spLocks noChangeArrowheads="1"/>
          </p:cNvSpPr>
          <p:nvPr/>
        </p:nvSpPr>
        <p:spPr bwMode="auto">
          <a:xfrm>
            <a:off x="1792288" y="92075"/>
            <a:ext cx="8647112" cy="488950"/>
          </a:xfrm>
          <a:prstGeom prst="rect">
            <a:avLst/>
          </a:prstGeom>
          <a:noFill/>
          <a:ln w="9525">
            <a:noFill/>
            <a:miter lim="800000"/>
            <a:headEnd/>
            <a:tailEnd/>
          </a:ln>
        </p:spPr>
        <p:txBody>
          <a:bodyPr wrap="none">
            <a:prstTxWarp prst="textNoShape">
              <a:avLst/>
            </a:prstTxWarp>
            <a:spAutoFit/>
          </a:bodyPr>
          <a:lstStyle/>
          <a:p>
            <a:r>
              <a:rPr lang="en-US" sz="2600" b="1">
                <a:latin typeface="Times New Roman" charset="0"/>
              </a:rPr>
              <a:t>Hurricanes and the population dynamics of a Florida Shrub</a:t>
            </a:r>
          </a:p>
        </p:txBody>
      </p:sp>
      <p:sp>
        <p:nvSpPr>
          <p:cNvPr id="68613" name="Text Box 6"/>
          <p:cNvSpPr txBox="1">
            <a:spLocks noChangeArrowheads="1"/>
          </p:cNvSpPr>
          <p:nvPr/>
        </p:nvSpPr>
        <p:spPr bwMode="auto">
          <a:xfrm>
            <a:off x="7146926" y="1560513"/>
            <a:ext cx="2835275" cy="3046988"/>
          </a:xfrm>
          <a:prstGeom prst="rect">
            <a:avLst/>
          </a:prstGeom>
          <a:noFill/>
          <a:ln w="9525">
            <a:noFill/>
            <a:miter lim="800000"/>
            <a:headEnd/>
            <a:tailEnd/>
          </a:ln>
        </p:spPr>
        <p:txBody>
          <a:bodyPr>
            <a:prstTxWarp prst="textNoShape">
              <a:avLst/>
            </a:prstTxWarp>
            <a:spAutoFit/>
          </a:bodyPr>
          <a:lstStyle/>
          <a:p>
            <a:r>
              <a:rPr lang="en-US" sz="2400" b="1">
                <a:solidFill>
                  <a:schemeClr val="accent2"/>
                </a:solidFill>
              </a:rPr>
              <a:t>John Pascarella and Carol Horvitz</a:t>
            </a:r>
          </a:p>
          <a:p>
            <a:endParaRPr lang="en-US" sz="2400" b="1">
              <a:solidFill>
                <a:schemeClr val="accent2"/>
              </a:solidFill>
            </a:endParaRPr>
          </a:p>
          <a:p>
            <a:r>
              <a:rPr lang="en-US" sz="2400" b="1">
                <a:solidFill>
                  <a:schemeClr val="accent2"/>
                </a:solidFill>
              </a:rPr>
              <a:t>University of Miami, Florida</a:t>
            </a:r>
          </a:p>
          <a:p>
            <a:endParaRPr lang="en-US" sz="2400" b="1">
              <a:solidFill>
                <a:schemeClr val="accent2"/>
              </a:solidFill>
            </a:endParaRPr>
          </a:p>
          <a:p>
            <a:r>
              <a:rPr lang="en-US" sz="2400" b="1">
                <a:solidFill>
                  <a:schemeClr val="accent2"/>
                </a:solidFill>
              </a:rPr>
              <a:t>Ecology 1998 vol 79, pp. 547-563</a:t>
            </a:r>
          </a:p>
        </p:txBody>
      </p:sp>
    </p:spTree>
    <p:extLst>
      <p:ext uri="{BB962C8B-B14F-4D97-AF65-F5344CB8AC3E}">
        <p14:creationId xmlns:p14="http://schemas.microsoft.com/office/powerpoint/2010/main" val="5614425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Picture 8"/>
          <p:cNvPicPr>
            <a:picLocks noGrp="1" noChangeAspect="1" noChangeArrowheads="1"/>
          </p:cNvPicPr>
          <p:nvPr>
            <p:ph type="title"/>
          </p:nvPr>
        </p:nvPicPr>
        <p:blipFill>
          <a:blip r:embed="rId3"/>
          <a:srcRect/>
          <a:stretch>
            <a:fillRect/>
          </a:stretch>
        </p:blipFill>
        <p:spPr>
          <a:xfrm>
            <a:off x="2057400" y="1557339"/>
            <a:ext cx="7848600" cy="4662487"/>
          </a:xfrm>
          <a:noFill/>
        </p:spPr>
      </p:pic>
      <p:sp>
        <p:nvSpPr>
          <p:cNvPr id="70659" name="Text Box 9"/>
          <p:cNvSpPr txBox="1">
            <a:spLocks noChangeArrowheads="1"/>
          </p:cNvSpPr>
          <p:nvPr/>
        </p:nvSpPr>
        <p:spPr bwMode="auto">
          <a:xfrm>
            <a:off x="3581400" y="228601"/>
            <a:ext cx="4249112" cy="769441"/>
          </a:xfrm>
          <a:prstGeom prst="rect">
            <a:avLst/>
          </a:prstGeom>
          <a:noFill/>
          <a:ln w="9525">
            <a:noFill/>
            <a:miter lim="800000"/>
            <a:headEnd/>
            <a:tailEnd/>
          </a:ln>
        </p:spPr>
        <p:txBody>
          <a:bodyPr wrap="none">
            <a:prstTxWarp prst="textNoShape">
              <a:avLst/>
            </a:prstTxWarp>
            <a:spAutoFit/>
          </a:bodyPr>
          <a:lstStyle/>
          <a:p>
            <a:r>
              <a:rPr lang="en-US" sz="4400" b="1"/>
              <a:t>Ardesia Life Cycle</a:t>
            </a:r>
          </a:p>
        </p:txBody>
      </p:sp>
    </p:spTree>
    <p:extLst>
      <p:ext uri="{BB962C8B-B14F-4D97-AF65-F5344CB8AC3E}">
        <p14:creationId xmlns:p14="http://schemas.microsoft.com/office/powerpoint/2010/main" val="17582252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2"/>
          <p:cNvSpPr txBox="1">
            <a:spLocks noChangeArrowheads="1"/>
          </p:cNvSpPr>
          <p:nvPr/>
        </p:nvSpPr>
        <p:spPr bwMode="auto">
          <a:xfrm>
            <a:off x="2209801" y="0"/>
            <a:ext cx="7572375" cy="762000"/>
          </a:xfrm>
          <a:prstGeom prst="rect">
            <a:avLst/>
          </a:prstGeom>
          <a:noFill/>
          <a:ln w="9525">
            <a:noFill/>
            <a:miter lim="800000"/>
            <a:headEnd/>
            <a:tailEnd/>
          </a:ln>
        </p:spPr>
        <p:txBody>
          <a:bodyPr wrap="none">
            <a:prstTxWarp prst="textNoShape">
              <a:avLst/>
            </a:prstTxWarp>
            <a:spAutoFit/>
          </a:bodyPr>
          <a:lstStyle/>
          <a:p>
            <a:r>
              <a:rPr lang="en-US" sz="4400" b="1">
                <a:latin typeface="Times New Roman" charset="0"/>
              </a:rPr>
              <a:t>Environment transition matrix</a:t>
            </a:r>
          </a:p>
        </p:txBody>
      </p:sp>
      <p:pic>
        <p:nvPicPr>
          <p:cNvPr id="72707" name="Picture 3"/>
          <p:cNvPicPr>
            <a:picLocks noChangeAspect="1" noChangeArrowheads="1"/>
          </p:cNvPicPr>
          <p:nvPr/>
        </p:nvPicPr>
        <p:blipFill>
          <a:blip r:embed="rId3"/>
          <a:srcRect/>
          <a:stretch>
            <a:fillRect/>
          </a:stretch>
        </p:blipFill>
        <p:spPr bwMode="auto">
          <a:xfrm>
            <a:off x="1752600" y="1022350"/>
            <a:ext cx="8686800" cy="3168650"/>
          </a:xfrm>
          <a:prstGeom prst="rect">
            <a:avLst/>
          </a:prstGeom>
          <a:noFill/>
          <a:ln w="9525">
            <a:noFill/>
            <a:miter lim="800000"/>
            <a:headEnd/>
            <a:tailEnd/>
          </a:ln>
        </p:spPr>
      </p:pic>
      <p:pic>
        <p:nvPicPr>
          <p:cNvPr id="72708" name="Picture 5"/>
          <p:cNvPicPr>
            <a:picLocks noChangeAspect="1" noChangeArrowheads="1"/>
          </p:cNvPicPr>
          <p:nvPr/>
        </p:nvPicPr>
        <p:blipFill>
          <a:blip r:embed="rId4"/>
          <a:srcRect/>
          <a:stretch>
            <a:fillRect/>
          </a:stretch>
        </p:blipFill>
        <p:spPr bwMode="auto">
          <a:xfrm>
            <a:off x="1524000" y="4275138"/>
            <a:ext cx="9144000" cy="2659062"/>
          </a:xfrm>
          <a:prstGeom prst="rect">
            <a:avLst/>
          </a:prstGeom>
          <a:noFill/>
          <a:ln w="9525">
            <a:noFill/>
            <a:miter lim="800000"/>
            <a:headEnd/>
            <a:tailEnd/>
          </a:ln>
        </p:spPr>
      </p:pic>
    </p:spTree>
    <p:extLst>
      <p:ext uri="{BB962C8B-B14F-4D97-AF65-F5344CB8AC3E}">
        <p14:creationId xmlns:p14="http://schemas.microsoft.com/office/powerpoint/2010/main" val="6876797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4"/>
          <p:cNvSpPr>
            <a:spLocks noGrp="1" noChangeArrowheads="1"/>
          </p:cNvSpPr>
          <p:nvPr>
            <p:ph type="title"/>
          </p:nvPr>
        </p:nvSpPr>
        <p:spPr>
          <a:xfrm>
            <a:off x="1752600" y="0"/>
            <a:ext cx="8229600" cy="1143000"/>
          </a:xfrm>
        </p:spPr>
        <p:txBody>
          <a:bodyPr/>
          <a:lstStyle/>
          <a:p>
            <a:pPr eaLnBrk="1" hangingPunct="1"/>
            <a:r>
              <a:rPr lang="en-US" b="1" dirty="0">
                <a:latin typeface="Times New Roman"/>
                <a:cs typeface="Times New Roman"/>
              </a:rPr>
              <a:t>Patch type and </a:t>
            </a:r>
            <a:r>
              <a:rPr lang="el-GR" b="1" dirty="0">
                <a:latin typeface="Times New Roman"/>
                <a:ea typeface="Arial" charset="0"/>
                <a:cs typeface="Times New Roman"/>
              </a:rPr>
              <a:t>λ</a:t>
            </a:r>
          </a:p>
        </p:txBody>
      </p:sp>
      <p:sp>
        <p:nvSpPr>
          <p:cNvPr id="74755" name="Line 6"/>
          <p:cNvSpPr>
            <a:spLocks noChangeShapeType="1"/>
          </p:cNvSpPr>
          <p:nvPr/>
        </p:nvSpPr>
        <p:spPr bwMode="auto">
          <a:xfrm>
            <a:off x="4013200" y="1524000"/>
            <a:ext cx="0" cy="2743200"/>
          </a:xfrm>
          <a:prstGeom prst="line">
            <a:avLst/>
          </a:prstGeom>
          <a:noFill/>
          <a:ln w="9525">
            <a:solidFill>
              <a:schemeClr val="tx1"/>
            </a:solidFill>
            <a:round/>
            <a:headEnd/>
            <a:tailEnd/>
          </a:ln>
        </p:spPr>
        <p:txBody>
          <a:bodyPr>
            <a:prstTxWarp prst="textNoShape">
              <a:avLst/>
            </a:prstTxWarp>
          </a:bodyPr>
          <a:lstStyle/>
          <a:p>
            <a:endParaRPr lang="en-US"/>
          </a:p>
        </p:txBody>
      </p:sp>
      <p:sp>
        <p:nvSpPr>
          <p:cNvPr id="74756" name="Line 7"/>
          <p:cNvSpPr>
            <a:spLocks noChangeShapeType="1"/>
          </p:cNvSpPr>
          <p:nvPr/>
        </p:nvSpPr>
        <p:spPr bwMode="auto">
          <a:xfrm>
            <a:off x="4013201" y="4267200"/>
            <a:ext cx="4113213" cy="0"/>
          </a:xfrm>
          <a:prstGeom prst="line">
            <a:avLst/>
          </a:prstGeom>
          <a:noFill/>
          <a:ln w="9525">
            <a:solidFill>
              <a:schemeClr val="tx1"/>
            </a:solidFill>
            <a:round/>
            <a:headEnd/>
            <a:tailEnd/>
          </a:ln>
        </p:spPr>
        <p:txBody>
          <a:bodyPr>
            <a:prstTxWarp prst="textNoShape">
              <a:avLst/>
            </a:prstTxWarp>
          </a:bodyPr>
          <a:lstStyle/>
          <a:p>
            <a:endParaRPr lang="en-US"/>
          </a:p>
        </p:txBody>
      </p:sp>
      <p:sp>
        <p:nvSpPr>
          <p:cNvPr id="74757" name="Text Box 8"/>
          <p:cNvSpPr txBox="1">
            <a:spLocks noChangeArrowheads="1"/>
          </p:cNvSpPr>
          <p:nvPr/>
        </p:nvSpPr>
        <p:spPr bwMode="auto">
          <a:xfrm>
            <a:off x="5251450" y="4876801"/>
            <a:ext cx="1566776" cy="461665"/>
          </a:xfrm>
          <a:prstGeom prst="rect">
            <a:avLst/>
          </a:prstGeom>
          <a:noFill/>
          <a:ln w="9525">
            <a:noFill/>
            <a:miter lim="800000"/>
            <a:headEnd/>
            <a:tailEnd/>
          </a:ln>
        </p:spPr>
        <p:txBody>
          <a:bodyPr wrap="none">
            <a:prstTxWarp prst="textNoShape">
              <a:avLst/>
            </a:prstTxWarp>
            <a:spAutoFit/>
          </a:bodyPr>
          <a:lstStyle/>
          <a:p>
            <a:r>
              <a:rPr lang="en-US" sz="2400" b="1"/>
              <a:t>Patch Type</a:t>
            </a:r>
          </a:p>
        </p:txBody>
      </p:sp>
      <p:sp>
        <p:nvSpPr>
          <p:cNvPr id="74758" name="Text Box 9"/>
          <p:cNvSpPr txBox="1">
            <a:spLocks noChangeArrowheads="1"/>
          </p:cNvSpPr>
          <p:nvPr/>
        </p:nvSpPr>
        <p:spPr bwMode="auto">
          <a:xfrm>
            <a:off x="3937001" y="4327525"/>
            <a:ext cx="540533" cy="338554"/>
          </a:xfrm>
          <a:prstGeom prst="rect">
            <a:avLst/>
          </a:prstGeom>
          <a:noFill/>
          <a:ln w="9525">
            <a:noFill/>
            <a:miter lim="800000"/>
            <a:headEnd/>
            <a:tailEnd/>
          </a:ln>
        </p:spPr>
        <p:txBody>
          <a:bodyPr wrap="none">
            <a:prstTxWarp prst="textNoShape">
              <a:avLst/>
            </a:prstTxWarp>
            <a:spAutoFit/>
          </a:bodyPr>
          <a:lstStyle/>
          <a:p>
            <a:r>
              <a:rPr lang="en-US" sz="1600" b="1"/>
              <a:t>&lt;5%</a:t>
            </a:r>
          </a:p>
        </p:txBody>
      </p:sp>
      <p:sp>
        <p:nvSpPr>
          <p:cNvPr id="74759" name="Text Box 10"/>
          <p:cNvSpPr txBox="1">
            <a:spLocks noChangeArrowheads="1"/>
          </p:cNvSpPr>
          <p:nvPr/>
        </p:nvSpPr>
        <p:spPr bwMode="auto">
          <a:xfrm>
            <a:off x="4584700" y="4324350"/>
            <a:ext cx="542136" cy="338554"/>
          </a:xfrm>
          <a:prstGeom prst="rect">
            <a:avLst/>
          </a:prstGeom>
          <a:noFill/>
          <a:ln w="9525">
            <a:noFill/>
            <a:miter lim="800000"/>
            <a:headEnd/>
            <a:tailEnd/>
          </a:ln>
        </p:spPr>
        <p:txBody>
          <a:bodyPr wrap="none">
            <a:prstTxWarp prst="textNoShape">
              <a:avLst/>
            </a:prstTxWarp>
            <a:spAutoFit/>
          </a:bodyPr>
          <a:lstStyle/>
          <a:p>
            <a:r>
              <a:rPr lang="en-US" sz="1600" b="1"/>
              <a:t>15%</a:t>
            </a:r>
          </a:p>
        </p:txBody>
      </p:sp>
      <p:sp>
        <p:nvSpPr>
          <p:cNvPr id="74760" name="Text Box 11"/>
          <p:cNvSpPr txBox="1">
            <a:spLocks noChangeArrowheads="1"/>
          </p:cNvSpPr>
          <p:nvPr/>
        </p:nvSpPr>
        <p:spPr bwMode="auto">
          <a:xfrm>
            <a:off x="5276850" y="4329113"/>
            <a:ext cx="542136" cy="338554"/>
          </a:xfrm>
          <a:prstGeom prst="rect">
            <a:avLst/>
          </a:prstGeom>
          <a:noFill/>
          <a:ln w="9525">
            <a:noFill/>
            <a:miter lim="800000"/>
            <a:headEnd/>
            <a:tailEnd/>
          </a:ln>
        </p:spPr>
        <p:txBody>
          <a:bodyPr wrap="none">
            <a:prstTxWarp prst="textNoShape">
              <a:avLst/>
            </a:prstTxWarp>
            <a:spAutoFit/>
          </a:bodyPr>
          <a:lstStyle/>
          <a:p>
            <a:r>
              <a:rPr lang="en-US" sz="1600" b="1"/>
              <a:t>25%</a:t>
            </a:r>
          </a:p>
        </p:txBody>
      </p:sp>
      <p:sp>
        <p:nvSpPr>
          <p:cNvPr id="74761" name="Text Box 12"/>
          <p:cNvSpPr txBox="1">
            <a:spLocks noChangeArrowheads="1"/>
          </p:cNvSpPr>
          <p:nvPr/>
        </p:nvSpPr>
        <p:spPr bwMode="auto">
          <a:xfrm>
            <a:off x="5880100" y="4329113"/>
            <a:ext cx="542136" cy="338554"/>
          </a:xfrm>
          <a:prstGeom prst="rect">
            <a:avLst/>
          </a:prstGeom>
          <a:noFill/>
          <a:ln w="9525">
            <a:noFill/>
            <a:miter lim="800000"/>
            <a:headEnd/>
            <a:tailEnd/>
          </a:ln>
        </p:spPr>
        <p:txBody>
          <a:bodyPr wrap="none">
            <a:prstTxWarp prst="textNoShape">
              <a:avLst/>
            </a:prstTxWarp>
            <a:spAutoFit/>
          </a:bodyPr>
          <a:lstStyle/>
          <a:p>
            <a:r>
              <a:rPr lang="en-US" sz="1600" b="1"/>
              <a:t>35%</a:t>
            </a:r>
          </a:p>
        </p:txBody>
      </p:sp>
      <p:sp>
        <p:nvSpPr>
          <p:cNvPr id="74762" name="Text Box 13"/>
          <p:cNvSpPr txBox="1">
            <a:spLocks noChangeArrowheads="1"/>
          </p:cNvSpPr>
          <p:nvPr/>
        </p:nvSpPr>
        <p:spPr bwMode="auto">
          <a:xfrm>
            <a:off x="6572250" y="4333875"/>
            <a:ext cx="542136" cy="338554"/>
          </a:xfrm>
          <a:prstGeom prst="rect">
            <a:avLst/>
          </a:prstGeom>
          <a:noFill/>
          <a:ln w="9525">
            <a:noFill/>
            <a:miter lim="800000"/>
            <a:headEnd/>
            <a:tailEnd/>
          </a:ln>
        </p:spPr>
        <p:txBody>
          <a:bodyPr wrap="none">
            <a:prstTxWarp prst="textNoShape">
              <a:avLst/>
            </a:prstTxWarp>
            <a:spAutoFit/>
          </a:bodyPr>
          <a:lstStyle/>
          <a:p>
            <a:r>
              <a:rPr lang="en-US" sz="1600" b="1"/>
              <a:t>45%</a:t>
            </a:r>
          </a:p>
        </p:txBody>
      </p:sp>
      <p:sp>
        <p:nvSpPr>
          <p:cNvPr id="74763" name="Text Box 14"/>
          <p:cNvSpPr txBox="1">
            <a:spLocks noChangeArrowheads="1"/>
          </p:cNvSpPr>
          <p:nvPr/>
        </p:nvSpPr>
        <p:spPr bwMode="auto">
          <a:xfrm>
            <a:off x="7175500" y="4329113"/>
            <a:ext cx="542136" cy="338554"/>
          </a:xfrm>
          <a:prstGeom prst="rect">
            <a:avLst/>
          </a:prstGeom>
          <a:noFill/>
          <a:ln w="9525">
            <a:noFill/>
            <a:miter lim="800000"/>
            <a:headEnd/>
            <a:tailEnd/>
          </a:ln>
        </p:spPr>
        <p:txBody>
          <a:bodyPr wrap="none">
            <a:prstTxWarp prst="textNoShape">
              <a:avLst/>
            </a:prstTxWarp>
            <a:spAutoFit/>
          </a:bodyPr>
          <a:lstStyle/>
          <a:p>
            <a:r>
              <a:rPr lang="en-US" sz="1600" b="1"/>
              <a:t>55%</a:t>
            </a:r>
          </a:p>
        </p:txBody>
      </p:sp>
      <p:sp>
        <p:nvSpPr>
          <p:cNvPr id="74764" name="Text Box 15"/>
          <p:cNvSpPr txBox="1">
            <a:spLocks noChangeArrowheads="1"/>
          </p:cNvSpPr>
          <p:nvPr/>
        </p:nvSpPr>
        <p:spPr bwMode="auto">
          <a:xfrm>
            <a:off x="7867650" y="4333875"/>
            <a:ext cx="542136" cy="338554"/>
          </a:xfrm>
          <a:prstGeom prst="rect">
            <a:avLst/>
          </a:prstGeom>
          <a:noFill/>
          <a:ln w="9525">
            <a:noFill/>
            <a:miter lim="800000"/>
            <a:headEnd/>
            <a:tailEnd/>
          </a:ln>
        </p:spPr>
        <p:txBody>
          <a:bodyPr wrap="none">
            <a:prstTxWarp prst="textNoShape">
              <a:avLst/>
            </a:prstTxWarp>
            <a:spAutoFit/>
          </a:bodyPr>
          <a:lstStyle/>
          <a:p>
            <a:r>
              <a:rPr lang="en-US" sz="1600" b="1"/>
              <a:t>65%</a:t>
            </a:r>
          </a:p>
        </p:txBody>
      </p:sp>
      <p:sp>
        <p:nvSpPr>
          <p:cNvPr id="74765" name="Text Box 16"/>
          <p:cNvSpPr txBox="1">
            <a:spLocks noChangeArrowheads="1"/>
          </p:cNvSpPr>
          <p:nvPr/>
        </p:nvSpPr>
        <p:spPr bwMode="auto">
          <a:xfrm>
            <a:off x="3022601" y="2590800"/>
            <a:ext cx="396875" cy="457200"/>
          </a:xfrm>
          <a:prstGeom prst="rect">
            <a:avLst/>
          </a:prstGeom>
          <a:noFill/>
          <a:ln w="9525">
            <a:noFill/>
            <a:miter lim="800000"/>
            <a:headEnd/>
            <a:tailEnd/>
          </a:ln>
        </p:spPr>
        <p:txBody>
          <a:bodyPr>
            <a:prstTxWarp prst="textNoShape">
              <a:avLst/>
            </a:prstTxWarp>
            <a:spAutoFit/>
          </a:bodyPr>
          <a:lstStyle/>
          <a:p>
            <a:r>
              <a:rPr lang="el-GR" sz="2400" b="1">
                <a:ea typeface="Arial" charset="0"/>
                <a:cs typeface="Arial" charset="0"/>
              </a:rPr>
              <a:t>λ</a:t>
            </a:r>
          </a:p>
        </p:txBody>
      </p:sp>
      <p:sp>
        <p:nvSpPr>
          <p:cNvPr id="74766" name="Text Box 17"/>
          <p:cNvSpPr txBox="1">
            <a:spLocks noChangeArrowheads="1"/>
          </p:cNvSpPr>
          <p:nvPr/>
        </p:nvSpPr>
        <p:spPr bwMode="auto">
          <a:xfrm>
            <a:off x="3616325" y="4075113"/>
            <a:ext cx="311150" cy="366712"/>
          </a:xfrm>
          <a:prstGeom prst="rect">
            <a:avLst/>
          </a:prstGeom>
          <a:noFill/>
          <a:ln w="9525">
            <a:noFill/>
            <a:miter lim="800000"/>
            <a:headEnd/>
            <a:tailEnd/>
          </a:ln>
        </p:spPr>
        <p:txBody>
          <a:bodyPr wrap="none">
            <a:prstTxWarp prst="textNoShape">
              <a:avLst/>
            </a:prstTxWarp>
            <a:spAutoFit/>
          </a:bodyPr>
          <a:lstStyle/>
          <a:p>
            <a:r>
              <a:rPr lang="en-US" b="1"/>
              <a:t>1</a:t>
            </a:r>
          </a:p>
        </p:txBody>
      </p:sp>
      <p:sp>
        <p:nvSpPr>
          <p:cNvPr id="74767" name="Text Box 18"/>
          <p:cNvSpPr txBox="1">
            <a:spLocks noChangeArrowheads="1"/>
          </p:cNvSpPr>
          <p:nvPr/>
        </p:nvSpPr>
        <p:spPr bwMode="auto">
          <a:xfrm>
            <a:off x="3479800" y="2605088"/>
            <a:ext cx="479618" cy="369332"/>
          </a:xfrm>
          <a:prstGeom prst="rect">
            <a:avLst/>
          </a:prstGeom>
          <a:noFill/>
          <a:ln w="9525">
            <a:noFill/>
            <a:miter lim="800000"/>
            <a:headEnd/>
            <a:tailEnd/>
          </a:ln>
        </p:spPr>
        <p:txBody>
          <a:bodyPr wrap="none">
            <a:prstTxWarp prst="textNoShape">
              <a:avLst/>
            </a:prstTxWarp>
            <a:spAutoFit/>
          </a:bodyPr>
          <a:lstStyle/>
          <a:p>
            <a:r>
              <a:rPr lang="en-US" b="1"/>
              <a:t>1.5</a:t>
            </a:r>
          </a:p>
        </p:txBody>
      </p:sp>
      <p:sp>
        <p:nvSpPr>
          <p:cNvPr id="74768" name="Text Box 19"/>
          <p:cNvSpPr txBox="1">
            <a:spLocks noChangeArrowheads="1"/>
          </p:cNvSpPr>
          <p:nvPr/>
        </p:nvSpPr>
        <p:spPr bwMode="auto">
          <a:xfrm>
            <a:off x="3625850" y="1371601"/>
            <a:ext cx="311150" cy="366713"/>
          </a:xfrm>
          <a:prstGeom prst="rect">
            <a:avLst/>
          </a:prstGeom>
          <a:noFill/>
          <a:ln w="9525">
            <a:noFill/>
            <a:miter lim="800000"/>
            <a:headEnd/>
            <a:tailEnd/>
          </a:ln>
        </p:spPr>
        <p:txBody>
          <a:bodyPr wrap="none">
            <a:prstTxWarp prst="textNoShape">
              <a:avLst/>
            </a:prstTxWarp>
            <a:spAutoFit/>
          </a:bodyPr>
          <a:lstStyle/>
          <a:p>
            <a:r>
              <a:rPr lang="en-US" b="1"/>
              <a:t>2</a:t>
            </a:r>
          </a:p>
        </p:txBody>
      </p:sp>
      <p:sp>
        <p:nvSpPr>
          <p:cNvPr id="74769" name="Rectangle 20"/>
          <p:cNvSpPr>
            <a:spLocks noChangeArrowheads="1"/>
          </p:cNvSpPr>
          <p:nvPr/>
        </p:nvSpPr>
        <p:spPr bwMode="auto">
          <a:xfrm>
            <a:off x="4165600" y="4191000"/>
            <a:ext cx="152400" cy="152400"/>
          </a:xfrm>
          <a:prstGeom prst="rect">
            <a:avLst/>
          </a:prstGeom>
          <a:solidFill>
            <a:schemeClr val="accent2"/>
          </a:solidFill>
          <a:ln w="19050">
            <a:solidFill>
              <a:schemeClr val="tx1"/>
            </a:solidFill>
            <a:miter lim="800000"/>
            <a:headEnd/>
            <a:tailEnd/>
          </a:ln>
        </p:spPr>
        <p:txBody>
          <a:bodyPr wrap="none" anchor="ctr">
            <a:prstTxWarp prst="textNoShape">
              <a:avLst/>
            </a:prstTxWarp>
          </a:bodyPr>
          <a:lstStyle/>
          <a:p>
            <a:endParaRPr lang="en-US"/>
          </a:p>
        </p:txBody>
      </p:sp>
      <p:sp>
        <p:nvSpPr>
          <p:cNvPr id="74770" name="Rectangle 21"/>
          <p:cNvSpPr>
            <a:spLocks noChangeArrowheads="1"/>
          </p:cNvSpPr>
          <p:nvPr/>
        </p:nvSpPr>
        <p:spPr bwMode="auto">
          <a:xfrm>
            <a:off x="4800600" y="3200400"/>
            <a:ext cx="152400" cy="152400"/>
          </a:xfrm>
          <a:prstGeom prst="rect">
            <a:avLst/>
          </a:prstGeom>
          <a:solidFill>
            <a:schemeClr val="accent2"/>
          </a:solidFill>
          <a:ln w="19050">
            <a:solidFill>
              <a:schemeClr val="tx1"/>
            </a:solidFill>
            <a:miter lim="800000"/>
            <a:headEnd/>
            <a:tailEnd/>
          </a:ln>
        </p:spPr>
        <p:txBody>
          <a:bodyPr wrap="none" anchor="ctr">
            <a:prstTxWarp prst="textNoShape">
              <a:avLst/>
            </a:prstTxWarp>
          </a:bodyPr>
          <a:lstStyle/>
          <a:p>
            <a:endParaRPr lang="en-US"/>
          </a:p>
        </p:txBody>
      </p:sp>
      <p:sp>
        <p:nvSpPr>
          <p:cNvPr id="74771" name="Rectangle 22"/>
          <p:cNvSpPr>
            <a:spLocks noChangeArrowheads="1"/>
          </p:cNvSpPr>
          <p:nvPr/>
        </p:nvSpPr>
        <p:spPr bwMode="auto">
          <a:xfrm>
            <a:off x="5435600" y="2286000"/>
            <a:ext cx="152400" cy="152400"/>
          </a:xfrm>
          <a:prstGeom prst="rect">
            <a:avLst/>
          </a:prstGeom>
          <a:solidFill>
            <a:schemeClr val="accent2"/>
          </a:solidFill>
          <a:ln w="19050">
            <a:solidFill>
              <a:schemeClr val="tx1"/>
            </a:solidFill>
            <a:miter lim="800000"/>
            <a:headEnd/>
            <a:tailEnd/>
          </a:ln>
        </p:spPr>
        <p:txBody>
          <a:bodyPr wrap="none" anchor="ctr">
            <a:prstTxWarp prst="textNoShape">
              <a:avLst/>
            </a:prstTxWarp>
          </a:bodyPr>
          <a:lstStyle/>
          <a:p>
            <a:endParaRPr lang="en-US"/>
          </a:p>
        </p:txBody>
      </p:sp>
      <p:sp>
        <p:nvSpPr>
          <p:cNvPr id="74772" name="Rectangle 23"/>
          <p:cNvSpPr>
            <a:spLocks noChangeArrowheads="1"/>
          </p:cNvSpPr>
          <p:nvPr/>
        </p:nvSpPr>
        <p:spPr bwMode="auto">
          <a:xfrm>
            <a:off x="6070600" y="2667000"/>
            <a:ext cx="152400" cy="152400"/>
          </a:xfrm>
          <a:prstGeom prst="rect">
            <a:avLst/>
          </a:prstGeom>
          <a:solidFill>
            <a:schemeClr val="accent2"/>
          </a:solidFill>
          <a:ln w="19050">
            <a:solidFill>
              <a:schemeClr val="tx1"/>
            </a:solidFill>
            <a:miter lim="800000"/>
            <a:headEnd/>
            <a:tailEnd/>
          </a:ln>
        </p:spPr>
        <p:txBody>
          <a:bodyPr wrap="none" anchor="ctr">
            <a:prstTxWarp prst="textNoShape">
              <a:avLst/>
            </a:prstTxWarp>
          </a:bodyPr>
          <a:lstStyle/>
          <a:p>
            <a:endParaRPr lang="en-US"/>
          </a:p>
        </p:txBody>
      </p:sp>
      <p:sp>
        <p:nvSpPr>
          <p:cNvPr id="74773" name="Rectangle 24"/>
          <p:cNvSpPr>
            <a:spLocks noChangeArrowheads="1"/>
          </p:cNvSpPr>
          <p:nvPr/>
        </p:nvSpPr>
        <p:spPr bwMode="auto">
          <a:xfrm>
            <a:off x="6705600" y="2362200"/>
            <a:ext cx="152400" cy="152400"/>
          </a:xfrm>
          <a:prstGeom prst="rect">
            <a:avLst/>
          </a:prstGeom>
          <a:solidFill>
            <a:schemeClr val="accent2"/>
          </a:solidFill>
          <a:ln w="19050">
            <a:solidFill>
              <a:schemeClr val="tx1"/>
            </a:solidFill>
            <a:miter lim="800000"/>
            <a:headEnd/>
            <a:tailEnd/>
          </a:ln>
        </p:spPr>
        <p:txBody>
          <a:bodyPr wrap="none" anchor="ctr">
            <a:prstTxWarp prst="textNoShape">
              <a:avLst/>
            </a:prstTxWarp>
          </a:bodyPr>
          <a:lstStyle/>
          <a:p>
            <a:endParaRPr lang="en-US"/>
          </a:p>
        </p:txBody>
      </p:sp>
      <p:sp>
        <p:nvSpPr>
          <p:cNvPr id="74774" name="Rectangle 25"/>
          <p:cNvSpPr>
            <a:spLocks noChangeArrowheads="1"/>
          </p:cNvSpPr>
          <p:nvPr/>
        </p:nvSpPr>
        <p:spPr bwMode="auto">
          <a:xfrm>
            <a:off x="7340600" y="1981200"/>
            <a:ext cx="152400" cy="152400"/>
          </a:xfrm>
          <a:prstGeom prst="rect">
            <a:avLst/>
          </a:prstGeom>
          <a:solidFill>
            <a:schemeClr val="accent2"/>
          </a:solidFill>
          <a:ln w="19050">
            <a:solidFill>
              <a:schemeClr val="tx1"/>
            </a:solidFill>
            <a:miter lim="800000"/>
            <a:headEnd/>
            <a:tailEnd/>
          </a:ln>
        </p:spPr>
        <p:txBody>
          <a:bodyPr wrap="none" anchor="ctr">
            <a:prstTxWarp prst="textNoShape">
              <a:avLst/>
            </a:prstTxWarp>
          </a:bodyPr>
          <a:lstStyle/>
          <a:p>
            <a:endParaRPr lang="en-US"/>
          </a:p>
        </p:txBody>
      </p:sp>
      <p:sp>
        <p:nvSpPr>
          <p:cNvPr id="74775" name="Rectangle 26"/>
          <p:cNvSpPr>
            <a:spLocks noChangeArrowheads="1"/>
          </p:cNvSpPr>
          <p:nvPr/>
        </p:nvSpPr>
        <p:spPr bwMode="auto">
          <a:xfrm>
            <a:off x="7975600" y="1524000"/>
            <a:ext cx="152400" cy="152400"/>
          </a:xfrm>
          <a:prstGeom prst="rect">
            <a:avLst/>
          </a:prstGeom>
          <a:solidFill>
            <a:schemeClr val="accent2"/>
          </a:solidFill>
          <a:ln w="19050">
            <a:solidFill>
              <a:schemeClr val="tx1"/>
            </a:solidFill>
            <a:miter lim="800000"/>
            <a:headEnd/>
            <a:tailEnd/>
          </a:ln>
        </p:spPr>
        <p:txBody>
          <a:bodyPr wrap="none" anchor="ctr">
            <a:prstTxWarp prst="textNoShape">
              <a:avLst/>
            </a:prstTxWarp>
          </a:bodyPr>
          <a:lstStyle/>
          <a:p>
            <a:endParaRPr lang="en-US"/>
          </a:p>
        </p:txBody>
      </p:sp>
    </p:spTree>
    <p:extLst>
      <p:ext uri="{BB962C8B-B14F-4D97-AF65-F5344CB8AC3E}">
        <p14:creationId xmlns:p14="http://schemas.microsoft.com/office/powerpoint/2010/main" val="13082184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4"/>
          <p:cNvSpPr>
            <a:spLocks noGrp="1" noChangeArrowheads="1"/>
          </p:cNvSpPr>
          <p:nvPr>
            <p:ph type="title"/>
          </p:nvPr>
        </p:nvSpPr>
        <p:spPr>
          <a:xfrm>
            <a:off x="1981200" y="76200"/>
            <a:ext cx="8229600" cy="1143000"/>
          </a:xfrm>
        </p:spPr>
        <p:txBody>
          <a:bodyPr/>
          <a:lstStyle/>
          <a:p>
            <a:pPr eaLnBrk="1" hangingPunct="1"/>
            <a:r>
              <a:rPr lang="en-US" b="1" dirty="0">
                <a:latin typeface="Times New Roman"/>
                <a:cs typeface="Times New Roman"/>
              </a:rPr>
              <a:t>Hurricane frequency and </a:t>
            </a:r>
            <a:r>
              <a:rPr lang="el-GR" b="1" dirty="0">
                <a:latin typeface="Times New Roman"/>
                <a:ea typeface="Arial" charset="0"/>
                <a:cs typeface="Times New Roman"/>
              </a:rPr>
              <a:t>λ</a:t>
            </a:r>
          </a:p>
        </p:txBody>
      </p:sp>
      <p:sp>
        <p:nvSpPr>
          <p:cNvPr id="76803" name="Line 5"/>
          <p:cNvSpPr>
            <a:spLocks noChangeShapeType="1"/>
          </p:cNvSpPr>
          <p:nvPr/>
        </p:nvSpPr>
        <p:spPr bwMode="auto">
          <a:xfrm>
            <a:off x="4013200" y="1524000"/>
            <a:ext cx="0" cy="2743200"/>
          </a:xfrm>
          <a:prstGeom prst="line">
            <a:avLst/>
          </a:prstGeom>
          <a:noFill/>
          <a:ln w="9525">
            <a:solidFill>
              <a:schemeClr val="tx1"/>
            </a:solidFill>
            <a:round/>
            <a:headEnd/>
            <a:tailEnd/>
          </a:ln>
        </p:spPr>
        <p:txBody>
          <a:bodyPr>
            <a:prstTxWarp prst="textNoShape">
              <a:avLst/>
            </a:prstTxWarp>
          </a:bodyPr>
          <a:lstStyle/>
          <a:p>
            <a:endParaRPr lang="en-US"/>
          </a:p>
        </p:txBody>
      </p:sp>
      <p:sp>
        <p:nvSpPr>
          <p:cNvPr id="76804" name="Line 6"/>
          <p:cNvSpPr>
            <a:spLocks noChangeShapeType="1"/>
          </p:cNvSpPr>
          <p:nvPr/>
        </p:nvSpPr>
        <p:spPr bwMode="auto">
          <a:xfrm>
            <a:off x="4013201" y="4286250"/>
            <a:ext cx="4113213" cy="0"/>
          </a:xfrm>
          <a:prstGeom prst="line">
            <a:avLst/>
          </a:prstGeom>
          <a:noFill/>
          <a:ln w="9525">
            <a:solidFill>
              <a:schemeClr val="tx1"/>
            </a:solidFill>
            <a:round/>
            <a:headEnd/>
            <a:tailEnd/>
          </a:ln>
        </p:spPr>
        <p:txBody>
          <a:bodyPr>
            <a:prstTxWarp prst="textNoShape">
              <a:avLst/>
            </a:prstTxWarp>
          </a:bodyPr>
          <a:lstStyle/>
          <a:p>
            <a:endParaRPr lang="en-US"/>
          </a:p>
        </p:txBody>
      </p:sp>
      <p:sp>
        <p:nvSpPr>
          <p:cNvPr id="76805" name="Text Box 7"/>
          <p:cNvSpPr txBox="1">
            <a:spLocks noChangeArrowheads="1"/>
          </p:cNvSpPr>
          <p:nvPr/>
        </p:nvSpPr>
        <p:spPr bwMode="auto">
          <a:xfrm>
            <a:off x="3022601" y="2590800"/>
            <a:ext cx="396875" cy="457200"/>
          </a:xfrm>
          <a:prstGeom prst="rect">
            <a:avLst/>
          </a:prstGeom>
          <a:noFill/>
          <a:ln w="9525">
            <a:noFill/>
            <a:miter lim="800000"/>
            <a:headEnd/>
            <a:tailEnd/>
          </a:ln>
        </p:spPr>
        <p:txBody>
          <a:bodyPr>
            <a:prstTxWarp prst="textNoShape">
              <a:avLst/>
            </a:prstTxWarp>
            <a:spAutoFit/>
          </a:bodyPr>
          <a:lstStyle/>
          <a:p>
            <a:r>
              <a:rPr lang="el-GR" sz="2400" b="1">
                <a:ea typeface="Arial" charset="0"/>
                <a:cs typeface="Arial" charset="0"/>
              </a:rPr>
              <a:t>λ</a:t>
            </a:r>
          </a:p>
        </p:txBody>
      </p:sp>
      <p:sp>
        <p:nvSpPr>
          <p:cNvPr id="76806" name="Text Box 8"/>
          <p:cNvSpPr txBox="1">
            <a:spLocks noChangeArrowheads="1"/>
          </p:cNvSpPr>
          <p:nvPr/>
        </p:nvSpPr>
        <p:spPr bwMode="auto">
          <a:xfrm>
            <a:off x="3479800" y="2605088"/>
            <a:ext cx="479618" cy="369332"/>
          </a:xfrm>
          <a:prstGeom prst="rect">
            <a:avLst/>
          </a:prstGeom>
          <a:noFill/>
          <a:ln w="9525">
            <a:noFill/>
            <a:miter lim="800000"/>
            <a:headEnd/>
            <a:tailEnd/>
          </a:ln>
        </p:spPr>
        <p:txBody>
          <a:bodyPr wrap="none">
            <a:prstTxWarp prst="textNoShape">
              <a:avLst/>
            </a:prstTxWarp>
            <a:spAutoFit/>
          </a:bodyPr>
          <a:lstStyle/>
          <a:p>
            <a:r>
              <a:rPr lang="en-US" b="1"/>
              <a:t>1.5</a:t>
            </a:r>
          </a:p>
        </p:txBody>
      </p:sp>
      <p:sp>
        <p:nvSpPr>
          <p:cNvPr id="76807" name="Text Box 9"/>
          <p:cNvSpPr txBox="1">
            <a:spLocks noChangeArrowheads="1"/>
          </p:cNvSpPr>
          <p:nvPr/>
        </p:nvSpPr>
        <p:spPr bwMode="auto">
          <a:xfrm>
            <a:off x="3625850" y="1371601"/>
            <a:ext cx="311150" cy="366713"/>
          </a:xfrm>
          <a:prstGeom prst="rect">
            <a:avLst/>
          </a:prstGeom>
          <a:noFill/>
          <a:ln w="9525">
            <a:noFill/>
            <a:miter lim="800000"/>
            <a:headEnd/>
            <a:tailEnd/>
          </a:ln>
        </p:spPr>
        <p:txBody>
          <a:bodyPr wrap="none">
            <a:prstTxWarp prst="textNoShape">
              <a:avLst/>
            </a:prstTxWarp>
            <a:spAutoFit/>
          </a:bodyPr>
          <a:lstStyle/>
          <a:p>
            <a:r>
              <a:rPr lang="en-US" b="1"/>
              <a:t>2</a:t>
            </a:r>
          </a:p>
        </p:txBody>
      </p:sp>
      <p:sp>
        <p:nvSpPr>
          <p:cNvPr id="76808" name="Text Box 17"/>
          <p:cNvSpPr txBox="1">
            <a:spLocks noChangeArrowheads="1"/>
          </p:cNvSpPr>
          <p:nvPr/>
        </p:nvSpPr>
        <p:spPr bwMode="auto">
          <a:xfrm>
            <a:off x="3616325" y="4075113"/>
            <a:ext cx="311150" cy="366712"/>
          </a:xfrm>
          <a:prstGeom prst="rect">
            <a:avLst/>
          </a:prstGeom>
          <a:noFill/>
          <a:ln w="9525">
            <a:noFill/>
            <a:miter lim="800000"/>
            <a:headEnd/>
            <a:tailEnd/>
          </a:ln>
        </p:spPr>
        <p:txBody>
          <a:bodyPr wrap="none">
            <a:prstTxWarp prst="textNoShape">
              <a:avLst/>
            </a:prstTxWarp>
            <a:spAutoFit/>
          </a:bodyPr>
          <a:lstStyle/>
          <a:p>
            <a:r>
              <a:rPr lang="en-US" b="1"/>
              <a:t>1</a:t>
            </a:r>
          </a:p>
        </p:txBody>
      </p:sp>
      <p:sp>
        <p:nvSpPr>
          <p:cNvPr id="76809" name="Text Box 18"/>
          <p:cNvSpPr txBox="1">
            <a:spLocks noChangeArrowheads="1"/>
          </p:cNvSpPr>
          <p:nvPr/>
        </p:nvSpPr>
        <p:spPr bwMode="auto">
          <a:xfrm>
            <a:off x="4337051" y="4876801"/>
            <a:ext cx="3259097" cy="461665"/>
          </a:xfrm>
          <a:prstGeom prst="rect">
            <a:avLst/>
          </a:prstGeom>
          <a:noFill/>
          <a:ln w="9525">
            <a:noFill/>
            <a:miter lim="800000"/>
            <a:headEnd/>
            <a:tailEnd/>
          </a:ln>
        </p:spPr>
        <p:txBody>
          <a:bodyPr wrap="none">
            <a:prstTxWarp prst="textNoShape">
              <a:avLst/>
            </a:prstTxWarp>
            <a:spAutoFit/>
          </a:bodyPr>
          <a:lstStyle/>
          <a:p>
            <a:r>
              <a:rPr lang="en-US" sz="2400" b="1"/>
              <a:t>Frequency of hurricanes</a:t>
            </a:r>
          </a:p>
        </p:txBody>
      </p:sp>
      <p:sp>
        <p:nvSpPr>
          <p:cNvPr id="76810" name="Text Box 19"/>
          <p:cNvSpPr txBox="1">
            <a:spLocks noChangeArrowheads="1"/>
          </p:cNvSpPr>
          <p:nvPr/>
        </p:nvSpPr>
        <p:spPr bwMode="auto">
          <a:xfrm>
            <a:off x="3937001" y="4337050"/>
            <a:ext cx="296863" cy="336550"/>
          </a:xfrm>
          <a:prstGeom prst="rect">
            <a:avLst/>
          </a:prstGeom>
          <a:noFill/>
          <a:ln w="9525">
            <a:noFill/>
            <a:miter lim="800000"/>
            <a:headEnd/>
            <a:tailEnd/>
          </a:ln>
        </p:spPr>
        <p:txBody>
          <a:bodyPr wrap="none">
            <a:prstTxWarp prst="textNoShape">
              <a:avLst/>
            </a:prstTxWarp>
            <a:spAutoFit/>
          </a:bodyPr>
          <a:lstStyle/>
          <a:p>
            <a:r>
              <a:rPr lang="en-US" sz="1600" b="1"/>
              <a:t>0</a:t>
            </a:r>
          </a:p>
        </p:txBody>
      </p:sp>
      <p:sp>
        <p:nvSpPr>
          <p:cNvPr id="76811" name="Text Box 20"/>
          <p:cNvSpPr txBox="1">
            <a:spLocks noChangeArrowheads="1"/>
          </p:cNvSpPr>
          <p:nvPr/>
        </p:nvSpPr>
        <p:spPr bwMode="auto">
          <a:xfrm>
            <a:off x="4784725" y="4337050"/>
            <a:ext cx="447558" cy="338554"/>
          </a:xfrm>
          <a:prstGeom prst="rect">
            <a:avLst/>
          </a:prstGeom>
          <a:noFill/>
          <a:ln w="9525">
            <a:noFill/>
            <a:miter lim="800000"/>
            <a:headEnd/>
            <a:tailEnd/>
          </a:ln>
        </p:spPr>
        <p:txBody>
          <a:bodyPr wrap="none">
            <a:prstTxWarp prst="textNoShape">
              <a:avLst/>
            </a:prstTxWarp>
            <a:spAutoFit/>
          </a:bodyPr>
          <a:lstStyle/>
          <a:p>
            <a:r>
              <a:rPr lang="en-US" sz="1600" b="1"/>
              <a:t>0.2</a:t>
            </a:r>
          </a:p>
        </p:txBody>
      </p:sp>
      <p:sp>
        <p:nvSpPr>
          <p:cNvPr id="76812" name="Text Box 21"/>
          <p:cNvSpPr txBox="1">
            <a:spLocks noChangeArrowheads="1"/>
          </p:cNvSpPr>
          <p:nvPr/>
        </p:nvSpPr>
        <p:spPr bwMode="auto">
          <a:xfrm>
            <a:off x="5802313" y="4337050"/>
            <a:ext cx="447558" cy="338554"/>
          </a:xfrm>
          <a:prstGeom prst="rect">
            <a:avLst/>
          </a:prstGeom>
          <a:noFill/>
          <a:ln w="9525">
            <a:noFill/>
            <a:miter lim="800000"/>
            <a:headEnd/>
            <a:tailEnd/>
          </a:ln>
        </p:spPr>
        <p:txBody>
          <a:bodyPr wrap="none">
            <a:prstTxWarp prst="textNoShape">
              <a:avLst/>
            </a:prstTxWarp>
            <a:spAutoFit/>
          </a:bodyPr>
          <a:lstStyle/>
          <a:p>
            <a:r>
              <a:rPr lang="en-US" sz="1600" b="1"/>
              <a:t>0.4</a:t>
            </a:r>
          </a:p>
        </p:txBody>
      </p:sp>
      <p:sp>
        <p:nvSpPr>
          <p:cNvPr id="76813" name="Text Box 22"/>
          <p:cNvSpPr txBox="1">
            <a:spLocks noChangeArrowheads="1"/>
          </p:cNvSpPr>
          <p:nvPr/>
        </p:nvSpPr>
        <p:spPr bwMode="auto">
          <a:xfrm>
            <a:off x="6819900" y="4337050"/>
            <a:ext cx="447558" cy="338554"/>
          </a:xfrm>
          <a:prstGeom prst="rect">
            <a:avLst/>
          </a:prstGeom>
          <a:noFill/>
          <a:ln w="9525">
            <a:noFill/>
            <a:miter lim="800000"/>
            <a:headEnd/>
            <a:tailEnd/>
          </a:ln>
        </p:spPr>
        <p:txBody>
          <a:bodyPr wrap="none">
            <a:prstTxWarp prst="textNoShape">
              <a:avLst/>
            </a:prstTxWarp>
            <a:spAutoFit/>
          </a:bodyPr>
          <a:lstStyle/>
          <a:p>
            <a:r>
              <a:rPr lang="en-US" sz="1600" b="1"/>
              <a:t>0.6</a:t>
            </a:r>
          </a:p>
        </p:txBody>
      </p:sp>
      <p:sp>
        <p:nvSpPr>
          <p:cNvPr id="76814" name="Text Box 23"/>
          <p:cNvSpPr txBox="1">
            <a:spLocks noChangeArrowheads="1"/>
          </p:cNvSpPr>
          <p:nvPr/>
        </p:nvSpPr>
        <p:spPr bwMode="auto">
          <a:xfrm>
            <a:off x="7839075" y="4337050"/>
            <a:ext cx="447558" cy="338554"/>
          </a:xfrm>
          <a:prstGeom prst="rect">
            <a:avLst/>
          </a:prstGeom>
          <a:noFill/>
          <a:ln w="9525">
            <a:noFill/>
            <a:miter lim="800000"/>
            <a:headEnd/>
            <a:tailEnd/>
          </a:ln>
        </p:spPr>
        <p:txBody>
          <a:bodyPr wrap="none">
            <a:prstTxWarp prst="textNoShape">
              <a:avLst/>
            </a:prstTxWarp>
            <a:spAutoFit/>
          </a:bodyPr>
          <a:lstStyle/>
          <a:p>
            <a:r>
              <a:rPr lang="en-US" sz="1600" b="1"/>
              <a:t>0.8</a:t>
            </a:r>
          </a:p>
        </p:txBody>
      </p:sp>
      <p:sp>
        <p:nvSpPr>
          <p:cNvPr id="76815" name="Freeform 26"/>
          <p:cNvSpPr>
            <a:spLocks/>
          </p:cNvSpPr>
          <p:nvPr/>
        </p:nvSpPr>
        <p:spPr bwMode="auto">
          <a:xfrm>
            <a:off x="4038600" y="1676400"/>
            <a:ext cx="3962400" cy="2590800"/>
          </a:xfrm>
          <a:custGeom>
            <a:avLst/>
            <a:gdLst>
              <a:gd name="T0" fmla="*/ 0 w 2496"/>
              <a:gd name="T1" fmla="*/ 2590800 h 1632"/>
              <a:gd name="T2" fmla="*/ 838200 w 2496"/>
              <a:gd name="T3" fmla="*/ 1143000 h 1632"/>
              <a:gd name="T4" fmla="*/ 1752600 w 2496"/>
              <a:gd name="T5" fmla="*/ 304800 h 1632"/>
              <a:gd name="T6" fmla="*/ 3962400 w 2496"/>
              <a:gd name="T7" fmla="*/ 0 h 1632"/>
              <a:gd name="T8" fmla="*/ 0 60000 65536"/>
              <a:gd name="T9" fmla="*/ 0 60000 65536"/>
              <a:gd name="T10" fmla="*/ 0 60000 65536"/>
              <a:gd name="T11" fmla="*/ 0 60000 65536"/>
              <a:gd name="T12" fmla="*/ 0 w 2496"/>
              <a:gd name="T13" fmla="*/ 0 h 1632"/>
              <a:gd name="T14" fmla="*/ 2496 w 2496"/>
              <a:gd name="T15" fmla="*/ 1632 h 1632"/>
            </a:gdLst>
            <a:ahLst/>
            <a:cxnLst>
              <a:cxn ang="T8">
                <a:pos x="T0" y="T1"/>
              </a:cxn>
              <a:cxn ang="T9">
                <a:pos x="T2" y="T3"/>
              </a:cxn>
              <a:cxn ang="T10">
                <a:pos x="T4" y="T5"/>
              </a:cxn>
              <a:cxn ang="T11">
                <a:pos x="T6" y="T7"/>
              </a:cxn>
            </a:cxnLst>
            <a:rect l="T12" t="T13" r="T14" b="T15"/>
            <a:pathLst>
              <a:path w="2496" h="1632">
                <a:moveTo>
                  <a:pt x="0" y="1632"/>
                </a:moveTo>
                <a:cubicBezTo>
                  <a:pt x="172" y="1296"/>
                  <a:pt x="344" y="960"/>
                  <a:pt x="528" y="720"/>
                </a:cubicBezTo>
                <a:cubicBezTo>
                  <a:pt x="712" y="480"/>
                  <a:pt x="776" y="312"/>
                  <a:pt x="1104" y="192"/>
                </a:cubicBezTo>
                <a:cubicBezTo>
                  <a:pt x="1432" y="72"/>
                  <a:pt x="1964" y="36"/>
                  <a:pt x="2496" y="0"/>
                </a:cubicBezTo>
              </a:path>
            </a:pathLst>
          </a:custGeom>
          <a:noFill/>
          <a:ln w="25400">
            <a:solidFill>
              <a:srgbClr val="800000"/>
            </a:solidFill>
            <a:round/>
            <a:headEnd/>
            <a:tailEnd/>
          </a:ln>
        </p:spPr>
        <p:txBody>
          <a:bodyPr>
            <a:prstTxWarp prst="textNoShape">
              <a:avLst/>
            </a:prstTxWarp>
          </a:bodyPr>
          <a:lstStyle/>
          <a:p>
            <a:endParaRPr lang="en-US"/>
          </a:p>
        </p:txBody>
      </p:sp>
      <p:sp>
        <p:nvSpPr>
          <p:cNvPr id="76816" name="Rectangle 15"/>
          <p:cNvSpPr>
            <a:spLocks noChangeArrowheads="1"/>
          </p:cNvSpPr>
          <p:nvPr/>
        </p:nvSpPr>
        <p:spPr bwMode="auto">
          <a:xfrm>
            <a:off x="6629401" y="2438400"/>
            <a:ext cx="3523593" cy="369332"/>
          </a:xfrm>
          <a:prstGeom prst="rect">
            <a:avLst/>
          </a:prstGeom>
          <a:noFill/>
          <a:ln w="9525">
            <a:noFill/>
            <a:miter lim="800000"/>
            <a:headEnd/>
            <a:tailEnd/>
          </a:ln>
        </p:spPr>
        <p:txBody>
          <a:bodyPr wrap="none">
            <a:prstTxWarp prst="textNoShape">
              <a:avLst/>
            </a:prstTxWarp>
            <a:spAutoFit/>
          </a:bodyPr>
          <a:lstStyle/>
          <a:p>
            <a:r>
              <a:rPr lang="en-US">
                <a:solidFill>
                  <a:srgbClr val="800000"/>
                </a:solidFill>
              </a:rPr>
              <a:t>Historical hurricane frequency = 0.1</a:t>
            </a:r>
          </a:p>
        </p:txBody>
      </p:sp>
    </p:spTree>
    <p:extLst>
      <p:ext uri="{BB962C8B-B14F-4D97-AF65-F5344CB8AC3E}">
        <p14:creationId xmlns:p14="http://schemas.microsoft.com/office/powerpoint/2010/main" val="20142108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1981200" y="-152400"/>
            <a:ext cx="8229600" cy="1143000"/>
          </a:xfrm>
        </p:spPr>
        <p:txBody>
          <a:bodyPr/>
          <a:lstStyle/>
          <a:p>
            <a:pPr eaLnBrk="1" hangingPunct="1"/>
            <a:r>
              <a:rPr lang="en-US" b="1"/>
              <a:t>Fire</a:t>
            </a:r>
          </a:p>
        </p:txBody>
      </p:sp>
      <p:pic>
        <p:nvPicPr>
          <p:cNvPr id="78851" name="Picture 4"/>
          <p:cNvPicPr>
            <a:picLocks noChangeAspect="1" noChangeArrowheads="1"/>
          </p:cNvPicPr>
          <p:nvPr/>
        </p:nvPicPr>
        <p:blipFill>
          <a:blip r:embed="rId3"/>
          <a:srcRect/>
          <a:stretch>
            <a:fillRect/>
          </a:stretch>
        </p:blipFill>
        <p:spPr bwMode="auto">
          <a:xfrm>
            <a:off x="1066800" y="1393826"/>
            <a:ext cx="9829800" cy="5464175"/>
          </a:xfrm>
          <a:prstGeom prst="rect">
            <a:avLst/>
          </a:prstGeom>
          <a:noFill/>
          <a:ln w="9525">
            <a:noFill/>
            <a:miter lim="800000"/>
            <a:headEnd/>
            <a:tailEnd/>
          </a:ln>
        </p:spPr>
      </p:pic>
      <p:pic>
        <p:nvPicPr>
          <p:cNvPr id="78852" name="Picture 5"/>
          <p:cNvPicPr>
            <a:picLocks noChangeAspect="1" noChangeArrowheads="1"/>
          </p:cNvPicPr>
          <p:nvPr/>
        </p:nvPicPr>
        <p:blipFill>
          <a:blip r:embed="rId4"/>
          <a:srcRect/>
          <a:stretch>
            <a:fillRect/>
          </a:stretch>
        </p:blipFill>
        <p:spPr bwMode="auto">
          <a:xfrm>
            <a:off x="1600200" y="1"/>
            <a:ext cx="2438400" cy="2073275"/>
          </a:xfrm>
          <a:prstGeom prst="rect">
            <a:avLst/>
          </a:prstGeom>
          <a:noFill/>
          <a:ln w="9525">
            <a:noFill/>
            <a:miter lim="800000"/>
            <a:headEnd/>
            <a:tailEnd/>
          </a:ln>
        </p:spPr>
      </p:pic>
      <p:sp>
        <p:nvSpPr>
          <p:cNvPr id="78853" name="Text Box 6"/>
          <p:cNvSpPr txBox="1">
            <a:spLocks noChangeArrowheads="1"/>
          </p:cNvSpPr>
          <p:nvPr/>
        </p:nvSpPr>
        <p:spPr bwMode="auto">
          <a:xfrm>
            <a:off x="4419601" y="917576"/>
            <a:ext cx="4917757" cy="461665"/>
          </a:xfrm>
          <a:prstGeom prst="rect">
            <a:avLst/>
          </a:prstGeom>
          <a:noFill/>
          <a:ln w="9525">
            <a:noFill/>
            <a:miter lim="800000"/>
            <a:headEnd/>
            <a:tailEnd/>
          </a:ln>
        </p:spPr>
        <p:txBody>
          <a:bodyPr wrap="none">
            <a:prstTxWarp prst="textNoShape">
              <a:avLst/>
            </a:prstTxWarp>
            <a:spAutoFit/>
          </a:bodyPr>
          <a:lstStyle/>
          <a:p>
            <a:r>
              <a:rPr lang="en-US" sz="2400" b="1">
                <a:solidFill>
                  <a:srgbClr val="990000"/>
                </a:solidFill>
              </a:rPr>
              <a:t>Menges and Quintana-Ascencio 2004</a:t>
            </a:r>
          </a:p>
        </p:txBody>
      </p:sp>
    </p:spTree>
    <p:extLst>
      <p:ext uri="{BB962C8B-B14F-4D97-AF65-F5344CB8AC3E}">
        <p14:creationId xmlns:p14="http://schemas.microsoft.com/office/powerpoint/2010/main" val="17506590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Picture 4"/>
          <p:cNvPicPr>
            <a:picLocks noChangeAspect="1" noChangeArrowheads="1"/>
          </p:cNvPicPr>
          <p:nvPr/>
        </p:nvPicPr>
        <p:blipFill>
          <a:blip r:embed="rId3"/>
          <a:srcRect/>
          <a:stretch>
            <a:fillRect/>
          </a:stretch>
        </p:blipFill>
        <p:spPr bwMode="auto">
          <a:xfrm>
            <a:off x="1524000" y="514351"/>
            <a:ext cx="9067800" cy="6232525"/>
          </a:xfrm>
          <a:prstGeom prst="rect">
            <a:avLst/>
          </a:prstGeom>
          <a:noFill/>
          <a:ln w="9525">
            <a:noFill/>
            <a:miter lim="800000"/>
            <a:headEnd/>
            <a:tailEnd/>
          </a:ln>
        </p:spPr>
      </p:pic>
    </p:spTree>
    <p:extLst>
      <p:ext uri="{BB962C8B-B14F-4D97-AF65-F5344CB8AC3E}">
        <p14:creationId xmlns:p14="http://schemas.microsoft.com/office/powerpoint/2010/main" val="2532371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6" name="Picture 4"/>
          <p:cNvPicPr>
            <a:picLocks noChangeAspect="1" noChangeArrowheads="1"/>
          </p:cNvPicPr>
          <p:nvPr/>
        </p:nvPicPr>
        <p:blipFill>
          <a:blip r:embed="rId3"/>
          <a:srcRect/>
          <a:stretch>
            <a:fillRect/>
          </a:stretch>
        </p:blipFill>
        <p:spPr bwMode="auto">
          <a:xfrm>
            <a:off x="2514600" y="228601"/>
            <a:ext cx="6934200" cy="6480175"/>
          </a:xfrm>
          <a:prstGeom prst="rect">
            <a:avLst/>
          </a:prstGeom>
          <a:noFill/>
          <a:ln w="9525">
            <a:noFill/>
            <a:miter lim="800000"/>
            <a:headEnd/>
            <a:tailEnd/>
          </a:ln>
        </p:spPr>
      </p:pic>
    </p:spTree>
    <p:extLst>
      <p:ext uri="{BB962C8B-B14F-4D97-AF65-F5344CB8AC3E}">
        <p14:creationId xmlns:p14="http://schemas.microsoft.com/office/powerpoint/2010/main" val="9480507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1905000" y="-152400"/>
            <a:ext cx="8229600" cy="1143000"/>
          </a:xfrm>
        </p:spPr>
        <p:txBody>
          <a:bodyPr/>
          <a:lstStyle/>
          <a:p>
            <a:pPr eaLnBrk="1" hangingPunct="1"/>
            <a:r>
              <a:rPr lang="en-US" b="1" dirty="0">
                <a:latin typeface="Times New Roman"/>
                <a:cs typeface="Times New Roman"/>
              </a:rPr>
              <a:t>Polar Bears</a:t>
            </a:r>
          </a:p>
        </p:txBody>
      </p:sp>
      <p:pic>
        <p:nvPicPr>
          <p:cNvPr id="84995" name="Picture 6"/>
          <p:cNvPicPr>
            <a:picLocks noChangeAspect="1"/>
          </p:cNvPicPr>
          <p:nvPr/>
        </p:nvPicPr>
        <p:blipFill>
          <a:blip r:embed="rId3"/>
          <a:srcRect/>
          <a:stretch>
            <a:fillRect/>
          </a:stretch>
        </p:blipFill>
        <p:spPr bwMode="auto">
          <a:xfrm>
            <a:off x="1741488" y="838200"/>
            <a:ext cx="8621712" cy="5562600"/>
          </a:xfrm>
          <a:prstGeom prst="rect">
            <a:avLst/>
          </a:prstGeom>
          <a:noFill/>
          <a:ln w="9525">
            <a:noFill/>
            <a:miter lim="800000"/>
            <a:headEnd/>
            <a:tailEnd/>
          </a:ln>
        </p:spPr>
      </p:pic>
    </p:spTree>
    <p:extLst>
      <p:ext uri="{BB962C8B-B14F-4D97-AF65-F5344CB8AC3E}">
        <p14:creationId xmlns:p14="http://schemas.microsoft.com/office/powerpoint/2010/main" val="1811873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3346" y="74179"/>
            <a:ext cx="10515600" cy="1325563"/>
          </a:xfrm>
        </p:spPr>
        <p:txBody>
          <a:bodyPr/>
          <a:lstStyle/>
          <a:p>
            <a:r>
              <a:rPr lang="en-US" b="1" dirty="0">
                <a:latin typeface="Times New Roman"/>
                <a:cs typeface="Times New Roman"/>
              </a:rPr>
              <a:t>Christine Hunter et al. 2010 Ecology</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3603" y="1077479"/>
            <a:ext cx="7963923" cy="5538063"/>
          </a:xfrm>
        </p:spPr>
      </p:pic>
      <p:sp>
        <p:nvSpPr>
          <p:cNvPr id="3" name="TextBox 2">
            <a:extLst>
              <a:ext uri="{FF2B5EF4-FFF2-40B4-BE49-F238E27FC236}">
                <a16:creationId xmlns:a16="http://schemas.microsoft.com/office/drawing/2014/main" id="{05515B90-E4E0-0244-8BD2-CC1E36AA17A7}"/>
              </a:ext>
            </a:extLst>
          </p:cNvPr>
          <p:cNvSpPr txBox="1"/>
          <p:nvPr/>
        </p:nvSpPr>
        <p:spPr>
          <a:xfrm>
            <a:off x="8929106" y="3477178"/>
            <a:ext cx="2456891" cy="369332"/>
          </a:xfrm>
          <a:prstGeom prst="rect">
            <a:avLst/>
          </a:prstGeom>
          <a:noFill/>
        </p:spPr>
        <p:txBody>
          <a:bodyPr wrap="none" rtlCol="0">
            <a:spAutoFit/>
          </a:bodyPr>
          <a:lstStyle/>
          <a:p>
            <a:r>
              <a:rPr lang="en-US" dirty="0"/>
              <a:t>800 radio-collared bears</a:t>
            </a:r>
          </a:p>
        </p:txBody>
      </p:sp>
      <p:pic>
        <p:nvPicPr>
          <p:cNvPr id="6" name="Picture 5">
            <a:extLst>
              <a:ext uri="{FF2B5EF4-FFF2-40B4-BE49-F238E27FC236}">
                <a16:creationId xmlns:a16="http://schemas.microsoft.com/office/drawing/2014/main" id="{D833991A-55D5-DF40-B570-A4E5AEEB417B}"/>
              </a:ext>
            </a:extLst>
          </p:cNvPr>
          <p:cNvPicPr>
            <a:picLocks noChangeAspect="1"/>
          </p:cNvPicPr>
          <p:nvPr/>
        </p:nvPicPr>
        <p:blipFill>
          <a:blip r:embed="rId3"/>
          <a:stretch>
            <a:fillRect/>
          </a:stretch>
        </p:blipFill>
        <p:spPr>
          <a:xfrm>
            <a:off x="8827783" y="1579635"/>
            <a:ext cx="3304996" cy="1863219"/>
          </a:xfrm>
          <a:prstGeom prst="rect">
            <a:avLst/>
          </a:prstGeom>
        </p:spPr>
      </p:pic>
    </p:spTree>
    <p:extLst>
      <p:ext uri="{BB962C8B-B14F-4D97-AF65-F5344CB8AC3E}">
        <p14:creationId xmlns:p14="http://schemas.microsoft.com/office/powerpoint/2010/main" val="20030864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A64A7-33C6-634B-ABA3-C48C03320EAD}"/>
              </a:ext>
            </a:extLst>
          </p:cNvPr>
          <p:cNvSpPr>
            <a:spLocks noGrp="1"/>
          </p:cNvSpPr>
          <p:nvPr>
            <p:ph type="title"/>
          </p:nvPr>
        </p:nvSpPr>
        <p:spPr>
          <a:xfrm>
            <a:off x="356411" y="11675"/>
            <a:ext cx="10515600" cy="1325563"/>
          </a:xfrm>
        </p:spPr>
        <p:txBody>
          <a:bodyPr/>
          <a:lstStyle/>
          <a:p>
            <a:r>
              <a:rPr lang="en-US" b="1" dirty="0"/>
              <a:t>Polar bears depend on sea ice</a:t>
            </a:r>
          </a:p>
        </p:txBody>
      </p:sp>
      <p:pic>
        <p:nvPicPr>
          <p:cNvPr id="4" name="Picture 3">
            <a:extLst>
              <a:ext uri="{FF2B5EF4-FFF2-40B4-BE49-F238E27FC236}">
                <a16:creationId xmlns:a16="http://schemas.microsoft.com/office/drawing/2014/main" id="{E79B8E5E-E617-3148-8A68-0EDA17AAFE91}"/>
              </a:ext>
            </a:extLst>
          </p:cNvPr>
          <p:cNvPicPr>
            <a:picLocks noChangeAspect="1"/>
          </p:cNvPicPr>
          <p:nvPr/>
        </p:nvPicPr>
        <p:blipFill>
          <a:blip r:embed="rId3"/>
          <a:stretch>
            <a:fillRect/>
          </a:stretch>
        </p:blipFill>
        <p:spPr>
          <a:xfrm>
            <a:off x="1559128" y="1250402"/>
            <a:ext cx="8110166" cy="5401370"/>
          </a:xfrm>
          <a:prstGeom prst="rect">
            <a:avLst/>
          </a:prstGeom>
        </p:spPr>
      </p:pic>
    </p:spTree>
    <p:extLst>
      <p:ext uri="{BB962C8B-B14F-4D97-AF65-F5344CB8AC3E}">
        <p14:creationId xmlns:p14="http://schemas.microsoft.com/office/powerpoint/2010/main" val="10675633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3671"/>
            <a:ext cx="10515600" cy="1325563"/>
          </a:xfrm>
        </p:spPr>
        <p:txBody>
          <a:bodyPr/>
          <a:lstStyle/>
          <a:p>
            <a:r>
              <a:rPr lang="en-US" b="1" dirty="0">
                <a:latin typeface="Times New Roman"/>
                <a:cs typeface="Times New Roman"/>
              </a:rPr>
              <a:t>Polar bear demography- normal ice year </a:t>
            </a:r>
          </a:p>
        </p:txBody>
      </p:sp>
      <p:sp>
        <p:nvSpPr>
          <p:cNvPr id="6" name="Oval 47">
            <a:extLst>
              <a:ext uri="{FF2B5EF4-FFF2-40B4-BE49-F238E27FC236}">
                <a16:creationId xmlns:a16="http://schemas.microsoft.com/office/drawing/2014/main" id="{3CEB3CA7-F151-CA4E-A8FD-040D22899659}"/>
              </a:ext>
            </a:extLst>
          </p:cNvPr>
          <p:cNvSpPr>
            <a:spLocks noChangeArrowheads="1"/>
          </p:cNvSpPr>
          <p:nvPr/>
        </p:nvSpPr>
        <p:spPr bwMode="auto">
          <a:xfrm>
            <a:off x="2219325" y="2300288"/>
            <a:ext cx="990600" cy="914400"/>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7" name="Oval 48">
            <a:extLst>
              <a:ext uri="{FF2B5EF4-FFF2-40B4-BE49-F238E27FC236}">
                <a16:creationId xmlns:a16="http://schemas.microsoft.com/office/drawing/2014/main" id="{27E70BDE-86E1-5D40-9F54-77A818BAA53C}"/>
              </a:ext>
            </a:extLst>
          </p:cNvPr>
          <p:cNvSpPr>
            <a:spLocks noChangeArrowheads="1"/>
          </p:cNvSpPr>
          <p:nvPr/>
        </p:nvSpPr>
        <p:spPr bwMode="auto">
          <a:xfrm>
            <a:off x="3857625" y="2300288"/>
            <a:ext cx="990600" cy="914400"/>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8" name="Oval 49">
            <a:extLst>
              <a:ext uri="{FF2B5EF4-FFF2-40B4-BE49-F238E27FC236}">
                <a16:creationId xmlns:a16="http://schemas.microsoft.com/office/drawing/2014/main" id="{4775B4F6-2B67-9941-BDEC-916AD25C0459}"/>
              </a:ext>
            </a:extLst>
          </p:cNvPr>
          <p:cNvSpPr>
            <a:spLocks noChangeArrowheads="1"/>
          </p:cNvSpPr>
          <p:nvPr/>
        </p:nvSpPr>
        <p:spPr bwMode="auto">
          <a:xfrm>
            <a:off x="5495925" y="2300288"/>
            <a:ext cx="990600" cy="914400"/>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9" name="Oval 50">
            <a:extLst>
              <a:ext uri="{FF2B5EF4-FFF2-40B4-BE49-F238E27FC236}">
                <a16:creationId xmlns:a16="http://schemas.microsoft.com/office/drawing/2014/main" id="{E1B11F9B-3AAC-A243-B822-50B8D474E61D}"/>
              </a:ext>
            </a:extLst>
          </p:cNvPr>
          <p:cNvSpPr>
            <a:spLocks noChangeArrowheads="1"/>
          </p:cNvSpPr>
          <p:nvPr/>
        </p:nvSpPr>
        <p:spPr bwMode="auto">
          <a:xfrm>
            <a:off x="7134225" y="2300288"/>
            <a:ext cx="990600" cy="914400"/>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10" name="Text Box 52">
            <a:extLst>
              <a:ext uri="{FF2B5EF4-FFF2-40B4-BE49-F238E27FC236}">
                <a16:creationId xmlns:a16="http://schemas.microsoft.com/office/drawing/2014/main" id="{C8AFACE4-64E3-634B-BB35-B2D9DF9C0F10}"/>
              </a:ext>
            </a:extLst>
          </p:cNvPr>
          <p:cNvSpPr txBox="1">
            <a:spLocks noChangeArrowheads="1"/>
          </p:cNvSpPr>
          <p:nvPr/>
        </p:nvSpPr>
        <p:spPr bwMode="auto">
          <a:xfrm>
            <a:off x="2186196" y="2409620"/>
            <a:ext cx="100700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600" dirty="0"/>
              <a:t>Juvenile</a:t>
            </a:r>
          </a:p>
          <a:p>
            <a:pPr algn="ctr" eaLnBrk="1" hangingPunct="1"/>
            <a:r>
              <a:rPr lang="en-US" altLang="en-US" sz="1600" dirty="0"/>
              <a:t>(2-years)</a:t>
            </a:r>
          </a:p>
        </p:txBody>
      </p:sp>
      <p:sp>
        <p:nvSpPr>
          <p:cNvPr id="11" name="Text Box 53">
            <a:extLst>
              <a:ext uri="{FF2B5EF4-FFF2-40B4-BE49-F238E27FC236}">
                <a16:creationId xmlns:a16="http://schemas.microsoft.com/office/drawing/2014/main" id="{52BD12ED-B440-6041-965A-D10AC4054957}"/>
              </a:ext>
            </a:extLst>
          </p:cNvPr>
          <p:cNvSpPr txBox="1">
            <a:spLocks noChangeArrowheads="1"/>
          </p:cNvSpPr>
          <p:nvPr/>
        </p:nvSpPr>
        <p:spPr bwMode="auto">
          <a:xfrm>
            <a:off x="3873039" y="2457956"/>
            <a:ext cx="99578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600" dirty="0"/>
              <a:t>Juvenile</a:t>
            </a:r>
          </a:p>
          <a:p>
            <a:pPr eaLnBrk="1" hangingPunct="1"/>
            <a:r>
              <a:rPr lang="en-US" altLang="en-US" sz="1600" dirty="0"/>
              <a:t>(3 years)</a:t>
            </a:r>
          </a:p>
        </p:txBody>
      </p:sp>
      <p:sp>
        <p:nvSpPr>
          <p:cNvPr id="12" name="Text Box 55">
            <a:extLst>
              <a:ext uri="{FF2B5EF4-FFF2-40B4-BE49-F238E27FC236}">
                <a16:creationId xmlns:a16="http://schemas.microsoft.com/office/drawing/2014/main" id="{10583A0B-1473-4647-B1B5-73AF17328578}"/>
              </a:ext>
            </a:extLst>
          </p:cNvPr>
          <p:cNvSpPr txBox="1">
            <a:spLocks noChangeArrowheads="1"/>
          </p:cNvSpPr>
          <p:nvPr/>
        </p:nvSpPr>
        <p:spPr bwMode="auto">
          <a:xfrm>
            <a:off x="7238554" y="2557433"/>
            <a:ext cx="7697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2000" dirty="0"/>
              <a:t>Adult</a:t>
            </a:r>
          </a:p>
        </p:txBody>
      </p:sp>
      <p:sp>
        <p:nvSpPr>
          <p:cNvPr id="13" name="Line 57">
            <a:extLst>
              <a:ext uri="{FF2B5EF4-FFF2-40B4-BE49-F238E27FC236}">
                <a16:creationId xmlns:a16="http://schemas.microsoft.com/office/drawing/2014/main" id="{ED596729-3C61-DF44-BF34-B46EBB00432E}"/>
              </a:ext>
            </a:extLst>
          </p:cNvPr>
          <p:cNvSpPr>
            <a:spLocks noChangeShapeType="1"/>
          </p:cNvSpPr>
          <p:nvPr/>
        </p:nvSpPr>
        <p:spPr bwMode="auto">
          <a:xfrm>
            <a:off x="3209925" y="2757488"/>
            <a:ext cx="685800" cy="0"/>
          </a:xfrm>
          <a:prstGeom prst="line">
            <a:avLst/>
          </a:prstGeom>
          <a:noFill/>
          <a:ln w="1905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4" name="Line 58">
            <a:extLst>
              <a:ext uri="{FF2B5EF4-FFF2-40B4-BE49-F238E27FC236}">
                <a16:creationId xmlns:a16="http://schemas.microsoft.com/office/drawing/2014/main" id="{05B0B005-159D-9C43-B05C-6F6A29D53A24}"/>
              </a:ext>
            </a:extLst>
          </p:cNvPr>
          <p:cNvSpPr>
            <a:spLocks noChangeShapeType="1"/>
          </p:cNvSpPr>
          <p:nvPr/>
        </p:nvSpPr>
        <p:spPr bwMode="auto">
          <a:xfrm>
            <a:off x="4835525" y="2757488"/>
            <a:ext cx="685800" cy="0"/>
          </a:xfrm>
          <a:prstGeom prst="line">
            <a:avLst/>
          </a:prstGeom>
          <a:noFill/>
          <a:ln w="1905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5" name="Line 59">
            <a:extLst>
              <a:ext uri="{FF2B5EF4-FFF2-40B4-BE49-F238E27FC236}">
                <a16:creationId xmlns:a16="http://schemas.microsoft.com/office/drawing/2014/main" id="{F732ABDB-94FC-3344-9CB2-6FBA599F53B3}"/>
              </a:ext>
            </a:extLst>
          </p:cNvPr>
          <p:cNvSpPr>
            <a:spLocks noChangeShapeType="1"/>
          </p:cNvSpPr>
          <p:nvPr/>
        </p:nvSpPr>
        <p:spPr bwMode="auto">
          <a:xfrm>
            <a:off x="6486525" y="2757488"/>
            <a:ext cx="685800" cy="0"/>
          </a:xfrm>
          <a:prstGeom prst="line">
            <a:avLst/>
          </a:prstGeom>
          <a:noFill/>
          <a:ln w="1905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6" name="Text Box 61">
            <a:extLst>
              <a:ext uri="{FF2B5EF4-FFF2-40B4-BE49-F238E27FC236}">
                <a16:creationId xmlns:a16="http://schemas.microsoft.com/office/drawing/2014/main" id="{B30673FF-82A5-654A-8D99-298C22D2A89F}"/>
              </a:ext>
            </a:extLst>
          </p:cNvPr>
          <p:cNvSpPr txBox="1">
            <a:spLocks noChangeArrowheads="1"/>
          </p:cNvSpPr>
          <p:nvPr/>
        </p:nvSpPr>
        <p:spPr bwMode="auto">
          <a:xfrm>
            <a:off x="3167546" y="2336800"/>
            <a:ext cx="7617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800" dirty="0"/>
              <a:t>0.986</a:t>
            </a:r>
          </a:p>
        </p:txBody>
      </p:sp>
      <p:cxnSp>
        <p:nvCxnSpPr>
          <p:cNvPr id="17" name="AutoShape 67">
            <a:extLst>
              <a:ext uri="{FF2B5EF4-FFF2-40B4-BE49-F238E27FC236}">
                <a16:creationId xmlns:a16="http://schemas.microsoft.com/office/drawing/2014/main" id="{3DA134D6-735D-314C-A060-B16793C8961B}"/>
              </a:ext>
            </a:extLst>
          </p:cNvPr>
          <p:cNvCxnSpPr>
            <a:cxnSpLocks noChangeShapeType="1"/>
          </p:cNvCxnSpPr>
          <p:nvPr/>
        </p:nvCxnSpPr>
        <p:spPr bwMode="auto">
          <a:xfrm rot="5400000" flipV="1">
            <a:off x="7598569" y="2101056"/>
            <a:ext cx="1588" cy="701675"/>
          </a:xfrm>
          <a:prstGeom prst="curvedConnector3">
            <a:avLst>
              <a:gd name="adj1" fmla="val -22200000"/>
            </a:avLst>
          </a:prstGeom>
          <a:noFill/>
          <a:ln w="19050">
            <a:solidFill>
              <a:schemeClr val="tx1"/>
            </a:solidFill>
            <a:round/>
            <a:headEnd/>
            <a:tailEnd type="triangle" w="lg" len="med"/>
          </a:ln>
          <a:extLst>
            <a:ext uri="{909E8E84-426E-40DD-AFC4-6F175D3DCCD1}">
              <a14:hiddenFill xmlns:a14="http://schemas.microsoft.com/office/drawing/2010/main">
                <a:noFill/>
              </a14:hiddenFill>
            </a:ext>
          </a:extLst>
        </p:spPr>
      </p:cxnSp>
      <p:sp>
        <p:nvSpPr>
          <p:cNvPr id="18" name="Text Box 71">
            <a:extLst>
              <a:ext uri="{FF2B5EF4-FFF2-40B4-BE49-F238E27FC236}">
                <a16:creationId xmlns:a16="http://schemas.microsoft.com/office/drawing/2014/main" id="{6DCF86FA-42B2-3E40-A1B8-2FEF5206D928}"/>
              </a:ext>
            </a:extLst>
          </p:cNvPr>
          <p:cNvSpPr txBox="1">
            <a:spLocks noChangeArrowheads="1"/>
          </p:cNvSpPr>
          <p:nvPr/>
        </p:nvSpPr>
        <p:spPr bwMode="auto">
          <a:xfrm>
            <a:off x="7305675" y="1690688"/>
            <a:ext cx="7617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dirty="0"/>
              <a:t>0.506</a:t>
            </a:r>
          </a:p>
        </p:txBody>
      </p:sp>
      <p:cxnSp>
        <p:nvCxnSpPr>
          <p:cNvPr id="19" name="AutoShape 73">
            <a:extLst>
              <a:ext uri="{FF2B5EF4-FFF2-40B4-BE49-F238E27FC236}">
                <a16:creationId xmlns:a16="http://schemas.microsoft.com/office/drawing/2014/main" id="{ACB09AEB-F752-C149-9CB9-344570B4344E}"/>
              </a:ext>
            </a:extLst>
          </p:cNvPr>
          <p:cNvCxnSpPr>
            <a:cxnSpLocks noChangeShapeType="1"/>
            <a:stCxn id="23" idx="3"/>
            <a:endCxn id="9" idx="6"/>
          </p:cNvCxnSpPr>
          <p:nvPr/>
        </p:nvCxnSpPr>
        <p:spPr bwMode="auto">
          <a:xfrm flipH="1" flipV="1">
            <a:off x="8124825" y="2757488"/>
            <a:ext cx="21537" cy="2106901"/>
          </a:xfrm>
          <a:prstGeom prst="curvedConnector3">
            <a:avLst>
              <a:gd name="adj1" fmla="val -2722798"/>
            </a:avLst>
          </a:prstGeom>
          <a:noFill/>
          <a:ln w="19050">
            <a:solidFill>
              <a:schemeClr val="tx1"/>
            </a:solidFill>
            <a:round/>
            <a:headEnd/>
            <a:tailEnd type="triangle" w="lg" len="med"/>
          </a:ln>
          <a:extLst>
            <a:ext uri="{909E8E84-426E-40DD-AFC4-6F175D3DCCD1}">
              <a14:hiddenFill xmlns:a14="http://schemas.microsoft.com/office/drawing/2010/main">
                <a:noFill/>
              </a14:hiddenFill>
            </a:ext>
          </a:extLst>
        </p:spPr>
      </p:cxnSp>
      <p:sp>
        <p:nvSpPr>
          <p:cNvPr id="20" name="Oval 49">
            <a:extLst>
              <a:ext uri="{FF2B5EF4-FFF2-40B4-BE49-F238E27FC236}">
                <a16:creationId xmlns:a16="http://schemas.microsoft.com/office/drawing/2014/main" id="{81E6E909-1DE5-344E-98DD-FE5F07853008}"/>
              </a:ext>
            </a:extLst>
          </p:cNvPr>
          <p:cNvSpPr>
            <a:spLocks noChangeArrowheads="1"/>
          </p:cNvSpPr>
          <p:nvPr/>
        </p:nvSpPr>
        <p:spPr bwMode="auto">
          <a:xfrm>
            <a:off x="5495925" y="4433889"/>
            <a:ext cx="990600" cy="914400"/>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1" name="Oval 50">
            <a:extLst>
              <a:ext uri="{FF2B5EF4-FFF2-40B4-BE49-F238E27FC236}">
                <a16:creationId xmlns:a16="http://schemas.microsoft.com/office/drawing/2014/main" id="{98532D1C-FCED-EB4B-BA6A-1600E9DE1734}"/>
              </a:ext>
            </a:extLst>
          </p:cNvPr>
          <p:cNvSpPr>
            <a:spLocks noChangeArrowheads="1"/>
          </p:cNvSpPr>
          <p:nvPr/>
        </p:nvSpPr>
        <p:spPr bwMode="auto">
          <a:xfrm>
            <a:off x="7134225" y="4433889"/>
            <a:ext cx="990600" cy="914400"/>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2" name="Text Box 54">
            <a:extLst>
              <a:ext uri="{FF2B5EF4-FFF2-40B4-BE49-F238E27FC236}">
                <a16:creationId xmlns:a16="http://schemas.microsoft.com/office/drawing/2014/main" id="{ADBB0C82-452C-9A45-9BE8-89D3A1EC03F2}"/>
              </a:ext>
            </a:extLst>
          </p:cNvPr>
          <p:cNvSpPr txBox="1">
            <a:spLocks noChangeArrowheads="1"/>
          </p:cNvSpPr>
          <p:nvPr/>
        </p:nvSpPr>
        <p:spPr bwMode="auto">
          <a:xfrm>
            <a:off x="5527676" y="4634329"/>
            <a:ext cx="100737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400" dirty="0"/>
              <a:t>Adult with yearling</a:t>
            </a:r>
          </a:p>
        </p:txBody>
      </p:sp>
      <p:sp>
        <p:nvSpPr>
          <p:cNvPr id="23" name="Text Box 55">
            <a:extLst>
              <a:ext uri="{FF2B5EF4-FFF2-40B4-BE49-F238E27FC236}">
                <a16:creationId xmlns:a16="http://schemas.microsoft.com/office/drawing/2014/main" id="{AA878B4B-BCF3-4F40-B1C9-4E2F8E731FC5}"/>
              </a:ext>
            </a:extLst>
          </p:cNvPr>
          <p:cNvSpPr txBox="1">
            <a:spLocks noChangeArrowheads="1"/>
          </p:cNvSpPr>
          <p:nvPr/>
        </p:nvSpPr>
        <p:spPr bwMode="auto">
          <a:xfrm>
            <a:off x="7182750" y="4572001"/>
            <a:ext cx="9636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600" dirty="0"/>
              <a:t>Adult with cub</a:t>
            </a:r>
          </a:p>
        </p:txBody>
      </p:sp>
      <p:sp>
        <p:nvSpPr>
          <p:cNvPr id="24" name="Line 59">
            <a:extLst>
              <a:ext uri="{FF2B5EF4-FFF2-40B4-BE49-F238E27FC236}">
                <a16:creationId xmlns:a16="http://schemas.microsoft.com/office/drawing/2014/main" id="{22B20965-F831-E946-B3D5-C4045EB88698}"/>
              </a:ext>
            </a:extLst>
          </p:cNvPr>
          <p:cNvSpPr>
            <a:spLocks noChangeShapeType="1"/>
          </p:cNvSpPr>
          <p:nvPr/>
        </p:nvSpPr>
        <p:spPr bwMode="auto">
          <a:xfrm flipH="1">
            <a:off x="6486525" y="4891089"/>
            <a:ext cx="685800" cy="0"/>
          </a:xfrm>
          <a:prstGeom prst="line">
            <a:avLst/>
          </a:prstGeom>
          <a:noFill/>
          <a:ln w="1905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25" name="Text Box 63">
            <a:extLst>
              <a:ext uri="{FF2B5EF4-FFF2-40B4-BE49-F238E27FC236}">
                <a16:creationId xmlns:a16="http://schemas.microsoft.com/office/drawing/2014/main" id="{B7AA68BC-A448-D24B-8489-FBE12F6A59FF}"/>
              </a:ext>
            </a:extLst>
          </p:cNvPr>
          <p:cNvSpPr txBox="1">
            <a:spLocks noChangeArrowheads="1"/>
          </p:cNvSpPr>
          <p:nvPr/>
        </p:nvSpPr>
        <p:spPr bwMode="auto">
          <a:xfrm>
            <a:off x="6467475" y="4473576"/>
            <a:ext cx="7617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dirty="0"/>
              <a:t>0.543</a:t>
            </a:r>
          </a:p>
        </p:txBody>
      </p:sp>
      <p:cxnSp>
        <p:nvCxnSpPr>
          <p:cNvPr id="26" name="AutoShape 67">
            <a:extLst>
              <a:ext uri="{FF2B5EF4-FFF2-40B4-BE49-F238E27FC236}">
                <a16:creationId xmlns:a16="http://schemas.microsoft.com/office/drawing/2014/main" id="{8F0484C0-F81E-F448-ADEC-5FB28850D41C}"/>
              </a:ext>
            </a:extLst>
          </p:cNvPr>
          <p:cNvCxnSpPr>
            <a:cxnSpLocks noChangeShapeType="1"/>
          </p:cNvCxnSpPr>
          <p:nvPr/>
        </p:nvCxnSpPr>
        <p:spPr bwMode="auto">
          <a:xfrm rot="16200000">
            <a:off x="7611821" y="4857510"/>
            <a:ext cx="1588" cy="701675"/>
          </a:xfrm>
          <a:prstGeom prst="curvedConnector3">
            <a:avLst>
              <a:gd name="adj1" fmla="val -22200000"/>
            </a:avLst>
          </a:prstGeom>
          <a:noFill/>
          <a:ln w="19050">
            <a:solidFill>
              <a:schemeClr val="tx1"/>
            </a:solidFill>
            <a:round/>
            <a:headEnd/>
            <a:tailEnd type="triangle" w="lg" len="med"/>
          </a:ln>
          <a:extLst>
            <a:ext uri="{909E8E84-426E-40DD-AFC4-6F175D3DCCD1}">
              <a14:hiddenFill xmlns:a14="http://schemas.microsoft.com/office/drawing/2010/main">
                <a:noFill/>
              </a14:hiddenFill>
            </a:ext>
          </a:extLst>
        </p:spPr>
      </p:cxnSp>
      <p:sp>
        <p:nvSpPr>
          <p:cNvPr id="27" name="Text Box 53">
            <a:extLst>
              <a:ext uri="{FF2B5EF4-FFF2-40B4-BE49-F238E27FC236}">
                <a16:creationId xmlns:a16="http://schemas.microsoft.com/office/drawing/2014/main" id="{9FFA2A5B-4D38-CD4F-AC67-D2F244D47A01}"/>
              </a:ext>
            </a:extLst>
          </p:cNvPr>
          <p:cNvSpPr txBox="1">
            <a:spLocks noChangeArrowheads="1"/>
          </p:cNvSpPr>
          <p:nvPr/>
        </p:nvSpPr>
        <p:spPr bwMode="auto">
          <a:xfrm>
            <a:off x="5496430" y="2438400"/>
            <a:ext cx="99578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600" dirty="0"/>
              <a:t>Juvenile</a:t>
            </a:r>
          </a:p>
          <a:p>
            <a:pPr eaLnBrk="1" hangingPunct="1"/>
            <a:r>
              <a:rPr lang="en-US" altLang="en-US" sz="1600" dirty="0"/>
              <a:t>(4 years)</a:t>
            </a:r>
          </a:p>
        </p:txBody>
      </p:sp>
      <p:sp>
        <p:nvSpPr>
          <p:cNvPr id="28" name="Line 59">
            <a:extLst>
              <a:ext uri="{FF2B5EF4-FFF2-40B4-BE49-F238E27FC236}">
                <a16:creationId xmlns:a16="http://schemas.microsoft.com/office/drawing/2014/main" id="{9F7219E5-DF6D-1840-8CB5-914750B5BB71}"/>
              </a:ext>
            </a:extLst>
          </p:cNvPr>
          <p:cNvSpPr>
            <a:spLocks noChangeShapeType="1"/>
          </p:cNvSpPr>
          <p:nvPr/>
        </p:nvSpPr>
        <p:spPr bwMode="auto">
          <a:xfrm rot="5400000">
            <a:off x="7100025" y="3841924"/>
            <a:ext cx="1123744" cy="5108"/>
          </a:xfrm>
          <a:prstGeom prst="line">
            <a:avLst/>
          </a:prstGeom>
          <a:noFill/>
          <a:ln w="1905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dirty="0"/>
          </a:p>
        </p:txBody>
      </p:sp>
      <p:sp>
        <p:nvSpPr>
          <p:cNvPr id="29" name="Line 59">
            <a:extLst>
              <a:ext uri="{FF2B5EF4-FFF2-40B4-BE49-F238E27FC236}">
                <a16:creationId xmlns:a16="http://schemas.microsoft.com/office/drawing/2014/main" id="{56882A44-5367-6F4C-ADD1-9DDFDE8D5A7C}"/>
              </a:ext>
            </a:extLst>
          </p:cNvPr>
          <p:cNvSpPr>
            <a:spLocks noChangeShapeType="1"/>
          </p:cNvSpPr>
          <p:nvPr/>
        </p:nvSpPr>
        <p:spPr bwMode="auto">
          <a:xfrm rot="5400000" flipH="1" flipV="1">
            <a:off x="5980887" y="3125460"/>
            <a:ext cx="1288054" cy="1273726"/>
          </a:xfrm>
          <a:prstGeom prst="line">
            <a:avLst/>
          </a:prstGeom>
          <a:noFill/>
          <a:ln w="1905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dirty="0"/>
          </a:p>
        </p:txBody>
      </p:sp>
      <p:sp>
        <p:nvSpPr>
          <p:cNvPr id="30" name="Text Box 61">
            <a:extLst>
              <a:ext uri="{FF2B5EF4-FFF2-40B4-BE49-F238E27FC236}">
                <a16:creationId xmlns:a16="http://schemas.microsoft.com/office/drawing/2014/main" id="{421F45C9-097B-5248-B005-06627F847F26}"/>
              </a:ext>
            </a:extLst>
          </p:cNvPr>
          <p:cNvSpPr txBox="1">
            <a:spLocks noChangeArrowheads="1"/>
          </p:cNvSpPr>
          <p:nvPr/>
        </p:nvSpPr>
        <p:spPr bwMode="auto">
          <a:xfrm>
            <a:off x="4835525" y="2328191"/>
            <a:ext cx="7617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800" dirty="0"/>
              <a:t>0.986</a:t>
            </a:r>
          </a:p>
        </p:txBody>
      </p:sp>
      <p:sp>
        <p:nvSpPr>
          <p:cNvPr id="31" name="Text Box 61">
            <a:extLst>
              <a:ext uri="{FF2B5EF4-FFF2-40B4-BE49-F238E27FC236}">
                <a16:creationId xmlns:a16="http://schemas.microsoft.com/office/drawing/2014/main" id="{26B210FF-08F0-554F-B19B-B9C2156B753C}"/>
              </a:ext>
            </a:extLst>
          </p:cNvPr>
          <p:cNvSpPr txBox="1">
            <a:spLocks noChangeArrowheads="1"/>
          </p:cNvSpPr>
          <p:nvPr/>
        </p:nvSpPr>
        <p:spPr bwMode="auto">
          <a:xfrm>
            <a:off x="6429628" y="2320647"/>
            <a:ext cx="7617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800" dirty="0"/>
              <a:t>0.986</a:t>
            </a:r>
          </a:p>
        </p:txBody>
      </p:sp>
      <p:sp>
        <p:nvSpPr>
          <p:cNvPr id="32" name="Text Box 71">
            <a:extLst>
              <a:ext uri="{FF2B5EF4-FFF2-40B4-BE49-F238E27FC236}">
                <a16:creationId xmlns:a16="http://schemas.microsoft.com/office/drawing/2014/main" id="{68A10BB7-B2BC-284B-9BEE-8C1A9BBA0835}"/>
              </a:ext>
            </a:extLst>
          </p:cNvPr>
          <p:cNvSpPr txBox="1">
            <a:spLocks noChangeArrowheads="1"/>
          </p:cNvSpPr>
          <p:nvPr/>
        </p:nvSpPr>
        <p:spPr bwMode="auto">
          <a:xfrm>
            <a:off x="7659343" y="3689867"/>
            <a:ext cx="7617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dirty="0"/>
              <a:t>0.486</a:t>
            </a:r>
          </a:p>
        </p:txBody>
      </p:sp>
      <p:sp>
        <p:nvSpPr>
          <p:cNvPr id="33" name="Text Box 71">
            <a:extLst>
              <a:ext uri="{FF2B5EF4-FFF2-40B4-BE49-F238E27FC236}">
                <a16:creationId xmlns:a16="http://schemas.microsoft.com/office/drawing/2014/main" id="{02AB72E8-A940-7A4E-A417-9294EEFA5118}"/>
              </a:ext>
            </a:extLst>
          </p:cNvPr>
          <p:cNvSpPr txBox="1">
            <a:spLocks noChangeArrowheads="1"/>
          </p:cNvSpPr>
          <p:nvPr/>
        </p:nvSpPr>
        <p:spPr bwMode="auto">
          <a:xfrm>
            <a:off x="8715622" y="3214688"/>
            <a:ext cx="7617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dirty="0"/>
              <a:t>0.379</a:t>
            </a:r>
          </a:p>
        </p:txBody>
      </p:sp>
      <p:sp>
        <p:nvSpPr>
          <p:cNvPr id="34" name="Text Box 71">
            <a:extLst>
              <a:ext uri="{FF2B5EF4-FFF2-40B4-BE49-F238E27FC236}">
                <a16:creationId xmlns:a16="http://schemas.microsoft.com/office/drawing/2014/main" id="{06EA64AA-3E5E-EF4D-8D04-313F74F83D19}"/>
              </a:ext>
            </a:extLst>
          </p:cNvPr>
          <p:cNvSpPr txBox="1">
            <a:spLocks noChangeArrowheads="1"/>
          </p:cNvSpPr>
          <p:nvPr/>
        </p:nvSpPr>
        <p:spPr bwMode="auto">
          <a:xfrm>
            <a:off x="7305675" y="5638897"/>
            <a:ext cx="7617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dirty="0"/>
              <a:t>0.068</a:t>
            </a:r>
          </a:p>
        </p:txBody>
      </p:sp>
      <p:sp>
        <p:nvSpPr>
          <p:cNvPr id="35" name="Text Box 71">
            <a:extLst>
              <a:ext uri="{FF2B5EF4-FFF2-40B4-BE49-F238E27FC236}">
                <a16:creationId xmlns:a16="http://schemas.microsoft.com/office/drawing/2014/main" id="{90591981-2212-BF4C-A09E-427CEA85D620}"/>
              </a:ext>
            </a:extLst>
          </p:cNvPr>
          <p:cNvSpPr txBox="1">
            <a:spLocks noChangeArrowheads="1"/>
          </p:cNvSpPr>
          <p:nvPr/>
        </p:nvSpPr>
        <p:spPr bwMode="auto">
          <a:xfrm>
            <a:off x="5539641" y="3689867"/>
            <a:ext cx="7617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dirty="0"/>
              <a:t>0.992</a:t>
            </a:r>
          </a:p>
        </p:txBody>
      </p:sp>
      <p:sp>
        <p:nvSpPr>
          <p:cNvPr id="36" name="Line 59">
            <a:extLst>
              <a:ext uri="{FF2B5EF4-FFF2-40B4-BE49-F238E27FC236}">
                <a16:creationId xmlns:a16="http://schemas.microsoft.com/office/drawing/2014/main" id="{EF45E6BD-9031-7B4A-96CF-E18360DE16E9}"/>
              </a:ext>
            </a:extLst>
          </p:cNvPr>
          <p:cNvSpPr>
            <a:spLocks noChangeShapeType="1"/>
          </p:cNvSpPr>
          <p:nvPr/>
        </p:nvSpPr>
        <p:spPr bwMode="auto">
          <a:xfrm rot="5400000" flipH="1">
            <a:off x="3489403" y="2682154"/>
            <a:ext cx="1528908" cy="2571568"/>
          </a:xfrm>
          <a:prstGeom prst="line">
            <a:avLst/>
          </a:prstGeom>
          <a:noFill/>
          <a:ln w="1905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dirty="0"/>
          </a:p>
        </p:txBody>
      </p:sp>
      <p:sp>
        <p:nvSpPr>
          <p:cNvPr id="37" name="Text Box 71">
            <a:extLst>
              <a:ext uri="{FF2B5EF4-FFF2-40B4-BE49-F238E27FC236}">
                <a16:creationId xmlns:a16="http://schemas.microsoft.com/office/drawing/2014/main" id="{897E6B31-98AF-9A4E-A21B-3D65C3076BE5}"/>
              </a:ext>
            </a:extLst>
          </p:cNvPr>
          <p:cNvSpPr txBox="1">
            <a:spLocks noChangeArrowheads="1"/>
          </p:cNvSpPr>
          <p:nvPr/>
        </p:nvSpPr>
        <p:spPr bwMode="auto">
          <a:xfrm>
            <a:off x="3480944" y="3967938"/>
            <a:ext cx="7617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dirty="0"/>
              <a:t>0.581</a:t>
            </a:r>
          </a:p>
        </p:txBody>
      </p:sp>
    </p:spTree>
    <p:extLst>
      <p:ext uri="{BB962C8B-B14F-4D97-AF65-F5344CB8AC3E}">
        <p14:creationId xmlns:p14="http://schemas.microsoft.com/office/powerpoint/2010/main" val="17354776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720" y="59187"/>
            <a:ext cx="10856080" cy="1325563"/>
          </a:xfrm>
        </p:spPr>
        <p:txBody>
          <a:bodyPr>
            <a:normAutofit/>
          </a:bodyPr>
          <a:lstStyle/>
          <a:p>
            <a:r>
              <a:rPr lang="en-US" sz="4000" b="1" dirty="0">
                <a:latin typeface="Times New Roman"/>
                <a:cs typeface="Times New Roman"/>
              </a:rPr>
              <a:t>What is the population growth rate?</a:t>
            </a:r>
          </a:p>
        </p:txBody>
      </p:sp>
      <p:sp>
        <p:nvSpPr>
          <p:cNvPr id="3" name="Title 1">
            <a:extLst>
              <a:ext uri="{FF2B5EF4-FFF2-40B4-BE49-F238E27FC236}">
                <a16:creationId xmlns:a16="http://schemas.microsoft.com/office/drawing/2014/main" id="{6AEB6A42-FD1B-E04C-A26C-2D54734495D8}"/>
              </a:ext>
            </a:extLst>
          </p:cNvPr>
          <p:cNvSpPr txBox="1">
            <a:spLocks/>
          </p:cNvSpPr>
          <p:nvPr/>
        </p:nvSpPr>
        <p:spPr>
          <a:xfrm>
            <a:off x="497720" y="1855100"/>
            <a:ext cx="1085608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Times New Roman"/>
                <a:cs typeface="Times New Roman"/>
              </a:rPr>
              <a:t>Which vital rates is the population sensitive to changes in?</a:t>
            </a:r>
          </a:p>
        </p:txBody>
      </p:sp>
    </p:spTree>
    <p:extLst>
      <p:ext uri="{BB962C8B-B14F-4D97-AF65-F5344CB8AC3E}">
        <p14:creationId xmlns:p14="http://schemas.microsoft.com/office/powerpoint/2010/main" val="9589423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3671"/>
            <a:ext cx="10515600" cy="1325563"/>
          </a:xfrm>
        </p:spPr>
        <p:txBody>
          <a:bodyPr/>
          <a:lstStyle/>
          <a:p>
            <a:r>
              <a:rPr lang="en-US" b="1" dirty="0">
                <a:latin typeface="Times New Roman"/>
                <a:cs typeface="Times New Roman"/>
              </a:rPr>
              <a:t>Polar bear demography- bad ice year </a:t>
            </a:r>
          </a:p>
        </p:txBody>
      </p:sp>
      <p:pic>
        <p:nvPicPr>
          <p:cNvPr id="38" name="Picture 37">
            <a:extLst>
              <a:ext uri="{FF2B5EF4-FFF2-40B4-BE49-F238E27FC236}">
                <a16:creationId xmlns:a16="http://schemas.microsoft.com/office/drawing/2014/main" id="{43A5EFC6-776F-D840-93DC-5CBE1944D10C}"/>
              </a:ext>
            </a:extLst>
          </p:cNvPr>
          <p:cNvPicPr/>
          <p:nvPr/>
        </p:nvPicPr>
        <p:blipFill>
          <a:blip r:embed="rId2"/>
          <a:stretch>
            <a:fillRect/>
          </a:stretch>
        </p:blipFill>
        <p:spPr>
          <a:xfrm>
            <a:off x="1954043" y="1519234"/>
            <a:ext cx="8240544" cy="4881566"/>
          </a:xfrm>
          <a:prstGeom prst="rect">
            <a:avLst/>
          </a:prstGeom>
        </p:spPr>
      </p:pic>
    </p:spTree>
    <p:extLst>
      <p:ext uri="{BB962C8B-B14F-4D97-AF65-F5344CB8AC3E}">
        <p14:creationId xmlns:p14="http://schemas.microsoft.com/office/powerpoint/2010/main" val="12344850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322" y="0"/>
            <a:ext cx="10856080" cy="1325563"/>
          </a:xfrm>
        </p:spPr>
        <p:txBody>
          <a:bodyPr>
            <a:normAutofit/>
          </a:bodyPr>
          <a:lstStyle/>
          <a:p>
            <a:r>
              <a:rPr lang="en-US" sz="4000" b="1" dirty="0">
                <a:latin typeface="Times New Roman"/>
                <a:cs typeface="Times New Roman"/>
              </a:rPr>
              <a:t>What is the population growth rate in a bad ice year?</a:t>
            </a:r>
          </a:p>
        </p:txBody>
      </p:sp>
      <p:sp>
        <p:nvSpPr>
          <p:cNvPr id="3" name="Title 1">
            <a:extLst>
              <a:ext uri="{FF2B5EF4-FFF2-40B4-BE49-F238E27FC236}">
                <a16:creationId xmlns:a16="http://schemas.microsoft.com/office/drawing/2014/main" id="{6AEB6A42-FD1B-E04C-A26C-2D54734495D8}"/>
              </a:ext>
            </a:extLst>
          </p:cNvPr>
          <p:cNvSpPr txBox="1">
            <a:spLocks/>
          </p:cNvSpPr>
          <p:nvPr/>
        </p:nvSpPr>
        <p:spPr>
          <a:xfrm>
            <a:off x="208322" y="1928175"/>
            <a:ext cx="1085608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Times New Roman"/>
                <a:cs typeface="Times New Roman"/>
              </a:rPr>
              <a:t>Which vital rates change between the normal ice year and the bad ice year?</a:t>
            </a:r>
          </a:p>
        </p:txBody>
      </p:sp>
      <p:sp>
        <p:nvSpPr>
          <p:cNvPr id="4" name="Rectangle 3">
            <a:extLst>
              <a:ext uri="{FF2B5EF4-FFF2-40B4-BE49-F238E27FC236}">
                <a16:creationId xmlns:a16="http://schemas.microsoft.com/office/drawing/2014/main" id="{F3A4555C-765C-764F-9589-6A1316F9D8B9}"/>
              </a:ext>
            </a:extLst>
          </p:cNvPr>
          <p:cNvSpPr/>
          <p:nvPr/>
        </p:nvSpPr>
        <p:spPr>
          <a:xfrm>
            <a:off x="322622" y="4092060"/>
            <a:ext cx="11545123" cy="2554545"/>
          </a:xfrm>
          <a:prstGeom prst="rect">
            <a:avLst/>
          </a:prstGeom>
        </p:spPr>
        <p:txBody>
          <a:bodyPr wrap="square">
            <a:spAutoFit/>
          </a:bodyPr>
          <a:lstStyle/>
          <a:p>
            <a:r>
              <a:rPr lang="en-US" sz="4000" b="1" dirty="0">
                <a:latin typeface="Times New Roman" panose="02020603050405020304" pitchFamily="18" charset="0"/>
                <a:ea typeface="Calibri" panose="020F0502020204030204" pitchFamily="34" charset="0"/>
                <a:cs typeface="Times New Roman" panose="02020603050405020304" pitchFamily="18" charset="0"/>
              </a:rPr>
              <a:t>Which parameters in the matrix population model do you think are most responsible for the different in population growth rate observed in good vs. poor ice years and why?</a:t>
            </a:r>
            <a:r>
              <a:rPr lang="en-US" sz="4000" b="1"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1171191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88F500-E7C3-EA45-92F9-B52D2DAD8001}"/>
              </a:ext>
            </a:extLst>
          </p:cNvPr>
          <p:cNvSpPr>
            <a:spLocks noGrp="1"/>
          </p:cNvSpPr>
          <p:nvPr>
            <p:ph idx="1"/>
          </p:nvPr>
        </p:nvSpPr>
        <p:spPr>
          <a:xfrm>
            <a:off x="293451" y="210832"/>
            <a:ext cx="11457562" cy="6365065"/>
          </a:xfrm>
        </p:spPr>
        <p:txBody>
          <a:bodyPr>
            <a:normAutofit fontScale="92500" lnSpcReduction="10000"/>
          </a:bodyPr>
          <a:lstStyle/>
          <a:p>
            <a:pPr marL="0" indent="0">
              <a:buNone/>
            </a:pPr>
            <a:r>
              <a:rPr lang="en-US" dirty="0"/>
              <a:t>Project the population size of polar bears 50 years in the future under three conditions: </a:t>
            </a:r>
          </a:p>
          <a:p>
            <a:pPr marL="514350" indent="-514350">
              <a:buAutoNum type="arabicParenBoth"/>
            </a:pPr>
            <a:r>
              <a:rPr lang="en-US" dirty="0"/>
              <a:t>historic frequencies of poor sea ice years (0.21)</a:t>
            </a:r>
          </a:p>
          <a:p>
            <a:pPr marL="514350" indent="-514350">
              <a:buAutoNum type="arabicParenBoth"/>
            </a:pPr>
            <a:r>
              <a:rPr lang="en-US" dirty="0"/>
              <a:t>current frequencies of poor sea ice years (0.40)</a:t>
            </a:r>
          </a:p>
          <a:p>
            <a:pPr marL="514350" indent="-514350">
              <a:buAutoNum type="arabicParenBoth"/>
            </a:pPr>
            <a:r>
              <a:rPr lang="en-US" dirty="0"/>
              <a:t>future (year = 2100) frequencies of poor sea ice years based on IPCC climate models (0.80).  </a:t>
            </a:r>
          </a:p>
          <a:p>
            <a:pPr marL="0" indent="0">
              <a:buNone/>
            </a:pPr>
            <a:r>
              <a:rPr lang="en-US" dirty="0"/>
              <a:t> </a:t>
            </a:r>
          </a:p>
          <a:p>
            <a:pPr marL="0" indent="0">
              <a:buNone/>
            </a:pPr>
            <a:r>
              <a:rPr lang="en-US" dirty="0"/>
              <a:t>The initial population size of polar bears is 1085, specifically in the following stage classes: </a:t>
            </a:r>
          </a:p>
          <a:p>
            <a:r>
              <a:rPr lang="en-US" dirty="0"/>
              <a:t>juveniles-2year= 106</a:t>
            </a:r>
          </a:p>
          <a:p>
            <a:r>
              <a:rPr lang="en-US" dirty="0"/>
              <a:t>juveniles-3year=68</a:t>
            </a:r>
          </a:p>
          <a:p>
            <a:r>
              <a:rPr lang="en-US" dirty="0"/>
              <a:t>juveniles-4year= 106</a:t>
            </a:r>
          </a:p>
          <a:p>
            <a:r>
              <a:rPr lang="en-US" dirty="0"/>
              <a:t>adult= 461</a:t>
            </a:r>
          </a:p>
          <a:p>
            <a:r>
              <a:rPr lang="en-US" dirty="0"/>
              <a:t>adult with cub= 151</a:t>
            </a:r>
          </a:p>
          <a:p>
            <a:r>
              <a:rPr lang="en-US" dirty="0"/>
              <a:t>adult with yearling=108 </a:t>
            </a:r>
          </a:p>
        </p:txBody>
      </p:sp>
    </p:spTree>
    <p:extLst>
      <p:ext uri="{BB962C8B-B14F-4D97-AF65-F5344CB8AC3E}">
        <p14:creationId xmlns:p14="http://schemas.microsoft.com/office/powerpoint/2010/main" val="37932698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409</TotalTime>
  <Words>807</Words>
  <Application>Microsoft Macintosh PowerPoint</Application>
  <PresentationFormat>Widescreen</PresentationFormat>
  <Paragraphs>241</Paragraphs>
  <Slides>31</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Calibri Light</vt:lpstr>
      <vt:lpstr>Times New Roman</vt:lpstr>
      <vt:lpstr>Office Theme</vt:lpstr>
      <vt:lpstr>Stage structure and stochasticity</vt:lpstr>
      <vt:lpstr>Without Environmental Stochasticity</vt:lpstr>
      <vt:lpstr>Incorporating stochasticity into structured population models </vt:lpstr>
      <vt:lpstr>How would you project population size at time 50?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Temporal mosaic of environments</vt:lpstr>
      <vt:lpstr>PowerPoint Presentation</vt:lpstr>
      <vt:lpstr>Examples of periodic environments</vt:lpstr>
      <vt:lpstr>Disturbance mosaics   (treefall gaps, hurricanes, fires)</vt:lpstr>
      <vt:lpstr>PowerPoint Presentation</vt:lpstr>
      <vt:lpstr>PowerPoint Presentation</vt:lpstr>
      <vt:lpstr>PowerPoint Presentation</vt:lpstr>
      <vt:lpstr>Patch type and λ</vt:lpstr>
      <vt:lpstr>Hurricane frequency and λ</vt:lpstr>
      <vt:lpstr>Fire</vt:lpstr>
      <vt:lpstr>PowerPoint Presentation</vt:lpstr>
      <vt:lpstr>PowerPoint Presentation</vt:lpstr>
      <vt:lpstr>Polar Bears</vt:lpstr>
      <vt:lpstr>Christine Hunter et al. 2010 Ecology</vt:lpstr>
      <vt:lpstr>Polar bears depend on sea ice</vt:lpstr>
      <vt:lpstr>Polar bear demography- normal ice year </vt:lpstr>
      <vt:lpstr>What is the population growth rate?</vt:lpstr>
      <vt:lpstr>Polar bear demography- bad ice year </vt:lpstr>
      <vt:lpstr>What is the population growth rate in a bad ice year?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Stage structure and stochasticity</dc:title>
  <dc:creator>Tiffany Knight</dc:creator>
  <cp:lastModifiedBy>tiffany knight</cp:lastModifiedBy>
  <cp:revision>20</cp:revision>
  <dcterms:created xsi:type="dcterms:W3CDTF">2016-11-03T04:30:02Z</dcterms:created>
  <dcterms:modified xsi:type="dcterms:W3CDTF">2020-11-25T13:59:34Z</dcterms:modified>
</cp:coreProperties>
</file>